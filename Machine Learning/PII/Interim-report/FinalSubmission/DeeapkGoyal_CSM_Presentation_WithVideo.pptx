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3">
  <p:sldMasterIdLst>
    <p:sldMasterId id="2147483648" r:id="rId1"/>
  </p:sldMasterIdLst>
  <p:notesMasterIdLst>
    <p:notesMasterId r:id="rId17"/>
  </p:notesMasterIdLst>
  <p:sldIdLst>
    <p:sldId id="256" r:id="rId2"/>
    <p:sldId id="257" r:id="rId3"/>
    <p:sldId id="263" r:id="rId4"/>
    <p:sldId id="259" r:id="rId5"/>
    <p:sldId id="258" r:id="rId6"/>
    <p:sldId id="260" r:id="rId7"/>
    <p:sldId id="262" r:id="rId8"/>
    <p:sldId id="264" r:id="rId9"/>
    <p:sldId id="271" r:id="rId10"/>
    <p:sldId id="265" r:id="rId11"/>
    <p:sldId id="266" r:id="rId12"/>
    <p:sldId id="267" r:id="rId13"/>
    <p:sldId id="268" r:id="rId14"/>
    <p:sldId id="269" r:id="rId15"/>
    <p:sldId id="270"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75303" autoAdjust="0"/>
  </p:normalViewPr>
  <p:slideViewPr>
    <p:cSldViewPr snapToGrid="0">
      <p:cViewPr varScale="1">
        <p:scale>
          <a:sx n="83" d="100"/>
          <a:sy n="83" d="100"/>
        </p:scale>
        <p:origin x="1674" y="90"/>
      </p:cViewPr>
      <p:guideLst/>
    </p:cSldViewPr>
  </p:slideViewPr>
  <p:notesTextViewPr>
    <p:cViewPr>
      <p:scale>
        <a:sx n="3" d="2"/>
        <a:sy n="3" d="2"/>
      </p:scale>
      <p:origin x="0" y="0"/>
    </p:cViewPr>
  </p:notesTextViewPr>
  <p:notesViewPr>
    <p:cSldViewPr snapToGrid="0">
      <p:cViewPr varScale="1">
        <p:scale>
          <a:sx n="84" d="100"/>
          <a:sy n="84" d="100"/>
        </p:scale>
        <p:origin x="2514" y="9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90BD6AD-E0BE-44CB-9528-2244700B8A88}" type="doc">
      <dgm:prSet loTypeId="urn:microsoft.com/office/officeart/2005/8/layout/default" loCatId="list" qsTypeId="urn:microsoft.com/office/officeart/2005/8/quickstyle/simple3" qsCatId="simple" csTypeId="urn:microsoft.com/office/officeart/2005/8/colors/colorful1" csCatId="colorful" phldr="1"/>
      <dgm:spPr/>
      <dgm:t>
        <a:bodyPr/>
        <a:lstStyle/>
        <a:p>
          <a:endParaRPr lang="en-US"/>
        </a:p>
      </dgm:t>
    </dgm:pt>
    <dgm:pt modelId="{F78ABD7B-1655-4000-9A5D-EAC05946F7B7}">
      <dgm:prSet phldrT="[Text]" phldr="0"/>
      <dgm:spPr/>
      <dgm:t>
        <a:bodyPr/>
        <a:lstStyle/>
        <a:p>
          <a:r>
            <a:rPr lang="en-US" b="1" dirty="0"/>
            <a:t>Student Name: </a:t>
          </a:r>
          <a:r>
            <a:rPr lang="en-US" b="0" dirty="0"/>
            <a:t>Deepak Goyal</a:t>
          </a:r>
        </a:p>
      </dgm:t>
    </dgm:pt>
    <dgm:pt modelId="{25B94498-7DE2-4596-8BF9-7DDCB88E032D}" type="parTrans" cxnId="{959BE951-5F88-4483-AAA3-A71B5574DD20}">
      <dgm:prSet/>
      <dgm:spPr/>
      <dgm:t>
        <a:bodyPr/>
        <a:lstStyle/>
        <a:p>
          <a:endParaRPr lang="en-US"/>
        </a:p>
      </dgm:t>
    </dgm:pt>
    <dgm:pt modelId="{B4E9E321-FE40-4270-95C5-7D87B4DEC675}" type="sibTrans" cxnId="{959BE951-5F88-4483-AAA3-A71B5574DD20}">
      <dgm:prSet/>
      <dgm:spPr/>
      <dgm:t>
        <a:bodyPr/>
        <a:lstStyle/>
        <a:p>
          <a:endParaRPr lang="en-US"/>
        </a:p>
      </dgm:t>
    </dgm:pt>
    <dgm:pt modelId="{4A6DE054-B984-4BE4-8BC7-FC7E446CDD85}">
      <dgm:prSet phldrT="[Text]" phldr="0"/>
      <dgm:spPr/>
      <dgm:t>
        <a:bodyPr/>
        <a:lstStyle/>
        <a:p>
          <a:r>
            <a:rPr lang="en-US" b="1" dirty="0"/>
            <a:t>Course Name</a:t>
          </a:r>
          <a:r>
            <a:rPr lang="en-US" dirty="0"/>
            <a:t>: LJMU Masters in ML and AI- June 2025</a:t>
          </a:r>
        </a:p>
      </dgm:t>
    </dgm:pt>
    <dgm:pt modelId="{E94C6553-9421-4542-A1C1-B6C98A6FBC41}" type="parTrans" cxnId="{5559B6E6-FA84-4688-9F9A-834282406121}">
      <dgm:prSet/>
      <dgm:spPr/>
      <dgm:t>
        <a:bodyPr/>
        <a:lstStyle/>
        <a:p>
          <a:endParaRPr lang="en-US"/>
        </a:p>
      </dgm:t>
    </dgm:pt>
    <dgm:pt modelId="{2619C88E-BD12-408B-800D-DB319EC7F8B4}" type="sibTrans" cxnId="{5559B6E6-FA84-4688-9F9A-834282406121}">
      <dgm:prSet/>
      <dgm:spPr/>
      <dgm:t>
        <a:bodyPr/>
        <a:lstStyle/>
        <a:p>
          <a:endParaRPr lang="en-US"/>
        </a:p>
      </dgm:t>
    </dgm:pt>
    <dgm:pt modelId="{AA3AC9E2-E3C9-4D8A-B943-1334CFCDEF55}">
      <dgm:prSet phldrT="[Text]" phldr="0"/>
      <dgm:spPr/>
      <dgm:t>
        <a:bodyPr/>
        <a:lstStyle/>
        <a:p>
          <a:r>
            <a:rPr lang="en-US" b="1" dirty="0"/>
            <a:t>Student ID: </a:t>
          </a:r>
          <a:r>
            <a:rPr lang="en-US" dirty="0"/>
            <a:t>1180979</a:t>
          </a:r>
        </a:p>
      </dgm:t>
    </dgm:pt>
    <dgm:pt modelId="{1AD7C8D8-3014-485C-85C3-49C8E9413B90}" type="parTrans" cxnId="{E5EB31ED-DCAD-43DB-808D-1E73AC40CBBA}">
      <dgm:prSet/>
      <dgm:spPr/>
      <dgm:t>
        <a:bodyPr/>
        <a:lstStyle/>
        <a:p>
          <a:endParaRPr lang="en-US"/>
        </a:p>
      </dgm:t>
    </dgm:pt>
    <dgm:pt modelId="{8E37B521-B38B-4FF8-9CD6-EA38EB6D67D6}" type="sibTrans" cxnId="{E5EB31ED-DCAD-43DB-808D-1E73AC40CBBA}">
      <dgm:prSet/>
      <dgm:spPr/>
      <dgm:t>
        <a:bodyPr/>
        <a:lstStyle/>
        <a:p>
          <a:endParaRPr lang="en-US"/>
        </a:p>
      </dgm:t>
    </dgm:pt>
    <dgm:pt modelId="{18649F11-55DC-4754-A92A-0D0552DF8DF2}">
      <dgm:prSet phldrT="[Text]" phldr="0"/>
      <dgm:spPr/>
      <dgm:t>
        <a:bodyPr/>
        <a:lstStyle/>
        <a:p>
          <a:r>
            <a:rPr lang="en-US" b="1" dirty="0"/>
            <a:t>Thesis Topic: </a:t>
          </a:r>
          <a:r>
            <a:rPr lang="en-GB" dirty="0"/>
            <a:t>Protecting PII Data in LLM’s by using Encoding/ introducing noise at client end</a:t>
          </a:r>
          <a:r>
            <a:rPr lang="en-US" dirty="0"/>
            <a:t> </a:t>
          </a:r>
        </a:p>
      </dgm:t>
    </dgm:pt>
    <dgm:pt modelId="{C5C61620-7403-4889-AB2A-66F4504B1A58}" type="parTrans" cxnId="{292002A2-E75C-40F8-8DD4-8D666493200A}">
      <dgm:prSet/>
      <dgm:spPr/>
      <dgm:t>
        <a:bodyPr/>
        <a:lstStyle/>
        <a:p>
          <a:endParaRPr lang="en-US"/>
        </a:p>
      </dgm:t>
    </dgm:pt>
    <dgm:pt modelId="{647DFAAC-A3A7-42CE-8557-E7CBDE02D7C5}" type="sibTrans" cxnId="{292002A2-E75C-40F8-8DD4-8D666493200A}">
      <dgm:prSet/>
      <dgm:spPr/>
      <dgm:t>
        <a:bodyPr/>
        <a:lstStyle/>
        <a:p>
          <a:endParaRPr lang="en-US"/>
        </a:p>
      </dgm:t>
    </dgm:pt>
    <dgm:pt modelId="{DC40ED4B-D00E-446C-B5AB-0B60DCD5B77D}">
      <dgm:prSet phldrT="[Text]" phldr="0"/>
      <dgm:spPr/>
      <dgm:t>
        <a:bodyPr/>
        <a:lstStyle/>
        <a:p>
          <a:r>
            <a:rPr lang="en-US" b="1" dirty="0"/>
            <a:t>Thesis Supervisor: </a:t>
          </a:r>
          <a:r>
            <a:rPr lang="en-US" dirty="0"/>
            <a:t>Sushrut Shinde</a:t>
          </a:r>
        </a:p>
      </dgm:t>
    </dgm:pt>
    <dgm:pt modelId="{13BD032B-1625-49B2-AF9C-F470551BE28A}" type="parTrans" cxnId="{CF209884-D6D2-4FB7-AE95-5F6F83666DC1}">
      <dgm:prSet/>
      <dgm:spPr/>
      <dgm:t>
        <a:bodyPr/>
        <a:lstStyle/>
        <a:p>
          <a:endParaRPr lang="en-US"/>
        </a:p>
      </dgm:t>
    </dgm:pt>
    <dgm:pt modelId="{8AB04034-F0AB-4D0D-AB22-D5D70446A820}" type="sibTrans" cxnId="{CF209884-D6D2-4FB7-AE95-5F6F83666DC1}">
      <dgm:prSet/>
      <dgm:spPr/>
      <dgm:t>
        <a:bodyPr/>
        <a:lstStyle/>
        <a:p>
          <a:endParaRPr lang="en-US"/>
        </a:p>
      </dgm:t>
    </dgm:pt>
    <dgm:pt modelId="{A71E3595-F5AD-46C4-AC26-A07826A70B09}" type="pres">
      <dgm:prSet presAssocID="{390BD6AD-E0BE-44CB-9528-2244700B8A88}" presName="diagram" presStyleCnt="0">
        <dgm:presLayoutVars>
          <dgm:dir/>
          <dgm:resizeHandles val="exact"/>
        </dgm:presLayoutVars>
      </dgm:prSet>
      <dgm:spPr/>
    </dgm:pt>
    <dgm:pt modelId="{9637B6C3-CB04-462F-8FA1-4CA4F515CA74}" type="pres">
      <dgm:prSet presAssocID="{F78ABD7B-1655-4000-9A5D-EAC05946F7B7}" presName="node" presStyleLbl="node1" presStyleIdx="0" presStyleCnt="5" custScaleX="206507" custLinFactNeighborX="-28368" custLinFactNeighborY="-335">
        <dgm:presLayoutVars>
          <dgm:bulletEnabled val="1"/>
        </dgm:presLayoutVars>
      </dgm:prSet>
      <dgm:spPr/>
    </dgm:pt>
    <dgm:pt modelId="{5D753913-D195-436B-9870-86AED8028DFA}" type="pres">
      <dgm:prSet presAssocID="{B4E9E321-FE40-4270-95C5-7D87B4DEC675}" presName="sibTrans" presStyleCnt="0"/>
      <dgm:spPr/>
    </dgm:pt>
    <dgm:pt modelId="{1B12B6DC-CB52-4C9D-84D9-D05B6AF2B0C4}" type="pres">
      <dgm:prSet presAssocID="{4A6DE054-B984-4BE4-8BC7-FC7E446CDD85}" presName="node" presStyleLbl="node1" presStyleIdx="1" presStyleCnt="5" custScaleX="226753" custLinFactNeighborX="-29516" custLinFactNeighborY="-555">
        <dgm:presLayoutVars>
          <dgm:bulletEnabled val="1"/>
        </dgm:presLayoutVars>
      </dgm:prSet>
      <dgm:spPr/>
    </dgm:pt>
    <dgm:pt modelId="{7D0A2E46-7EB7-40C8-800D-F37A2FC81CD1}" type="pres">
      <dgm:prSet presAssocID="{2619C88E-BD12-408B-800D-DB319EC7F8B4}" presName="sibTrans" presStyleCnt="0"/>
      <dgm:spPr/>
    </dgm:pt>
    <dgm:pt modelId="{577BA3BC-8FB3-414F-A1C7-E4D2B408B7DF}" type="pres">
      <dgm:prSet presAssocID="{AA3AC9E2-E3C9-4D8A-B943-1334CFCDEF55}" presName="node" presStyleLbl="node1" presStyleIdx="2" presStyleCnt="5" custScaleX="207228" custLinFactY="17095" custLinFactNeighborX="3728" custLinFactNeighborY="100000">
        <dgm:presLayoutVars>
          <dgm:bulletEnabled val="1"/>
        </dgm:presLayoutVars>
      </dgm:prSet>
      <dgm:spPr/>
    </dgm:pt>
    <dgm:pt modelId="{A61E6B7C-FDB7-4355-84C1-9D1475920890}" type="pres">
      <dgm:prSet presAssocID="{8E37B521-B38B-4FF8-9CD6-EA38EB6D67D6}" presName="sibTrans" presStyleCnt="0"/>
      <dgm:spPr/>
    </dgm:pt>
    <dgm:pt modelId="{7169F948-0DE3-475E-91F7-C5C2DBCF1B4D}" type="pres">
      <dgm:prSet presAssocID="{18649F11-55DC-4754-A92A-0D0552DF8DF2}" presName="node" presStyleLbl="node1" presStyleIdx="3" presStyleCnt="5" custScaleX="294884" custLinFactX="-12359" custLinFactNeighborX="-100000" custLinFactNeighborY="0">
        <dgm:presLayoutVars>
          <dgm:bulletEnabled val="1"/>
        </dgm:presLayoutVars>
      </dgm:prSet>
      <dgm:spPr/>
    </dgm:pt>
    <dgm:pt modelId="{0EC43DC7-B6E9-43B8-BA90-775D09C0600E}" type="pres">
      <dgm:prSet presAssocID="{647DFAAC-A3A7-42CE-8557-E7CBDE02D7C5}" presName="sibTrans" presStyleCnt="0"/>
      <dgm:spPr/>
    </dgm:pt>
    <dgm:pt modelId="{DB160CC1-FCCC-4D77-A701-FF9E3B00B589}" type="pres">
      <dgm:prSet presAssocID="{DC40ED4B-D00E-446C-B5AB-0B60DCD5B77D}" presName="node" presStyleLbl="node1" presStyleIdx="4" presStyleCnt="5" custScaleX="221933" custLinFactNeighborX="77332" custLinFactNeighborY="-1424">
        <dgm:presLayoutVars>
          <dgm:bulletEnabled val="1"/>
        </dgm:presLayoutVars>
      </dgm:prSet>
      <dgm:spPr/>
    </dgm:pt>
  </dgm:ptLst>
  <dgm:cxnLst>
    <dgm:cxn modelId="{CD523E02-448D-448A-BDAA-D37853B1E0B0}" type="presOf" srcId="{F78ABD7B-1655-4000-9A5D-EAC05946F7B7}" destId="{9637B6C3-CB04-462F-8FA1-4CA4F515CA74}" srcOrd="0" destOrd="0" presId="urn:microsoft.com/office/officeart/2005/8/layout/default"/>
    <dgm:cxn modelId="{959BE951-5F88-4483-AAA3-A71B5574DD20}" srcId="{390BD6AD-E0BE-44CB-9528-2244700B8A88}" destId="{F78ABD7B-1655-4000-9A5D-EAC05946F7B7}" srcOrd="0" destOrd="0" parTransId="{25B94498-7DE2-4596-8BF9-7DDCB88E032D}" sibTransId="{B4E9E321-FE40-4270-95C5-7D87B4DEC675}"/>
    <dgm:cxn modelId="{CF209884-D6D2-4FB7-AE95-5F6F83666DC1}" srcId="{390BD6AD-E0BE-44CB-9528-2244700B8A88}" destId="{DC40ED4B-D00E-446C-B5AB-0B60DCD5B77D}" srcOrd="4" destOrd="0" parTransId="{13BD032B-1625-49B2-AF9C-F470551BE28A}" sibTransId="{8AB04034-F0AB-4D0D-AB22-D5D70446A820}"/>
    <dgm:cxn modelId="{292002A2-E75C-40F8-8DD4-8D666493200A}" srcId="{390BD6AD-E0BE-44CB-9528-2244700B8A88}" destId="{18649F11-55DC-4754-A92A-0D0552DF8DF2}" srcOrd="3" destOrd="0" parTransId="{C5C61620-7403-4889-AB2A-66F4504B1A58}" sibTransId="{647DFAAC-A3A7-42CE-8557-E7CBDE02D7C5}"/>
    <dgm:cxn modelId="{D3BA3EA7-7A32-407E-A6E4-DAD52A46B44B}" type="presOf" srcId="{AA3AC9E2-E3C9-4D8A-B943-1334CFCDEF55}" destId="{577BA3BC-8FB3-414F-A1C7-E4D2B408B7DF}" srcOrd="0" destOrd="0" presId="urn:microsoft.com/office/officeart/2005/8/layout/default"/>
    <dgm:cxn modelId="{D26D96AE-6C2D-47C2-B1FB-7F4DEF5F7C5A}" type="presOf" srcId="{390BD6AD-E0BE-44CB-9528-2244700B8A88}" destId="{A71E3595-F5AD-46C4-AC26-A07826A70B09}" srcOrd="0" destOrd="0" presId="urn:microsoft.com/office/officeart/2005/8/layout/default"/>
    <dgm:cxn modelId="{E804B9B9-30AB-4A75-BFC6-C9356A2B2634}" type="presOf" srcId="{18649F11-55DC-4754-A92A-0D0552DF8DF2}" destId="{7169F948-0DE3-475E-91F7-C5C2DBCF1B4D}" srcOrd="0" destOrd="0" presId="urn:microsoft.com/office/officeart/2005/8/layout/default"/>
    <dgm:cxn modelId="{A5149DBA-3BB0-44BD-AD0F-E294E66E041F}" type="presOf" srcId="{DC40ED4B-D00E-446C-B5AB-0B60DCD5B77D}" destId="{DB160CC1-FCCC-4D77-A701-FF9E3B00B589}" srcOrd="0" destOrd="0" presId="urn:microsoft.com/office/officeart/2005/8/layout/default"/>
    <dgm:cxn modelId="{C2A123D0-3CF8-4930-B9B6-CD1F887D2B36}" type="presOf" srcId="{4A6DE054-B984-4BE4-8BC7-FC7E446CDD85}" destId="{1B12B6DC-CB52-4C9D-84D9-D05B6AF2B0C4}" srcOrd="0" destOrd="0" presId="urn:microsoft.com/office/officeart/2005/8/layout/default"/>
    <dgm:cxn modelId="{5559B6E6-FA84-4688-9F9A-834282406121}" srcId="{390BD6AD-E0BE-44CB-9528-2244700B8A88}" destId="{4A6DE054-B984-4BE4-8BC7-FC7E446CDD85}" srcOrd="1" destOrd="0" parTransId="{E94C6553-9421-4542-A1C1-B6C98A6FBC41}" sibTransId="{2619C88E-BD12-408B-800D-DB319EC7F8B4}"/>
    <dgm:cxn modelId="{E5EB31ED-DCAD-43DB-808D-1E73AC40CBBA}" srcId="{390BD6AD-E0BE-44CB-9528-2244700B8A88}" destId="{AA3AC9E2-E3C9-4D8A-B943-1334CFCDEF55}" srcOrd="2" destOrd="0" parTransId="{1AD7C8D8-3014-485C-85C3-49C8E9413B90}" sibTransId="{8E37B521-B38B-4FF8-9CD6-EA38EB6D67D6}"/>
    <dgm:cxn modelId="{6048B40C-5DA9-4794-97A6-9E611245CA94}" type="presParOf" srcId="{A71E3595-F5AD-46C4-AC26-A07826A70B09}" destId="{9637B6C3-CB04-462F-8FA1-4CA4F515CA74}" srcOrd="0" destOrd="0" presId="urn:microsoft.com/office/officeart/2005/8/layout/default"/>
    <dgm:cxn modelId="{DE65876A-080B-4BD0-B798-E29F55081214}" type="presParOf" srcId="{A71E3595-F5AD-46C4-AC26-A07826A70B09}" destId="{5D753913-D195-436B-9870-86AED8028DFA}" srcOrd="1" destOrd="0" presId="urn:microsoft.com/office/officeart/2005/8/layout/default"/>
    <dgm:cxn modelId="{6C5F0F26-1582-466A-B77B-735136C3BB23}" type="presParOf" srcId="{A71E3595-F5AD-46C4-AC26-A07826A70B09}" destId="{1B12B6DC-CB52-4C9D-84D9-D05B6AF2B0C4}" srcOrd="2" destOrd="0" presId="urn:microsoft.com/office/officeart/2005/8/layout/default"/>
    <dgm:cxn modelId="{B7F6EC98-2587-4031-84BF-CD5448B0A10E}" type="presParOf" srcId="{A71E3595-F5AD-46C4-AC26-A07826A70B09}" destId="{7D0A2E46-7EB7-40C8-800D-F37A2FC81CD1}" srcOrd="3" destOrd="0" presId="urn:microsoft.com/office/officeart/2005/8/layout/default"/>
    <dgm:cxn modelId="{C417DFFC-044B-42A9-8FAD-3499D973B682}" type="presParOf" srcId="{A71E3595-F5AD-46C4-AC26-A07826A70B09}" destId="{577BA3BC-8FB3-414F-A1C7-E4D2B408B7DF}" srcOrd="4" destOrd="0" presId="urn:microsoft.com/office/officeart/2005/8/layout/default"/>
    <dgm:cxn modelId="{9D39803F-D728-4130-922C-A7865AA6DDF2}" type="presParOf" srcId="{A71E3595-F5AD-46C4-AC26-A07826A70B09}" destId="{A61E6B7C-FDB7-4355-84C1-9D1475920890}" srcOrd="5" destOrd="0" presId="urn:microsoft.com/office/officeart/2005/8/layout/default"/>
    <dgm:cxn modelId="{51ADD636-D38E-4059-9E67-22CEE2DB0D12}" type="presParOf" srcId="{A71E3595-F5AD-46C4-AC26-A07826A70B09}" destId="{7169F948-0DE3-475E-91F7-C5C2DBCF1B4D}" srcOrd="6" destOrd="0" presId="urn:microsoft.com/office/officeart/2005/8/layout/default"/>
    <dgm:cxn modelId="{B9B7CD5C-8074-4860-A3C7-CA9B60AEDFE6}" type="presParOf" srcId="{A71E3595-F5AD-46C4-AC26-A07826A70B09}" destId="{0EC43DC7-B6E9-43B8-BA90-775D09C0600E}" srcOrd="7" destOrd="0" presId="urn:microsoft.com/office/officeart/2005/8/layout/default"/>
    <dgm:cxn modelId="{84372F09-1140-4789-9C60-BABF87A08819}" type="presParOf" srcId="{A71E3595-F5AD-46C4-AC26-A07826A70B09}" destId="{DB160CC1-FCCC-4D77-A701-FF9E3B00B589}" srcOrd="8"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637B6C3-CB04-462F-8FA1-4CA4F515CA74}">
      <dsp:nvSpPr>
        <dsp:cNvPr id="0" name=""/>
        <dsp:cNvSpPr/>
      </dsp:nvSpPr>
      <dsp:spPr>
        <a:xfrm>
          <a:off x="478840" y="661802"/>
          <a:ext cx="4219812" cy="1226053"/>
        </a:xfrm>
        <a:prstGeom prst="rect">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b="1" kern="1200" dirty="0"/>
            <a:t>Student Name: </a:t>
          </a:r>
          <a:r>
            <a:rPr lang="en-US" sz="2400" b="0" kern="1200" dirty="0"/>
            <a:t>Deepak Goyal</a:t>
          </a:r>
        </a:p>
      </dsp:txBody>
      <dsp:txXfrm>
        <a:off x="478840" y="661802"/>
        <a:ext cx="4219812" cy="1226053"/>
      </dsp:txXfrm>
    </dsp:sp>
    <dsp:sp modelId="{1B12B6DC-CB52-4C9D-84D9-D05B6AF2B0C4}">
      <dsp:nvSpPr>
        <dsp:cNvPr id="0" name=""/>
        <dsp:cNvSpPr/>
      </dsp:nvSpPr>
      <dsp:spPr>
        <a:xfrm>
          <a:off x="4879536" y="659105"/>
          <a:ext cx="4633523" cy="1226053"/>
        </a:xfrm>
        <a:prstGeom prst="rect">
          <a:avLst/>
        </a:prstGeom>
        <a:gradFill rotWithShape="0">
          <a:gsLst>
            <a:gs pos="0">
              <a:schemeClr val="accent3">
                <a:hueOff val="0"/>
                <a:satOff val="0"/>
                <a:lumOff val="0"/>
                <a:alphaOff val="0"/>
                <a:lumMod val="110000"/>
                <a:satMod val="105000"/>
                <a:tint val="67000"/>
              </a:schemeClr>
            </a:gs>
            <a:gs pos="50000">
              <a:schemeClr val="accent3">
                <a:hueOff val="0"/>
                <a:satOff val="0"/>
                <a:lumOff val="0"/>
                <a:alphaOff val="0"/>
                <a:lumMod val="105000"/>
                <a:satMod val="103000"/>
                <a:tint val="73000"/>
              </a:schemeClr>
            </a:gs>
            <a:gs pos="100000">
              <a:schemeClr val="accent3">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b="1" kern="1200" dirty="0"/>
            <a:t>Course Name</a:t>
          </a:r>
          <a:r>
            <a:rPr lang="en-US" sz="2400" kern="1200" dirty="0"/>
            <a:t>: LJMU Masters in ML and AI- June 2025</a:t>
          </a:r>
        </a:p>
      </dsp:txBody>
      <dsp:txXfrm>
        <a:off x="4879536" y="659105"/>
        <a:ext cx="4633523" cy="1226053"/>
      </dsp:txXfrm>
    </dsp:sp>
    <dsp:sp modelId="{577BA3BC-8FB3-414F-A1C7-E4D2B408B7DF}">
      <dsp:nvSpPr>
        <dsp:cNvPr id="0" name=""/>
        <dsp:cNvSpPr/>
      </dsp:nvSpPr>
      <dsp:spPr>
        <a:xfrm>
          <a:off x="431228" y="3531954"/>
          <a:ext cx="4234545" cy="1226053"/>
        </a:xfrm>
        <a:prstGeom prst="rect">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b="1" kern="1200" dirty="0"/>
            <a:t>Student ID: </a:t>
          </a:r>
          <a:r>
            <a:rPr lang="en-US" sz="2400" kern="1200" dirty="0"/>
            <a:t>1180979</a:t>
          </a:r>
        </a:p>
      </dsp:txBody>
      <dsp:txXfrm>
        <a:off x="431228" y="3531954"/>
        <a:ext cx="4234545" cy="1226053"/>
      </dsp:txXfrm>
    </dsp:sp>
    <dsp:sp modelId="{7169F948-0DE3-475E-91F7-C5C2DBCF1B4D}">
      <dsp:nvSpPr>
        <dsp:cNvPr id="0" name=""/>
        <dsp:cNvSpPr/>
      </dsp:nvSpPr>
      <dsp:spPr>
        <a:xfrm>
          <a:off x="2497967" y="2096306"/>
          <a:ext cx="6025728" cy="1226053"/>
        </a:xfrm>
        <a:prstGeom prst="rect">
          <a:avLst/>
        </a:prstGeom>
        <a:gradFill rotWithShape="0">
          <a:gsLst>
            <a:gs pos="0">
              <a:schemeClr val="accent5">
                <a:hueOff val="0"/>
                <a:satOff val="0"/>
                <a:lumOff val="0"/>
                <a:alphaOff val="0"/>
                <a:lumMod val="110000"/>
                <a:satMod val="105000"/>
                <a:tint val="67000"/>
              </a:schemeClr>
            </a:gs>
            <a:gs pos="50000">
              <a:schemeClr val="accent5">
                <a:hueOff val="0"/>
                <a:satOff val="0"/>
                <a:lumOff val="0"/>
                <a:alphaOff val="0"/>
                <a:lumMod val="105000"/>
                <a:satMod val="103000"/>
                <a:tint val="73000"/>
              </a:schemeClr>
            </a:gs>
            <a:gs pos="100000">
              <a:schemeClr val="accent5">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b="1" kern="1200" dirty="0"/>
            <a:t>Thesis Topic: </a:t>
          </a:r>
          <a:r>
            <a:rPr lang="en-GB" sz="2400" kern="1200" dirty="0"/>
            <a:t>Protecting PII Data in LLM’s by using Encoding/ introducing noise at client end</a:t>
          </a:r>
          <a:r>
            <a:rPr lang="en-US" sz="2400" kern="1200" dirty="0"/>
            <a:t> </a:t>
          </a:r>
        </a:p>
      </dsp:txBody>
      <dsp:txXfrm>
        <a:off x="2497967" y="2096306"/>
        <a:ext cx="6025728" cy="1226053"/>
      </dsp:txXfrm>
    </dsp:sp>
    <dsp:sp modelId="{DB160CC1-FCCC-4D77-A701-FF9E3B00B589}">
      <dsp:nvSpPr>
        <dsp:cNvPr id="0" name=""/>
        <dsp:cNvSpPr/>
      </dsp:nvSpPr>
      <dsp:spPr>
        <a:xfrm>
          <a:off x="4900062" y="3509243"/>
          <a:ext cx="4535030" cy="1226053"/>
        </a:xfrm>
        <a:prstGeom prst="rect">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b="1" kern="1200" dirty="0"/>
            <a:t>Thesis Supervisor: </a:t>
          </a:r>
          <a:r>
            <a:rPr lang="en-US" sz="2400" kern="1200" dirty="0"/>
            <a:t>Sushrut Shinde</a:t>
          </a:r>
        </a:p>
      </dsp:txBody>
      <dsp:txXfrm>
        <a:off x="4900062" y="3509243"/>
        <a:ext cx="4535030" cy="1226053"/>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5F3F9FB-0079-4B54-BFA0-FBB89B9DEC4C}" type="datetimeFigureOut">
              <a:rPr lang="en-US" smtClean="0"/>
              <a:t>12/10/2025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5F3D314-82CC-4E23-B449-4F3564582232}" type="slidenum">
              <a:rPr lang="en-US" smtClean="0"/>
              <a:t>‹#›</a:t>
            </a:fld>
            <a:endParaRPr lang="en-US"/>
          </a:p>
        </p:txBody>
      </p:sp>
    </p:spTree>
    <p:extLst>
      <p:ext uri="{BB962C8B-B14F-4D97-AF65-F5344CB8AC3E}">
        <p14:creationId xmlns:p14="http://schemas.microsoft.com/office/powerpoint/2010/main" val="42123205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Good morning. My thesis addresses the critical challenge of protecting Personally Identifiable Information, or PII, in the rapidly expanding use of Large Language Models. The goal is to develop a robust, client-side privacy solution that balances security with the necessity for real-time performance.</a:t>
            </a:r>
            <a:endParaRPr lang="en-US" dirty="0"/>
          </a:p>
        </p:txBody>
      </p:sp>
      <p:sp>
        <p:nvSpPr>
          <p:cNvPr id="4" name="Slide Number Placeholder 3"/>
          <p:cNvSpPr>
            <a:spLocks noGrp="1"/>
          </p:cNvSpPr>
          <p:nvPr>
            <p:ph type="sldNum" sz="quarter" idx="5"/>
          </p:nvPr>
        </p:nvSpPr>
        <p:spPr/>
        <p:txBody>
          <a:bodyPr/>
          <a:lstStyle/>
          <a:p>
            <a:fld id="{75F3D314-82CC-4E23-B449-4F3564582232}" type="slidenum">
              <a:rPr lang="en-US" smtClean="0"/>
              <a:t>1</a:t>
            </a:fld>
            <a:endParaRPr lang="en-US"/>
          </a:p>
        </p:txBody>
      </p:sp>
    </p:spTree>
    <p:extLst>
      <p:ext uri="{BB962C8B-B14F-4D97-AF65-F5344CB8AC3E}">
        <p14:creationId xmlns:p14="http://schemas.microsoft.com/office/powerpoint/2010/main" val="21137708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Let me quickly start with what’s my motivation in picking this topic, I work for financial institution where protecting customer data specifically PII data is of utmost importance. PII (Personally Identifiable Information) refers to any data that can directly or indirectly identify an individual. </a:t>
            </a:r>
          </a:p>
          <a:p>
            <a:r>
              <a:rPr lang="en-US" sz="1200" kern="1200" dirty="0">
                <a:solidFill>
                  <a:schemeClr val="tx1"/>
                </a:solidFill>
                <a:effectLst/>
                <a:latin typeface="+mn-lt"/>
                <a:ea typeface="+mn-ea"/>
                <a:cs typeface="+mn-cs"/>
              </a:rPr>
              <a:t>In today’s world our reliance on Digital services is increasing day by day which is good but it comes at a price, cyber security attacks. do you know when you interact with LLM, it can retain your PII data and can leak your data in more than 50% of the cases. Alarming right?</a:t>
            </a:r>
          </a:p>
          <a:p>
            <a:r>
              <a:rPr lang="en-US" sz="1200" kern="1200" dirty="0">
                <a:solidFill>
                  <a:schemeClr val="tx1"/>
                </a:solidFill>
                <a:effectLst/>
                <a:latin typeface="+mn-lt"/>
                <a:ea typeface="+mn-ea"/>
                <a:cs typeface="+mn-cs"/>
              </a:rPr>
              <a:t>As per research done by IBM avg cost of one data breach in corporate setting is </a:t>
            </a:r>
            <a:r>
              <a:rPr lang="en-US" sz="1200" kern="1200" dirty="0" err="1">
                <a:solidFill>
                  <a:schemeClr val="tx1"/>
                </a:solidFill>
                <a:effectLst/>
                <a:latin typeface="+mn-lt"/>
                <a:ea typeface="+mn-ea"/>
                <a:cs typeface="+mn-cs"/>
              </a:rPr>
              <a:t>wooping</a:t>
            </a:r>
            <a:r>
              <a:rPr lang="en-US" sz="1200" kern="1200" dirty="0">
                <a:solidFill>
                  <a:schemeClr val="tx1"/>
                </a:solidFill>
                <a:effectLst/>
                <a:latin typeface="+mn-lt"/>
                <a:ea typeface="+mn-ea"/>
                <a:cs typeface="+mn-cs"/>
              </a:rPr>
              <a:t> 4.88M per incident, wow significantly high. </a:t>
            </a:r>
          </a:p>
          <a:p>
            <a:endParaRPr lang="en-US" sz="120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The financial and healthcare sectors are under acute pressure from the regulatory bodies like GDPR, HIPPA threat, reinforcing the need for advanced defense mechanisms.</a:t>
            </a:r>
          </a:p>
          <a:p>
            <a:r>
              <a:rPr lang="en-US" sz="1200" b="0" i="0" kern="1200" dirty="0">
                <a:solidFill>
                  <a:schemeClr val="tx1"/>
                </a:solidFill>
                <a:effectLst/>
                <a:latin typeface="+mn-lt"/>
                <a:ea typeface="+mn-ea"/>
                <a:cs typeface="+mn-cs"/>
              </a:rPr>
              <a:t>Regulatory frameworks make developing practical, efficient, local privacy solutions paramount. </a:t>
            </a:r>
          </a:p>
        </p:txBody>
      </p:sp>
      <p:sp>
        <p:nvSpPr>
          <p:cNvPr id="4" name="Slide Number Placeholder 3"/>
          <p:cNvSpPr>
            <a:spLocks noGrp="1"/>
          </p:cNvSpPr>
          <p:nvPr>
            <p:ph type="sldNum" sz="quarter" idx="5"/>
          </p:nvPr>
        </p:nvSpPr>
        <p:spPr/>
        <p:txBody>
          <a:bodyPr/>
          <a:lstStyle/>
          <a:p>
            <a:fld id="{75F3D314-82CC-4E23-B449-4F3564582232}" type="slidenum">
              <a:rPr lang="en-US" smtClean="0"/>
              <a:t>2</a:t>
            </a:fld>
            <a:endParaRPr lang="en-US"/>
          </a:p>
        </p:txBody>
      </p:sp>
    </p:spTree>
    <p:extLst>
      <p:ext uri="{BB962C8B-B14F-4D97-AF65-F5344CB8AC3E}">
        <p14:creationId xmlns:p14="http://schemas.microsoft.com/office/powerpoint/2010/main" val="42679050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Refer to Fig: 1 on this slide, Let’s assume a scenario, where User 1 put a prompt in LLM chatbot that contains PII data, with LLM having tendency to memorize PII data, there are high changes when User 2 asks something related to User 1, LLM can be tricked to reveal PII data of User 1</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So Problem Statement is how do we protect PII data so that it don’t even leave User 1 machine</a:t>
            </a:r>
          </a:p>
          <a:p>
            <a:endParaRPr lang="en-US" dirty="0"/>
          </a:p>
        </p:txBody>
      </p:sp>
      <p:sp>
        <p:nvSpPr>
          <p:cNvPr id="4" name="Slide Number Placeholder 3"/>
          <p:cNvSpPr>
            <a:spLocks noGrp="1"/>
          </p:cNvSpPr>
          <p:nvPr>
            <p:ph type="sldNum" sz="quarter" idx="5"/>
          </p:nvPr>
        </p:nvSpPr>
        <p:spPr/>
        <p:txBody>
          <a:bodyPr/>
          <a:lstStyle/>
          <a:p>
            <a:fld id="{75F3D314-82CC-4E23-B449-4F3564582232}" type="slidenum">
              <a:rPr lang="en-US" smtClean="0"/>
              <a:t>3</a:t>
            </a:fld>
            <a:endParaRPr lang="en-US"/>
          </a:p>
        </p:txBody>
      </p:sp>
    </p:spTree>
    <p:extLst>
      <p:ext uri="{BB962C8B-B14F-4D97-AF65-F5344CB8AC3E}">
        <p14:creationId xmlns:p14="http://schemas.microsoft.com/office/powerpoint/2010/main" val="37911810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It’s not that this problem has not been researched on earlier, There are numerous number of existing papers that tries to solve this problem but Current solutions force a painful trade-off between accuracy and performance. Cryptographic methods like Homomorphic Encryption (HE) offer strong guarantees but are highly computationally heavy, thus, restricting their use in real-time applications.</a:t>
            </a:r>
          </a:p>
          <a:p>
            <a:r>
              <a:rPr lang="en-US" sz="1200" b="0" i="0" kern="1200" dirty="0">
                <a:solidFill>
                  <a:schemeClr val="tx1"/>
                </a:solidFill>
                <a:effectLst/>
                <a:latin typeface="+mn-lt"/>
                <a:ea typeface="+mn-ea"/>
                <a:cs typeface="+mn-cs"/>
              </a:rPr>
              <a:t>On the other hand, Perturbation methods like Differential Privacy degrades output quality due to excessive noise they add. </a:t>
            </a:r>
          </a:p>
          <a:p>
            <a:r>
              <a:rPr lang="en-US" sz="1200" b="0" i="0" kern="1200" dirty="0">
                <a:solidFill>
                  <a:schemeClr val="tx1"/>
                </a:solidFill>
                <a:effectLst/>
                <a:latin typeface="+mn-lt"/>
                <a:ea typeface="+mn-ea"/>
                <a:cs typeface="+mn-cs"/>
              </a:rPr>
              <a:t>Existing hybrid frameworks like Split-N-Denoise does a good job to an extent but still lack integrated Named Entity Recognition, meaning identifiable entities can pass through unprotected.</a:t>
            </a:r>
          </a:p>
          <a:p>
            <a:r>
              <a:rPr lang="en-US" sz="1200" b="0" i="0" kern="1200" dirty="0">
                <a:solidFill>
                  <a:schemeClr val="tx1"/>
                </a:solidFill>
                <a:effectLst/>
                <a:latin typeface="+mn-lt"/>
                <a:ea typeface="+mn-ea"/>
                <a:cs typeface="+mn-cs"/>
              </a:rPr>
              <a:t> This research directly addresses this critical gap by providing a way to Identify PII data and provides different methods to balance performance and utility.</a:t>
            </a:r>
            <a:endParaRPr lang="en-US" dirty="0"/>
          </a:p>
        </p:txBody>
      </p:sp>
      <p:sp>
        <p:nvSpPr>
          <p:cNvPr id="4" name="Slide Number Placeholder 3"/>
          <p:cNvSpPr>
            <a:spLocks noGrp="1"/>
          </p:cNvSpPr>
          <p:nvPr>
            <p:ph type="sldNum" sz="quarter" idx="5"/>
          </p:nvPr>
        </p:nvSpPr>
        <p:spPr/>
        <p:txBody>
          <a:bodyPr/>
          <a:lstStyle/>
          <a:p>
            <a:fld id="{75F3D314-82CC-4E23-B449-4F3564582232}" type="slidenum">
              <a:rPr lang="en-US" smtClean="0"/>
              <a:t>4</a:t>
            </a:fld>
            <a:endParaRPr lang="en-US"/>
          </a:p>
        </p:txBody>
      </p:sp>
    </p:spTree>
    <p:extLst>
      <p:ext uri="{BB962C8B-B14F-4D97-AF65-F5344CB8AC3E}">
        <p14:creationId xmlns:p14="http://schemas.microsoft.com/office/powerpoint/2010/main" val="35539558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My paper proposes solution to the problem described in previous slides is </a:t>
            </a:r>
            <a:r>
              <a:rPr lang="en-US" sz="1200" b="0" i="0" kern="1200" dirty="0" err="1">
                <a:solidFill>
                  <a:schemeClr val="tx1"/>
                </a:solidFill>
                <a:effectLst/>
                <a:latin typeface="+mn-lt"/>
                <a:ea typeface="+mn-ea"/>
                <a:cs typeface="+mn-cs"/>
              </a:rPr>
              <a:t>CleanSplit</a:t>
            </a:r>
            <a:r>
              <a:rPr lang="en-US" sz="1200" b="0" i="0" kern="1200" dirty="0">
                <a:solidFill>
                  <a:schemeClr val="tx1"/>
                </a:solidFill>
                <a:effectLst/>
                <a:latin typeface="+mn-lt"/>
                <a:ea typeface="+mn-ea"/>
                <a:cs typeface="+mn-cs"/>
              </a:rPr>
              <a:t> Model, or CSM. The core aim of CSM is to provide a framework to protect clients PII data and empower to chose right methodology to balance protection with performance. As you can see in Figure 4 CSM gives you a Privacy layer on client side so that it ensures that raw PII is </a:t>
            </a:r>
            <a:r>
              <a:rPr lang="en-US" sz="1200" b="0" i="1" kern="1200" dirty="0">
                <a:solidFill>
                  <a:schemeClr val="tx1"/>
                </a:solidFill>
                <a:effectLst/>
                <a:latin typeface="+mn-lt"/>
                <a:ea typeface="+mn-ea"/>
                <a:cs typeface="+mn-cs"/>
              </a:rPr>
              <a:t>never transmitted</a:t>
            </a:r>
            <a:r>
              <a:rPr lang="en-US" sz="1200" b="0" i="0" kern="1200" dirty="0">
                <a:solidFill>
                  <a:schemeClr val="tx1"/>
                </a:solidFill>
                <a:effectLst/>
                <a:latin typeface="+mn-lt"/>
                <a:ea typeface="+mn-ea"/>
                <a:cs typeface="+mn-cs"/>
              </a:rPr>
              <a:t> to the LLM servers. This is achieved by incorporating a Named Entity Recognition (NER)-driven approach for detection and synthetic replacement. Explained in upcoming slides.</a:t>
            </a:r>
          </a:p>
          <a:p>
            <a:r>
              <a:rPr lang="en-US" sz="1200" b="0" i="0" kern="1200" dirty="0">
                <a:solidFill>
                  <a:schemeClr val="tx1"/>
                </a:solidFill>
                <a:effectLst/>
                <a:latin typeface="+mn-lt"/>
                <a:ea typeface="+mn-ea"/>
                <a:cs typeface="+mn-cs"/>
              </a:rPr>
              <a:t>The challenge addressed by the CSM framework is analogous to a </a:t>
            </a:r>
            <a:r>
              <a:rPr lang="en-US" sz="1200" b="1" i="0" kern="1200" dirty="0">
                <a:solidFill>
                  <a:schemeClr val="tx1"/>
                </a:solidFill>
                <a:effectLst/>
                <a:latin typeface="+mn-lt"/>
                <a:ea typeface="+mn-ea"/>
                <a:cs typeface="+mn-cs"/>
              </a:rPr>
              <a:t>postal worker sorting mail inside your house before it leaves, rather than trusting the entire postal system.</a:t>
            </a:r>
            <a:endParaRPr lang="en-US" dirty="0"/>
          </a:p>
        </p:txBody>
      </p:sp>
      <p:sp>
        <p:nvSpPr>
          <p:cNvPr id="4" name="Slide Number Placeholder 3"/>
          <p:cNvSpPr>
            <a:spLocks noGrp="1"/>
          </p:cNvSpPr>
          <p:nvPr>
            <p:ph type="sldNum" sz="quarter" idx="5"/>
          </p:nvPr>
        </p:nvSpPr>
        <p:spPr/>
        <p:txBody>
          <a:bodyPr/>
          <a:lstStyle/>
          <a:p>
            <a:fld id="{75F3D314-82CC-4E23-B449-4F3564582232}" type="slidenum">
              <a:rPr lang="en-US" smtClean="0"/>
              <a:t>5</a:t>
            </a:fld>
            <a:endParaRPr lang="en-US"/>
          </a:p>
        </p:txBody>
      </p:sp>
    </p:spTree>
    <p:extLst>
      <p:ext uri="{BB962C8B-B14F-4D97-AF65-F5344CB8AC3E}">
        <p14:creationId xmlns:p14="http://schemas.microsoft.com/office/powerpoint/2010/main" val="10318684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My research was structured around three fundamental questions. First, Find out the problems in existing PII protection mechanisms and how efficiently can NER be deployed at the client-side? Second, how does PII replacement affect response quality? And third, how to balance privacy with contextual continuity in complex conversations? These Research Questions align precisely with our objectives: reviewing existing methods, developing the client-side NER replacement system, and benchmarking the architecture against utility and performance.</a:t>
            </a:r>
            <a:endParaRPr lang="en-US" dirty="0"/>
          </a:p>
        </p:txBody>
      </p:sp>
      <p:sp>
        <p:nvSpPr>
          <p:cNvPr id="4" name="Slide Number Placeholder 3"/>
          <p:cNvSpPr>
            <a:spLocks noGrp="1"/>
          </p:cNvSpPr>
          <p:nvPr>
            <p:ph type="sldNum" sz="quarter" idx="5"/>
          </p:nvPr>
        </p:nvSpPr>
        <p:spPr/>
        <p:txBody>
          <a:bodyPr/>
          <a:lstStyle/>
          <a:p>
            <a:fld id="{75F3D314-82CC-4E23-B449-4F3564582232}" type="slidenum">
              <a:rPr lang="en-US" smtClean="0"/>
              <a:t>6</a:t>
            </a:fld>
            <a:endParaRPr lang="en-US"/>
          </a:p>
        </p:txBody>
      </p:sp>
    </p:spTree>
    <p:extLst>
      <p:ext uri="{BB962C8B-B14F-4D97-AF65-F5344CB8AC3E}">
        <p14:creationId xmlns:p14="http://schemas.microsoft.com/office/powerpoint/2010/main" val="414861962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This slide explains the various experimental conditions we used</a:t>
            </a:r>
          </a:p>
          <a:p>
            <a:r>
              <a:rPr lang="en-US" sz="1200" b="0" i="0" kern="1200" dirty="0">
                <a:solidFill>
                  <a:schemeClr val="tx1"/>
                </a:solidFill>
                <a:effectLst/>
                <a:latin typeface="+mn-lt"/>
                <a:ea typeface="+mn-ea"/>
                <a:cs typeface="+mn-cs"/>
              </a:rPr>
              <a:t>Experiment 1 served as the baseline: raw, unaltered PII data is sent directly, Experiment 2 was simple masking, replacing PII entities with "XXXX“</a:t>
            </a:r>
          </a:p>
          <a:p>
            <a:r>
              <a:rPr lang="en-US" sz="1200" b="0" i="0" kern="1200" dirty="0">
                <a:solidFill>
                  <a:schemeClr val="tx1"/>
                </a:solidFill>
                <a:effectLst/>
                <a:latin typeface="+mn-lt"/>
                <a:ea typeface="+mn-ea"/>
                <a:cs typeface="+mn-cs"/>
              </a:rPr>
              <a:t>Experiment 3 used NER and Faking, substituting PII with realistic, contextually plausible, synthetic replacements</a:t>
            </a:r>
          </a:p>
          <a:p>
            <a:r>
              <a:rPr lang="en-US" sz="1200" b="0" i="0" kern="1200" dirty="0">
                <a:solidFill>
                  <a:schemeClr val="tx1"/>
                </a:solidFill>
                <a:effectLst/>
                <a:latin typeface="+mn-lt"/>
                <a:ea typeface="+mn-ea"/>
                <a:cs typeface="+mn-cs"/>
              </a:rPr>
              <a:t>Experiment 4, uses a local LLM like </a:t>
            </a:r>
            <a:r>
              <a:rPr lang="en-US" sz="1200" b="1" i="0" kern="1200" dirty="0">
                <a:solidFill>
                  <a:schemeClr val="tx1"/>
                </a:solidFill>
                <a:effectLst/>
                <a:latin typeface="+mn-lt"/>
                <a:ea typeface="+mn-ea"/>
                <a:cs typeface="+mn-cs"/>
              </a:rPr>
              <a:t>Ollama</a:t>
            </a:r>
            <a:r>
              <a:rPr lang="en-US" sz="1200" b="0" i="0" kern="1200" dirty="0">
                <a:solidFill>
                  <a:schemeClr val="tx1"/>
                </a:solidFill>
                <a:effectLst/>
                <a:latin typeface="+mn-lt"/>
                <a:ea typeface="+mn-ea"/>
                <a:cs typeface="+mn-cs"/>
              </a:rPr>
              <a:t> to perform intelligent, context-aware abstraction, preserving semantic consistency.</a:t>
            </a:r>
            <a:endParaRPr lang="en-US" dirty="0"/>
          </a:p>
        </p:txBody>
      </p:sp>
      <p:sp>
        <p:nvSpPr>
          <p:cNvPr id="4" name="Slide Number Placeholder 3"/>
          <p:cNvSpPr>
            <a:spLocks noGrp="1"/>
          </p:cNvSpPr>
          <p:nvPr>
            <p:ph type="sldNum" sz="quarter" idx="5"/>
          </p:nvPr>
        </p:nvSpPr>
        <p:spPr/>
        <p:txBody>
          <a:bodyPr/>
          <a:lstStyle/>
          <a:p>
            <a:fld id="{75F3D314-82CC-4E23-B449-4F3564582232}" type="slidenum">
              <a:rPr lang="en-US" smtClean="0"/>
              <a:t>7</a:t>
            </a:fld>
            <a:endParaRPr lang="en-US"/>
          </a:p>
        </p:txBody>
      </p:sp>
    </p:spTree>
    <p:extLst>
      <p:ext uri="{BB962C8B-B14F-4D97-AF65-F5344CB8AC3E}">
        <p14:creationId xmlns:p14="http://schemas.microsoft.com/office/powerpoint/2010/main" val="14403666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This slide justifies the tool choices I made. I selected </a:t>
            </a:r>
            <a:r>
              <a:rPr lang="en-US" sz="1200" b="0" i="0" kern="1200" dirty="0" err="1">
                <a:solidFill>
                  <a:schemeClr val="tx1"/>
                </a:solidFill>
                <a:effectLst/>
                <a:latin typeface="+mn-lt"/>
                <a:ea typeface="+mn-ea"/>
                <a:cs typeface="+mn-cs"/>
              </a:rPr>
              <a:t>spaCy</a:t>
            </a:r>
            <a:r>
              <a:rPr lang="en-US" sz="1200" b="0" i="0" kern="1200" dirty="0">
                <a:solidFill>
                  <a:schemeClr val="tx1"/>
                </a:solidFill>
                <a:effectLst/>
                <a:latin typeface="+mn-lt"/>
                <a:ea typeface="+mn-ea"/>
                <a:cs typeface="+mn-cs"/>
              </a:rPr>
              <a:t> for NER over Presidio and Hugging Face transformers because it is lightweight, CPU-optimized, and runs fully offline, meeting our client-side privacy requirement. Ollama was chosen as the local LLM engine for generating replacements because it runs entirely on-device, ensuring no user data leaves the local environment.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I used a multi-dimensional set of metrics like performance, memory, fit for purpose to ensure methodological rigor.</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I combined PLR (quantifies PII removal) with ROUGE and Coherence scores (assess content and contextual flow). This holistic view captures the precise privacy-utility and performance trade-off.</a:t>
            </a:r>
          </a:p>
          <a:p>
            <a:endParaRPr lang="en-US" dirty="0"/>
          </a:p>
        </p:txBody>
      </p:sp>
      <p:sp>
        <p:nvSpPr>
          <p:cNvPr id="4" name="Slide Number Placeholder 3"/>
          <p:cNvSpPr>
            <a:spLocks noGrp="1"/>
          </p:cNvSpPr>
          <p:nvPr>
            <p:ph type="sldNum" sz="quarter" idx="5"/>
          </p:nvPr>
        </p:nvSpPr>
        <p:spPr/>
        <p:txBody>
          <a:bodyPr/>
          <a:lstStyle/>
          <a:p>
            <a:fld id="{75F3D314-82CC-4E23-B449-4F3564582232}" type="slidenum">
              <a:rPr lang="en-US" smtClean="0"/>
              <a:t>8</a:t>
            </a:fld>
            <a:endParaRPr lang="en-US"/>
          </a:p>
        </p:txBody>
      </p:sp>
    </p:spTree>
    <p:extLst>
      <p:ext uri="{BB962C8B-B14F-4D97-AF65-F5344CB8AC3E}">
        <p14:creationId xmlns:p14="http://schemas.microsoft.com/office/powerpoint/2010/main" val="79747934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5F3D314-82CC-4E23-B449-4F3564582232}" type="slidenum">
              <a:rPr lang="en-US" smtClean="0"/>
              <a:t>9</a:t>
            </a:fld>
            <a:endParaRPr lang="en-US"/>
          </a:p>
        </p:txBody>
      </p:sp>
    </p:spTree>
    <p:extLst>
      <p:ext uri="{BB962C8B-B14F-4D97-AF65-F5344CB8AC3E}">
        <p14:creationId xmlns:p14="http://schemas.microsoft.com/office/powerpoint/2010/main" val="104594740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A5F23D-805A-08ED-5392-2214D75FA8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B13F8E-35FD-5298-ECF7-3D97C5E7BD9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DA2A1F-BCE0-A225-3BFE-8196CD84AE01}"/>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Let’s move to the evaluations of the various </a:t>
            </a:r>
            <a:r>
              <a:rPr lang="en-US" sz="1200" b="0" i="0" kern="1200" dirty="0" err="1">
                <a:solidFill>
                  <a:schemeClr val="tx1"/>
                </a:solidFill>
                <a:effectLst/>
                <a:latin typeface="+mn-lt"/>
                <a:ea typeface="+mn-ea"/>
                <a:cs typeface="+mn-cs"/>
              </a:rPr>
              <a:t>experiements</a:t>
            </a:r>
            <a:r>
              <a:rPr lang="en-US" sz="1200" b="0" i="0" kern="1200" dirty="0">
                <a:solidFill>
                  <a:schemeClr val="tx1"/>
                </a:solidFill>
                <a:effectLst/>
                <a:latin typeface="+mn-lt"/>
                <a:ea typeface="+mn-ea"/>
                <a:cs typeface="+mn-cs"/>
              </a:rPr>
              <a:t> conducted. This slide captures the Privacy effectiveness for various experiments conducted.</a:t>
            </a:r>
          </a:p>
          <a:p>
            <a:r>
              <a:rPr lang="en-US" sz="1200" b="0" i="0" kern="1200" dirty="0">
                <a:solidFill>
                  <a:schemeClr val="tx1"/>
                </a:solidFill>
                <a:effectLst/>
                <a:latin typeface="+mn-lt"/>
                <a:ea typeface="+mn-ea"/>
                <a:cs typeface="+mn-cs"/>
              </a:rPr>
              <a:t>As you can see from table and graph, The baseline(in Exp 1) confirms the critical threat: 87.3% of PII entities reappeared in model outputs, underscoring the necessity of client-side protection.</a:t>
            </a:r>
          </a:p>
          <a:p>
            <a:r>
              <a:rPr lang="en-US" sz="1200" b="0" i="0" kern="1200" dirty="0">
                <a:solidFill>
                  <a:schemeClr val="tx1"/>
                </a:solidFill>
                <a:effectLst/>
                <a:latin typeface="+mn-lt"/>
                <a:ea typeface="+mn-ea"/>
                <a:cs typeface="+mn-cs"/>
              </a:rPr>
              <a:t>While mechanical masking(in Exp 3) achieved the lowest leakage rate (3.2%), the </a:t>
            </a:r>
            <a:r>
              <a:rPr lang="en-US" sz="1200" b="1" i="0" kern="1200" dirty="0">
                <a:solidFill>
                  <a:schemeClr val="tx1"/>
                </a:solidFill>
                <a:effectLst/>
                <a:latin typeface="+mn-lt"/>
                <a:ea typeface="+mn-ea"/>
                <a:cs typeface="+mn-cs"/>
              </a:rPr>
              <a:t>LLM-based PII Removal</a:t>
            </a:r>
            <a:r>
              <a:rPr lang="en-US" sz="1200" b="0" i="0" kern="1200" dirty="0">
                <a:solidFill>
                  <a:schemeClr val="tx1"/>
                </a:solidFill>
                <a:effectLst/>
                <a:latin typeface="+mn-lt"/>
                <a:ea typeface="+mn-ea"/>
                <a:cs typeface="+mn-cs"/>
              </a:rPr>
              <a:t> achieved near-optimal protection (5.8% leakage), demonstrating a highly effective privacy safeguard.</a:t>
            </a:r>
          </a:p>
          <a:p>
            <a:r>
              <a:rPr lang="en-US" sz="1200" b="0" i="0" kern="1200" dirty="0">
                <a:solidFill>
                  <a:schemeClr val="tx1"/>
                </a:solidFill>
                <a:effectLst/>
                <a:latin typeface="+mn-lt"/>
                <a:ea typeface="+mn-ea"/>
                <a:cs typeface="+mn-cs"/>
              </a:rPr>
              <a:t>Higher Entropy means higher privacy, which you see from graph as well that both masking and LLM achieve good entropy scores.</a:t>
            </a:r>
            <a:endParaRPr lang="en-US" dirty="0"/>
          </a:p>
        </p:txBody>
      </p:sp>
      <p:sp>
        <p:nvSpPr>
          <p:cNvPr id="4" name="Slide Number Placeholder 3">
            <a:extLst>
              <a:ext uri="{FF2B5EF4-FFF2-40B4-BE49-F238E27FC236}">
                <a16:creationId xmlns:a16="http://schemas.microsoft.com/office/drawing/2014/main" id="{C2B3332B-B0A3-665F-4B17-E15338904ECE}"/>
              </a:ext>
            </a:extLst>
          </p:cNvPr>
          <p:cNvSpPr>
            <a:spLocks noGrp="1"/>
          </p:cNvSpPr>
          <p:nvPr>
            <p:ph type="sldNum" sz="quarter" idx="5"/>
          </p:nvPr>
        </p:nvSpPr>
        <p:spPr/>
        <p:txBody>
          <a:bodyPr/>
          <a:lstStyle/>
          <a:p>
            <a:fld id="{75F3D314-82CC-4E23-B449-4F3564582232}" type="slidenum">
              <a:rPr lang="en-US" smtClean="0"/>
              <a:t>10</a:t>
            </a:fld>
            <a:endParaRPr lang="en-US"/>
          </a:p>
        </p:txBody>
      </p:sp>
    </p:spTree>
    <p:extLst>
      <p:ext uri="{BB962C8B-B14F-4D97-AF65-F5344CB8AC3E}">
        <p14:creationId xmlns:p14="http://schemas.microsoft.com/office/powerpoint/2010/main" val="70553634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FA1BC5-99EC-CC98-AADA-57D477AE5F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D64B91-B5A5-5E3C-6667-45C1C603F7E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295A69-8BBE-FA8B-7811-30733AE9B7E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This slide captures the Utility and Quality preservation for various experiments conducted.</a:t>
            </a:r>
          </a:p>
          <a:p>
            <a:r>
              <a:rPr lang="en-US" sz="1200" b="0" i="0" kern="1200" dirty="0">
                <a:solidFill>
                  <a:schemeClr val="tx1"/>
                </a:solidFill>
                <a:effectLst/>
                <a:latin typeface="+mn-lt"/>
                <a:ea typeface="+mn-ea"/>
                <a:cs typeface="+mn-cs"/>
              </a:rPr>
              <a:t>As you can see from this table and graphs, simple masking performed poorly because the aggressive redaction disrupted the contextual cues essential for the LLM's reasoning.</a:t>
            </a:r>
          </a:p>
          <a:p>
            <a:r>
              <a:rPr lang="en-US" sz="1200" b="0" i="0" kern="1200" dirty="0">
                <a:solidFill>
                  <a:schemeClr val="tx1"/>
                </a:solidFill>
                <a:effectLst/>
                <a:latin typeface="+mn-lt"/>
                <a:ea typeface="+mn-ea"/>
                <a:cs typeface="+mn-cs"/>
              </a:rPr>
              <a:t>Conversely, the </a:t>
            </a:r>
            <a:r>
              <a:rPr lang="en-US" sz="1200" b="1" i="0" kern="1200" dirty="0">
                <a:solidFill>
                  <a:schemeClr val="tx1"/>
                </a:solidFill>
                <a:effectLst/>
                <a:latin typeface="+mn-lt"/>
                <a:ea typeface="+mn-ea"/>
                <a:cs typeface="+mn-cs"/>
              </a:rPr>
              <a:t>local LLM-based method</a:t>
            </a:r>
            <a:r>
              <a:rPr lang="en-US" sz="1200" b="0" i="0" kern="1200" dirty="0">
                <a:solidFill>
                  <a:schemeClr val="tx1"/>
                </a:solidFill>
                <a:effectLst/>
                <a:latin typeface="+mn-lt"/>
                <a:ea typeface="+mn-ea"/>
                <a:cs typeface="+mn-cs"/>
              </a:rPr>
              <a:t> achieved a balanced performance, retaining high linguistic quality (BLEU 0.831) and coherence (4.2 out of 5) it is because of LLM adaptive rewriting ensured semantic consistency. Also from last slide LLM based showed greatest privacy after Masking.</a:t>
            </a:r>
            <a:endParaRPr lang="en-US" dirty="0"/>
          </a:p>
        </p:txBody>
      </p:sp>
      <p:sp>
        <p:nvSpPr>
          <p:cNvPr id="4" name="Slide Number Placeholder 3">
            <a:extLst>
              <a:ext uri="{FF2B5EF4-FFF2-40B4-BE49-F238E27FC236}">
                <a16:creationId xmlns:a16="http://schemas.microsoft.com/office/drawing/2014/main" id="{0D014B58-F56B-07C0-D5D8-765E025A21B4}"/>
              </a:ext>
            </a:extLst>
          </p:cNvPr>
          <p:cNvSpPr>
            <a:spLocks noGrp="1"/>
          </p:cNvSpPr>
          <p:nvPr>
            <p:ph type="sldNum" sz="quarter" idx="5"/>
          </p:nvPr>
        </p:nvSpPr>
        <p:spPr/>
        <p:txBody>
          <a:bodyPr/>
          <a:lstStyle/>
          <a:p>
            <a:fld id="{75F3D314-82CC-4E23-B449-4F3564582232}" type="slidenum">
              <a:rPr lang="en-US" smtClean="0"/>
              <a:t>11</a:t>
            </a:fld>
            <a:endParaRPr lang="en-US"/>
          </a:p>
        </p:txBody>
      </p:sp>
    </p:spTree>
    <p:extLst>
      <p:ext uri="{BB962C8B-B14F-4D97-AF65-F5344CB8AC3E}">
        <p14:creationId xmlns:p14="http://schemas.microsoft.com/office/powerpoint/2010/main" val="422638890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EDABFA-5688-001E-F779-B87171236D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06FA1A-F3FC-8C62-52AC-5F73968A1F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6279858-AC1A-3C20-46B4-1DBA9AA6938B}"/>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This slide discusses the performance for various experiments conducted.</a:t>
            </a:r>
          </a:p>
          <a:p>
            <a:r>
              <a:rPr lang="en-US" sz="1200" b="0" i="0" kern="1200" dirty="0">
                <a:solidFill>
                  <a:schemeClr val="tx1"/>
                </a:solidFill>
                <a:effectLst/>
                <a:latin typeface="+mn-lt"/>
                <a:ea typeface="+mn-ea"/>
                <a:cs typeface="+mn-cs"/>
              </a:rPr>
              <a:t>The computational analysis highlights the core trade-off. Simple Faking is very fast (287ms). However, the LLM-based PII Removal imposed the highest latency (1,243ms), a significant increase over the baseline.</a:t>
            </a:r>
          </a:p>
          <a:p>
            <a:r>
              <a:rPr lang="en-US" sz="1200" b="0" i="0" kern="1200" dirty="0">
                <a:solidFill>
                  <a:schemeClr val="tx1"/>
                </a:solidFill>
                <a:effectLst/>
                <a:latin typeface="+mn-lt"/>
                <a:ea typeface="+mn-ea"/>
                <a:cs typeface="+mn-cs"/>
              </a:rPr>
              <a:t>This increase is attributed to the computational complexity of semantic rewriting and the dual model calls required. </a:t>
            </a:r>
            <a:r>
              <a:rPr lang="en-US" sz="1200" b="1" i="0" kern="1200" dirty="0">
                <a:solidFill>
                  <a:schemeClr val="tx1"/>
                </a:solidFill>
                <a:effectLst/>
                <a:latin typeface="+mn-lt"/>
                <a:ea typeface="+mn-ea"/>
                <a:cs typeface="+mn-cs"/>
              </a:rPr>
              <a:t>Crucially, this cost is justified</a:t>
            </a:r>
            <a:r>
              <a:rPr lang="en-US" sz="1200" b="0" i="0" kern="1200" dirty="0">
                <a:solidFill>
                  <a:schemeClr val="tx1"/>
                </a:solidFill>
                <a:effectLst/>
                <a:latin typeface="+mn-lt"/>
                <a:ea typeface="+mn-ea"/>
                <a:cs typeface="+mn-cs"/>
              </a:rPr>
              <a:t> in high-stakes domains where privacy guarantees and contextual fidelity outweigh strict real-time latency constraints, making it ideal for batch processing or high-privacy applications</a:t>
            </a:r>
          </a:p>
          <a:p>
            <a:endParaRPr lang="en-US" dirty="0"/>
          </a:p>
        </p:txBody>
      </p:sp>
      <p:sp>
        <p:nvSpPr>
          <p:cNvPr id="4" name="Slide Number Placeholder 3">
            <a:extLst>
              <a:ext uri="{FF2B5EF4-FFF2-40B4-BE49-F238E27FC236}">
                <a16:creationId xmlns:a16="http://schemas.microsoft.com/office/drawing/2014/main" id="{D7C8881B-73BF-4D4C-A8B9-1032EA1BDC87}"/>
              </a:ext>
            </a:extLst>
          </p:cNvPr>
          <p:cNvSpPr>
            <a:spLocks noGrp="1"/>
          </p:cNvSpPr>
          <p:nvPr>
            <p:ph type="sldNum" sz="quarter" idx="5"/>
          </p:nvPr>
        </p:nvSpPr>
        <p:spPr/>
        <p:txBody>
          <a:bodyPr/>
          <a:lstStyle/>
          <a:p>
            <a:fld id="{75F3D314-82CC-4E23-B449-4F3564582232}" type="slidenum">
              <a:rPr lang="en-US" smtClean="0"/>
              <a:t>12</a:t>
            </a:fld>
            <a:endParaRPr lang="en-US"/>
          </a:p>
        </p:txBody>
      </p:sp>
    </p:spTree>
    <p:extLst>
      <p:ext uri="{BB962C8B-B14F-4D97-AF65-F5344CB8AC3E}">
        <p14:creationId xmlns:p14="http://schemas.microsoft.com/office/powerpoint/2010/main" val="52331120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5186AC-B374-336B-573B-274B58C3F8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0BE9A51-B0B0-7362-1DEC-766E164DF6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B628B6C-312B-4E94-C45A-B6E7146534C8}"/>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As you can see from the table, you can go for masking where Privacy requirement is non-negotiable but utility can be compromised.  Fake Names provide middle level privacy with high utility retention and can be used in general purpose chatbots. Where as in sensitive domains like healthcare, finance Privacy is non-negotiable but utility is requirements are also high so someone can choose for Local LLM based PII removal.</a:t>
            </a:r>
          </a:p>
          <a:p>
            <a:r>
              <a:rPr lang="en-US" sz="1200" b="0" i="0" kern="1200" dirty="0">
                <a:solidFill>
                  <a:schemeClr val="tx1"/>
                </a:solidFill>
                <a:effectLst/>
                <a:latin typeface="+mn-lt"/>
                <a:ea typeface="+mn-ea"/>
                <a:cs typeface="+mn-cs"/>
              </a:rPr>
              <a:t>In conclusion, CSM provides technique for PII data removal as well as various methods to chose from to balance performance and privacy.</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Our final recommendation, based on balancing these trade-offs, is LLM-based PII Removal. It provides high utility retention and strong privacy protection, making it the superior choice for sensitive domains where accuracy and compliance are paramount.</a:t>
            </a:r>
          </a:p>
          <a:p>
            <a:endParaRPr lang="en-US" dirty="0"/>
          </a:p>
        </p:txBody>
      </p:sp>
      <p:sp>
        <p:nvSpPr>
          <p:cNvPr id="4" name="Slide Number Placeholder 3">
            <a:extLst>
              <a:ext uri="{FF2B5EF4-FFF2-40B4-BE49-F238E27FC236}">
                <a16:creationId xmlns:a16="http://schemas.microsoft.com/office/drawing/2014/main" id="{DC04198B-25F9-D7E8-35C4-D1D83DD02132}"/>
              </a:ext>
            </a:extLst>
          </p:cNvPr>
          <p:cNvSpPr>
            <a:spLocks noGrp="1"/>
          </p:cNvSpPr>
          <p:nvPr>
            <p:ph type="sldNum" sz="quarter" idx="5"/>
          </p:nvPr>
        </p:nvSpPr>
        <p:spPr/>
        <p:txBody>
          <a:bodyPr/>
          <a:lstStyle/>
          <a:p>
            <a:fld id="{75F3D314-82CC-4E23-B449-4F3564582232}" type="slidenum">
              <a:rPr lang="en-US" smtClean="0"/>
              <a:t>13</a:t>
            </a:fld>
            <a:endParaRPr lang="en-US"/>
          </a:p>
        </p:txBody>
      </p:sp>
    </p:spTree>
    <p:extLst>
      <p:ext uri="{BB962C8B-B14F-4D97-AF65-F5344CB8AC3E}">
        <p14:creationId xmlns:p14="http://schemas.microsoft.com/office/powerpoint/2010/main" val="293126826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E25D4D-AB3E-7503-9A15-4EA5FFC3CD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F8DC89-44AD-BC2B-7150-90922007E4B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4C385A3-24FD-26E3-D1BB-71157F0913C4}"/>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This research makes several key contributions: we developed a structured, modular evaluation framework; provided a quantitative comparative analysis of anonymization methods; and demonstrated the practical feasibility of using client-side NER for real-time privacy handling.</a:t>
            </a:r>
          </a:p>
          <a:p>
            <a:r>
              <a:rPr lang="en-US" sz="1200" b="0" i="0" kern="1200" dirty="0">
                <a:solidFill>
                  <a:schemeClr val="tx1"/>
                </a:solidFill>
                <a:effectLst/>
                <a:latin typeface="+mn-lt"/>
                <a:ea typeface="+mn-ea"/>
                <a:cs typeface="+mn-cs"/>
              </a:rPr>
              <a:t>The practical impact is significant: the proposed architecture enhances the security and trust of LLM chatbots in regulated industries like finance and healthcare. This contribution moves us closer to enabling </a:t>
            </a:r>
            <a:r>
              <a:rPr lang="en-US" sz="1200" b="1" i="0" kern="1200" dirty="0">
                <a:solidFill>
                  <a:schemeClr val="tx1"/>
                </a:solidFill>
                <a:effectLst/>
                <a:latin typeface="+mn-lt"/>
                <a:ea typeface="+mn-ea"/>
                <a:cs typeface="+mn-cs"/>
              </a:rPr>
              <a:t>safer and more responsible use of AI</a:t>
            </a:r>
            <a:r>
              <a:rPr lang="en-US" sz="1200" b="0" i="0" kern="1200" dirty="0">
                <a:solidFill>
                  <a:schemeClr val="tx1"/>
                </a:solidFill>
                <a:effectLst/>
                <a:latin typeface="+mn-lt"/>
                <a:ea typeface="+mn-ea"/>
                <a:cs typeface="+mn-cs"/>
              </a:rPr>
              <a:t> in sensitive domains</a:t>
            </a:r>
            <a:endParaRPr lang="en-US" dirty="0"/>
          </a:p>
        </p:txBody>
      </p:sp>
      <p:sp>
        <p:nvSpPr>
          <p:cNvPr id="4" name="Slide Number Placeholder 3">
            <a:extLst>
              <a:ext uri="{FF2B5EF4-FFF2-40B4-BE49-F238E27FC236}">
                <a16:creationId xmlns:a16="http://schemas.microsoft.com/office/drawing/2014/main" id="{92FC8043-E418-8CBD-5D13-9010E642FE74}"/>
              </a:ext>
            </a:extLst>
          </p:cNvPr>
          <p:cNvSpPr>
            <a:spLocks noGrp="1"/>
          </p:cNvSpPr>
          <p:nvPr>
            <p:ph type="sldNum" sz="quarter" idx="5"/>
          </p:nvPr>
        </p:nvSpPr>
        <p:spPr/>
        <p:txBody>
          <a:bodyPr/>
          <a:lstStyle/>
          <a:p>
            <a:fld id="{75F3D314-82CC-4E23-B449-4F3564582232}" type="slidenum">
              <a:rPr lang="en-US" smtClean="0"/>
              <a:t>14</a:t>
            </a:fld>
            <a:endParaRPr lang="en-US"/>
          </a:p>
        </p:txBody>
      </p:sp>
    </p:spTree>
    <p:extLst>
      <p:ext uri="{BB962C8B-B14F-4D97-AF65-F5344CB8AC3E}">
        <p14:creationId xmlns:p14="http://schemas.microsoft.com/office/powerpoint/2010/main" val="347317275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90302B-50A2-7323-3B1E-58B1886878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59513D-204A-F8D4-D220-424510ED192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9B01A4F-76A9-5206-FF31-2C817FFE3374}"/>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My development throughout this thesis was substantial, particularly in navigating the persistent challenge of the privacy-utility trade-off. This required consistent and comprehensive reflection on architectural choices, such as using lightweight, client-side tools like </a:t>
            </a:r>
            <a:r>
              <a:rPr lang="en-US" sz="1200" b="0" i="0" kern="1200" dirty="0" err="1">
                <a:solidFill>
                  <a:schemeClr val="tx1"/>
                </a:solidFill>
                <a:effectLst/>
                <a:latin typeface="+mn-lt"/>
                <a:ea typeface="+mn-ea"/>
                <a:cs typeface="+mn-cs"/>
              </a:rPr>
              <a:t>spaCy</a:t>
            </a:r>
            <a:r>
              <a:rPr lang="en-US" sz="1200" b="0" i="0" kern="1200" dirty="0">
                <a:solidFill>
                  <a:schemeClr val="tx1"/>
                </a:solidFill>
                <a:effectLst/>
                <a:latin typeface="+mn-lt"/>
                <a:ea typeface="+mn-ea"/>
                <a:cs typeface="+mn-cs"/>
              </a:rPr>
              <a:t> and Ollama to guarantee compliance and efficiency.</a:t>
            </a:r>
          </a:p>
          <a:p>
            <a:r>
              <a:rPr lang="en-US" sz="1200" b="0" i="0" kern="1200" dirty="0">
                <a:solidFill>
                  <a:schemeClr val="tx1"/>
                </a:solidFill>
                <a:effectLst/>
                <a:latin typeface="+mn-lt"/>
                <a:ea typeface="+mn-ea"/>
                <a:cs typeface="+mn-cs"/>
              </a:rPr>
              <a:t>For future work, I recommend integrating mathematically provable guarantees, such as Differential Privacy, and expanding the framework to support multiple languages. We must also complement automated metrics with human evaluation to fully assess perceived trustworthiness.</a:t>
            </a:r>
          </a:p>
          <a:p>
            <a:r>
              <a:rPr lang="en-US" sz="1200" b="0" i="0" kern="1200" dirty="0">
                <a:solidFill>
                  <a:schemeClr val="tx1"/>
                </a:solidFill>
                <a:effectLst/>
                <a:latin typeface="+mn-lt"/>
                <a:ea typeface="+mn-ea"/>
                <a:cs typeface="+mn-cs"/>
              </a:rPr>
              <a:t>This research reaffirms that privacy-preserving LLM inference is technically feasible and essential for responsible AI adoption.</a:t>
            </a:r>
            <a:endParaRPr lang="en-US" dirty="0"/>
          </a:p>
        </p:txBody>
      </p:sp>
      <p:sp>
        <p:nvSpPr>
          <p:cNvPr id="4" name="Slide Number Placeholder 3">
            <a:extLst>
              <a:ext uri="{FF2B5EF4-FFF2-40B4-BE49-F238E27FC236}">
                <a16:creationId xmlns:a16="http://schemas.microsoft.com/office/drawing/2014/main" id="{B8D82DBF-1812-80B8-BA4B-AD171C5588E6}"/>
              </a:ext>
            </a:extLst>
          </p:cNvPr>
          <p:cNvSpPr>
            <a:spLocks noGrp="1"/>
          </p:cNvSpPr>
          <p:nvPr>
            <p:ph type="sldNum" sz="quarter" idx="5"/>
          </p:nvPr>
        </p:nvSpPr>
        <p:spPr/>
        <p:txBody>
          <a:bodyPr/>
          <a:lstStyle/>
          <a:p>
            <a:fld id="{75F3D314-82CC-4E23-B449-4F3564582232}" type="slidenum">
              <a:rPr lang="en-US" smtClean="0"/>
              <a:t>15</a:t>
            </a:fld>
            <a:endParaRPr lang="en-US"/>
          </a:p>
        </p:txBody>
      </p:sp>
    </p:spTree>
    <p:extLst>
      <p:ext uri="{BB962C8B-B14F-4D97-AF65-F5344CB8AC3E}">
        <p14:creationId xmlns:p14="http://schemas.microsoft.com/office/powerpoint/2010/main" val="18722006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008DCC-F9DA-4A3B-0C43-426146812A7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DAD4BCD-590F-BC36-C2E0-7AB09A1EF48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4BDA2C4-FD51-0317-D06A-0C7C1314EE26}"/>
              </a:ext>
            </a:extLst>
          </p:cNvPr>
          <p:cNvSpPr>
            <a:spLocks noGrp="1"/>
          </p:cNvSpPr>
          <p:nvPr>
            <p:ph type="dt" sz="half" idx="10"/>
          </p:nvPr>
        </p:nvSpPr>
        <p:spPr/>
        <p:txBody>
          <a:bodyPr/>
          <a:lstStyle/>
          <a:p>
            <a:fld id="{AA30CED0-54FE-4155-AAC6-96D8702D9126}" type="datetimeFigureOut">
              <a:rPr lang="en-US" smtClean="0"/>
              <a:t>12/10/2025</a:t>
            </a:fld>
            <a:endParaRPr lang="en-US"/>
          </a:p>
        </p:txBody>
      </p:sp>
      <p:sp>
        <p:nvSpPr>
          <p:cNvPr id="5" name="Footer Placeholder 4">
            <a:extLst>
              <a:ext uri="{FF2B5EF4-FFF2-40B4-BE49-F238E27FC236}">
                <a16:creationId xmlns:a16="http://schemas.microsoft.com/office/drawing/2014/main" id="{4A820552-0A57-CD9E-C8F6-EC05E44CC8A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649E0A9-F516-36CA-A851-6C90AFA05434}"/>
              </a:ext>
            </a:extLst>
          </p:cNvPr>
          <p:cNvSpPr>
            <a:spLocks noGrp="1"/>
          </p:cNvSpPr>
          <p:nvPr>
            <p:ph type="sldNum" sz="quarter" idx="12"/>
          </p:nvPr>
        </p:nvSpPr>
        <p:spPr/>
        <p:txBody>
          <a:bodyPr/>
          <a:lstStyle/>
          <a:p>
            <a:fld id="{9DACB405-86D0-4FE2-9171-2809329631EE}" type="slidenum">
              <a:rPr lang="en-US" smtClean="0"/>
              <a:t>‹#›</a:t>
            </a:fld>
            <a:endParaRPr lang="en-US"/>
          </a:p>
        </p:txBody>
      </p:sp>
    </p:spTree>
    <p:extLst>
      <p:ext uri="{BB962C8B-B14F-4D97-AF65-F5344CB8AC3E}">
        <p14:creationId xmlns:p14="http://schemas.microsoft.com/office/powerpoint/2010/main" val="7822847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823CCB-C774-C2A6-D8B1-6710DF21CA0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834EB88-930D-0F8F-A620-FE0315C5B51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20B0D14-FB7B-5E4F-AED7-60C0EAE246E4}"/>
              </a:ext>
            </a:extLst>
          </p:cNvPr>
          <p:cNvSpPr>
            <a:spLocks noGrp="1"/>
          </p:cNvSpPr>
          <p:nvPr>
            <p:ph type="dt" sz="half" idx="10"/>
          </p:nvPr>
        </p:nvSpPr>
        <p:spPr/>
        <p:txBody>
          <a:bodyPr/>
          <a:lstStyle/>
          <a:p>
            <a:fld id="{AA30CED0-54FE-4155-AAC6-96D8702D9126}" type="datetimeFigureOut">
              <a:rPr lang="en-US" smtClean="0"/>
              <a:t>12/10/2025</a:t>
            </a:fld>
            <a:endParaRPr lang="en-US"/>
          </a:p>
        </p:txBody>
      </p:sp>
      <p:sp>
        <p:nvSpPr>
          <p:cNvPr id="5" name="Footer Placeholder 4">
            <a:extLst>
              <a:ext uri="{FF2B5EF4-FFF2-40B4-BE49-F238E27FC236}">
                <a16:creationId xmlns:a16="http://schemas.microsoft.com/office/drawing/2014/main" id="{6226AFA7-716C-4C50-CA51-C7D5AB9FF1E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605A461-B65B-7241-7938-FF8040DB60A6}"/>
              </a:ext>
            </a:extLst>
          </p:cNvPr>
          <p:cNvSpPr>
            <a:spLocks noGrp="1"/>
          </p:cNvSpPr>
          <p:nvPr>
            <p:ph type="sldNum" sz="quarter" idx="12"/>
          </p:nvPr>
        </p:nvSpPr>
        <p:spPr/>
        <p:txBody>
          <a:bodyPr/>
          <a:lstStyle/>
          <a:p>
            <a:fld id="{9DACB405-86D0-4FE2-9171-2809329631EE}" type="slidenum">
              <a:rPr lang="en-US" smtClean="0"/>
              <a:t>‹#›</a:t>
            </a:fld>
            <a:endParaRPr lang="en-US"/>
          </a:p>
        </p:txBody>
      </p:sp>
    </p:spTree>
    <p:extLst>
      <p:ext uri="{BB962C8B-B14F-4D97-AF65-F5344CB8AC3E}">
        <p14:creationId xmlns:p14="http://schemas.microsoft.com/office/powerpoint/2010/main" val="13404561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BFFFFC-2A34-FFC4-FAD5-B6A12E36140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A656848-A54B-4DD9-BE9D-926685720D3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BD93693-3C65-512C-958A-46FD52A7FD34}"/>
              </a:ext>
            </a:extLst>
          </p:cNvPr>
          <p:cNvSpPr>
            <a:spLocks noGrp="1"/>
          </p:cNvSpPr>
          <p:nvPr>
            <p:ph type="dt" sz="half" idx="10"/>
          </p:nvPr>
        </p:nvSpPr>
        <p:spPr/>
        <p:txBody>
          <a:bodyPr/>
          <a:lstStyle/>
          <a:p>
            <a:fld id="{AA30CED0-54FE-4155-AAC6-96D8702D9126}" type="datetimeFigureOut">
              <a:rPr lang="en-US" smtClean="0"/>
              <a:t>12/10/2025</a:t>
            </a:fld>
            <a:endParaRPr lang="en-US"/>
          </a:p>
        </p:txBody>
      </p:sp>
      <p:sp>
        <p:nvSpPr>
          <p:cNvPr id="5" name="Footer Placeholder 4">
            <a:extLst>
              <a:ext uri="{FF2B5EF4-FFF2-40B4-BE49-F238E27FC236}">
                <a16:creationId xmlns:a16="http://schemas.microsoft.com/office/drawing/2014/main" id="{8E20E5D7-5076-E008-139F-7CAA1942AC6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6319344-F8F3-3F16-2E59-371309B75F78}"/>
              </a:ext>
            </a:extLst>
          </p:cNvPr>
          <p:cNvSpPr>
            <a:spLocks noGrp="1"/>
          </p:cNvSpPr>
          <p:nvPr>
            <p:ph type="sldNum" sz="quarter" idx="12"/>
          </p:nvPr>
        </p:nvSpPr>
        <p:spPr/>
        <p:txBody>
          <a:bodyPr/>
          <a:lstStyle/>
          <a:p>
            <a:fld id="{9DACB405-86D0-4FE2-9171-2809329631EE}" type="slidenum">
              <a:rPr lang="en-US" smtClean="0"/>
              <a:t>‹#›</a:t>
            </a:fld>
            <a:endParaRPr lang="en-US"/>
          </a:p>
        </p:txBody>
      </p:sp>
    </p:spTree>
    <p:extLst>
      <p:ext uri="{BB962C8B-B14F-4D97-AF65-F5344CB8AC3E}">
        <p14:creationId xmlns:p14="http://schemas.microsoft.com/office/powerpoint/2010/main" val="16430537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B13D10-2510-861D-FB22-1B6F1CD717B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35C36A7-879C-366E-F891-CD209A6B1D9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89B7202-FF52-B027-BBDF-D02DEA22F3F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BB6B92F-ACB4-2A65-EF89-A85B654ADA76}"/>
              </a:ext>
            </a:extLst>
          </p:cNvPr>
          <p:cNvSpPr>
            <a:spLocks noGrp="1"/>
          </p:cNvSpPr>
          <p:nvPr>
            <p:ph type="dt" sz="half" idx="10"/>
          </p:nvPr>
        </p:nvSpPr>
        <p:spPr/>
        <p:txBody>
          <a:bodyPr/>
          <a:lstStyle/>
          <a:p>
            <a:fld id="{AA30CED0-54FE-4155-AAC6-96D8702D9126}" type="datetimeFigureOut">
              <a:rPr lang="en-US" smtClean="0"/>
              <a:t>12/10/2025</a:t>
            </a:fld>
            <a:endParaRPr lang="en-US"/>
          </a:p>
        </p:txBody>
      </p:sp>
      <p:sp>
        <p:nvSpPr>
          <p:cNvPr id="6" name="Footer Placeholder 5">
            <a:extLst>
              <a:ext uri="{FF2B5EF4-FFF2-40B4-BE49-F238E27FC236}">
                <a16:creationId xmlns:a16="http://schemas.microsoft.com/office/drawing/2014/main" id="{F9E73A4E-661E-A6AF-C770-9CA05652DB7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1E70C27-0A80-2182-23F7-9BD1A0953DEE}"/>
              </a:ext>
            </a:extLst>
          </p:cNvPr>
          <p:cNvSpPr>
            <a:spLocks noGrp="1"/>
          </p:cNvSpPr>
          <p:nvPr>
            <p:ph type="sldNum" sz="quarter" idx="12"/>
          </p:nvPr>
        </p:nvSpPr>
        <p:spPr/>
        <p:txBody>
          <a:bodyPr/>
          <a:lstStyle/>
          <a:p>
            <a:fld id="{9DACB405-86D0-4FE2-9171-2809329631EE}" type="slidenum">
              <a:rPr lang="en-US" smtClean="0"/>
              <a:t>‹#›</a:t>
            </a:fld>
            <a:endParaRPr lang="en-US"/>
          </a:p>
        </p:txBody>
      </p:sp>
    </p:spTree>
    <p:extLst>
      <p:ext uri="{BB962C8B-B14F-4D97-AF65-F5344CB8AC3E}">
        <p14:creationId xmlns:p14="http://schemas.microsoft.com/office/powerpoint/2010/main" val="6354382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9D776A-E82A-F545-A021-D57B53D16FF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B04BCF1-D908-5D0F-A75D-C6703E00A3F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EF1CA0D-B54A-49E3-4974-9C5CC787E58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FE94420-00AC-AB6B-63DE-C0542BBD845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DD3D043-EBC3-9645-66DB-1640930C727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1EC908F-64C7-57C5-C74E-2D15049F43F9}"/>
              </a:ext>
            </a:extLst>
          </p:cNvPr>
          <p:cNvSpPr>
            <a:spLocks noGrp="1"/>
          </p:cNvSpPr>
          <p:nvPr>
            <p:ph type="dt" sz="half" idx="10"/>
          </p:nvPr>
        </p:nvSpPr>
        <p:spPr/>
        <p:txBody>
          <a:bodyPr/>
          <a:lstStyle/>
          <a:p>
            <a:fld id="{AA30CED0-54FE-4155-AAC6-96D8702D9126}" type="datetimeFigureOut">
              <a:rPr lang="en-US" smtClean="0"/>
              <a:t>12/10/2025</a:t>
            </a:fld>
            <a:endParaRPr lang="en-US"/>
          </a:p>
        </p:txBody>
      </p:sp>
      <p:sp>
        <p:nvSpPr>
          <p:cNvPr id="8" name="Footer Placeholder 7">
            <a:extLst>
              <a:ext uri="{FF2B5EF4-FFF2-40B4-BE49-F238E27FC236}">
                <a16:creationId xmlns:a16="http://schemas.microsoft.com/office/drawing/2014/main" id="{E5F5883A-3E24-8587-49C4-CCBD70E23ED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9AA1A2D-5B3A-72A3-4C52-FACF488C9DA8}"/>
              </a:ext>
            </a:extLst>
          </p:cNvPr>
          <p:cNvSpPr>
            <a:spLocks noGrp="1"/>
          </p:cNvSpPr>
          <p:nvPr>
            <p:ph type="sldNum" sz="quarter" idx="12"/>
          </p:nvPr>
        </p:nvSpPr>
        <p:spPr/>
        <p:txBody>
          <a:bodyPr/>
          <a:lstStyle/>
          <a:p>
            <a:fld id="{9DACB405-86D0-4FE2-9171-2809329631EE}" type="slidenum">
              <a:rPr lang="en-US" smtClean="0"/>
              <a:t>‹#›</a:t>
            </a:fld>
            <a:endParaRPr lang="en-US"/>
          </a:p>
        </p:txBody>
      </p:sp>
    </p:spTree>
    <p:extLst>
      <p:ext uri="{BB962C8B-B14F-4D97-AF65-F5344CB8AC3E}">
        <p14:creationId xmlns:p14="http://schemas.microsoft.com/office/powerpoint/2010/main" val="37887119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10A81F-5C27-44CC-F66C-B2BF5822D10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4FF71F0-B69A-A860-280C-55657ABE61DB}"/>
              </a:ext>
            </a:extLst>
          </p:cNvPr>
          <p:cNvSpPr>
            <a:spLocks noGrp="1"/>
          </p:cNvSpPr>
          <p:nvPr>
            <p:ph type="dt" sz="half" idx="10"/>
          </p:nvPr>
        </p:nvSpPr>
        <p:spPr/>
        <p:txBody>
          <a:bodyPr/>
          <a:lstStyle/>
          <a:p>
            <a:fld id="{AA30CED0-54FE-4155-AAC6-96D8702D9126}" type="datetimeFigureOut">
              <a:rPr lang="en-US" smtClean="0"/>
              <a:t>12/10/2025</a:t>
            </a:fld>
            <a:endParaRPr lang="en-US"/>
          </a:p>
        </p:txBody>
      </p:sp>
      <p:sp>
        <p:nvSpPr>
          <p:cNvPr id="4" name="Footer Placeholder 3">
            <a:extLst>
              <a:ext uri="{FF2B5EF4-FFF2-40B4-BE49-F238E27FC236}">
                <a16:creationId xmlns:a16="http://schemas.microsoft.com/office/drawing/2014/main" id="{F00C77F8-C2F8-9EDE-83FD-F9EDE50DD9E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FE096DF-DC4E-D3FA-140A-1739FA8F7299}"/>
              </a:ext>
            </a:extLst>
          </p:cNvPr>
          <p:cNvSpPr>
            <a:spLocks noGrp="1"/>
          </p:cNvSpPr>
          <p:nvPr>
            <p:ph type="sldNum" sz="quarter" idx="12"/>
          </p:nvPr>
        </p:nvSpPr>
        <p:spPr/>
        <p:txBody>
          <a:bodyPr/>
          <a:lstStyle/>
          <a:p>
            <a:fld id="{9DACB405-86D0-4FE2-9171-2809329631EE}" type="slidenum">
              <a:rPr lang="en-US" smtClean="0"/>
              <a:t>‹#›</a:t>
            </a:fld>
            <a:endParaRPr lang="en-US"/>
          </a:p>
        </p:txBody>
      </p:sp>
    </p:spTree>
    <p:extLst>
      <p:ext uri="{BB962C8B-B14F-4D97-AF65-F5344CB8AC3E}">
        <p14:creationId xmlns:p14="http://schemas.microsoft.com/office/powerpoint/2010/main" val="5748043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261FDD4-9341-30EE-D9C2-55B5B8D8CAF4}"/>
              </a:ext>
            </a:extLst>
          </p:cNvPr>
          <p:cNvSpPr>
            <a:spLocks noGrp="1"/>
          </p:cNvSpPr>
          <p:nvPr>
            <p:ph type="dt" sz="half" idx="10"/>
          </p:nvPr>
        </p:nvSpPr>
        <p:spPr/>
        <p:txBody>
          <a:bodyPr/>
          <a:lstStyle/>
          <a:p>
            <a:fld id="{AA30CED0-54FE-4155-AAC6-96D8702D9126}" type="datetimeFigureOut">
              <a:rPr lang="en-US" smtClean="0"/>
              <a:t>12/10/2025</a:t>
            </a:fld>
            <a:endParaRPr lang="en-US"/>
          </a:p>
        </p:txBody>
      </p:sp>
      <p:sp>
        <p:nvSpPr>
          <p:cNvPr id="3" name="Footer Placeholder 2">
            <a:extLst>
              <a:ext uri="{FF2B5EF4-FFF2-40B4-BE49-F238E27FC236}">
                <a16:creationId xmlns:a16="http://schemas.microsoft.com/office/drawing/2014/main" id="{3F3C7B1C-F4FB-D52F-FD87-F43ED016786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754AF26-E3BF-C2FB-A49F-7DBB17C64155}"/>
              </a:ext>
            </a:extLst>
          </p:cNvPr>
          <p:cNvSpPr>
            <a:spLocks noGrp="1"/>
          </p:cNvSpPr>
          <p:nvPr>
            <p:ph type="sldNum" sz="quarter" idx="12"/>
          </p:nvPr>
        </p:nvSpPr>
        <p:spPr/>
        <p:txBody>
          <a:bodyPr/>
          <a:lstStyle/>
          <a:p>
            <a:fld id="{9DACB405-86D0-4FE2-9171-2809329631EE}" type="slidenum">
              <a:rPr lang="en-US" smtClean="0"/>
              <a:t>‹#›</a:t>
            </a:fld>
            <a:endParaRPr lang="en-US"/>
          </a:p>
        </p:txBody>
      </p:sp>
    </p:spTree>
    <p:extLst>
      <p:ext uri="{BB962C8B-B14F-4D97-AF65-F5344CB8AC3E}">
        <p14:creationId xmlns:p14="http://schemas.microsoft.com/office/powerpoint/2010/main" val="35573022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E019D5-2648-6866-20D4-D2CB88B8CD0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01C2197-BEB5-946E-840E-1CECBFF1354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AFC3D34-96CA-668D-C12F-50BBF3EF29E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1C9630D-7991-41F2-9BE7-8AEDD9EBEB66}"/>
              </a:ext>
            </a:extLst>
          </p:cNvPr>
          <p:cNvSpPr>
            <a:spLocks noGrp="1"/>
          </p:cNvSpPr>
          <p:nvPr>
            <p:ph type="dt" sz="half" idx="10"/>
          </p:nvPr>
        </p:nvSpPr>
        <p:spPr/>
        <p:txBody>
          <a:bodyPr/>
          <a:lstStyle/>
          <a:p>
            <a:fld id="{AA30CED0-54FE-4155-AAC6-96D8702D9126}" type="datetimeFigureOut">
              <a:rPr lang="en-US" smtClean="0"/>
              <a:t>12/10/2025</a:t>
            </a:fld>
            <a:endParaRPr lang="en-US"/>
          </a:p>
        </p:txBody>
      </p:sp>
      <p:sp>
        <p:nvSpPr>
          <p:cNvPr id="6" name="Footer Placeholder 5">
            <a:extLst>
              <a:ext uri="{FF2B5EF4-FFF2-40B4-BE49-F238E27FC236}">
                <a16:creationId xmlns:a16="http://schemas.microsoft.com/office/drawing/2014/main" id="{F174EE33-4480-126A-A661-CFE50FFB47D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77FF6C7-66BE-5576-8E13-EBEEBB7B206B}"/>
              </a:ext>
            </a:extLst>
          </p:cNvPr>
          <p:cNvSpPr>
            <a:spLocks noGrp="1"/>
          </p:cNvSpPr>
          <p:nvPr>
            <p:ph type="sldNum" sz="quarter" idx="12"/>
          </p:nvPr>
        </p:nvSpPr>
        <p:spPr/>
        <p:txBody>
          <a:bodyPr/>
          <a:lstStyle/>
          <a:p>
            <a:fld id="{9DACB405-86D0-4FE2-9171-2809329631EE}" type="slidenum">
              <a:rPr lang="en-US" smtClean="0"/>
              <a:t>‹#›</a:t>
            </a:fld>
            <a:endParaRPr lang="en-US"/>
          </a:p>
        </p:txBody>
      </p:sp>
    </p:spTree>
    <p:extLst>
      <p:ext uri="{BB962C8B-B14F-4D97-AF65-F5344CB8AC3E}">
        <p14:creationId xmlns:p14="http://schemas.microsoft.com/office/powerpoint/2010/main" val="36927919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2921E8-4501-02DD-1777-F04BDF778F8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4D9AD64-B689-B366-6136-19D470009E1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CEE1D31-D4EF-E6EB-6740-9BBDA341A50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CE109F7-4C9F-9BFF-BB66-55A316B9166C}"/>
              </a:ext>
            </a:extLst>
          </p:cNvPr>
          <p:cNvSpPr>
            <a:spLocks noGrp="1"/>
          </p:cNvSpPr>
          <p:nvPr>
            <p:ph type="dt" sz="half" idx="10"/>
          </p:nvPr>
        </p:nvSpPr>
        <p:spPr/>
        <p:txBody>
          <a:bodyPr/>
          <a:lstStyle/>
          <a:p>
            <a:fld id="{AA30CED0-54FE-4155-AAC6-96D8702D9126}" type="datetimeFigureOut">
              <a:rPr lang="en-US" smtClean="0"/>
              <a:t>12/10/2025</a:t>
            </a:fld>
            <a:endParaRPr lang="en-US"/>
          </a:p>
        </p:txBody>
      </p:sp>
      <p:sp>
        <p:nvSpPr>
          <p:cNvPr id="6" name="Footer Placeholder 5">
            <a:extLst>
              <a:ext uri="{FF2B5EF4-FFF2-40B4-BE49-F238E27FC236}">
                <a16:creationId xmlns:a16="http://schemas.microsoft.com/office/drawing/2014/main" id="{26890809-6EA9-1D4B-9D71-292E4A622CB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433517C-864B-82EE-B1F1-7D6AB869BABF}"/>
              </a:ext>
            </a:extLst>
          </p:cNvPr>
          <p:cNvSpPr>
            <a:spLocks noGrp="1"/>
          </p:cNvSpPr>
          <p:nvPr>
            <p:ph type="sldNum" sz="quarter" idx="12"/>
          </p:nvPr>
        </p:nvSpPr>
        <p:spPr/>
        <p:txBody>
          <a:bodyPr/>
          <a:lstStyle/>
          <a:p>
            <a:fld id="{9DACB405-86D0-4FE2-9171-2809329631EE}" type="slidenum">
              <a:rPr lang="en-US" smtClean="0"/>
              <a:t>‹#›</a:t>
            </a:fld>
            <a:endParaRPr lang="en-US"/>
          </a:p>
        </p:txBody>
      </p:sp>
    </p:spTree>
    <p:extLst>
      <p:ext uri="{BB962C8B-B14F-4D97-AF65-F5344CB8AC3E}">
        <p14:creationId xmlns:p14="http://schemas.microsoft.com/office/powerpoint/2010/main" val="5008901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C61B3B-0FBD-6A76-CD26-86C59127C5A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66FD08E-FB22-6B89-1E08-7558EC486E0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6303A74-E594-0E45-5E09-1B6CDA59D4DB}"/>
              </a:ext>
            </a:extLst>
          </p:cNvPr>
          <p:cNvSpPr>
            <a:spLocks noGrp="1"/>
          </p:cNvSpPr>
          <p:nvPr>
            <p:ph type="dt" sz="half" idx="10"/>
          </p:nvPr>
        </p:nvSpPr>
        <p:spPr/>
        <p:txBody>
          <a:bodyPr/>
          <a:lstStyle/>
          <a:p>
            <a:fld id="{AA30CED0-54FE-4155-AAC6-96D8702D9126}" type="datetimeFigureOut">
              <a:rPr lang="en-US" smtClean="0"/>
              <a:t>12/10/2025</a:t>
            </a:fld>
            <a:endParaRPr lang="en-US"/>
          </a:p>
        </p:txBody>
      </p:sp>
      <p:sp>
        <p:nvSpPr>
          <p:cNvPr id="5" name="Footer Placeholder 4">
            <a:extLst>
              <a:ext uri="{FF2B5EF4-FFF2-40B4-BE49-F238E27FC236}">
                <a16:creationId xmlns:a16="http://schemas.microsoft.com/office/drawing/2014/main" id="{AE9218D3-5BFC-663A-FD55-4DC0835030B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E1961F9-2B1E-AEDA-5971-A7F44C62F3FC}"/>
              </a:ext>
            </a:extLst>
          </p:cNvPr>
          <p:cNvSpPr>
            <a:spLocks noGrp="1"/>
          </p:cNvSpPr>
          <p:nvPr>
            <p:ph type="sldNum" sz="quarter" idx="12"/>
          </p:nvPr>
        </p:nvSpPr>
        <p:spPr/>
        <p:txBody>
          <a:bodyPr/>
          <a:lstStyle/>
          <a:p>
            <a:fld id="{9DACB405-86D0-4FE2-9171-2809329631EE}" type="slidenum">
              <a:rPr lang="en-US" smtClean="0"/>
              <a:t>‹#›</a:t>
            </a:fld>
            <a:endParaRPr lang="en-US"/>
          </a:p>
        </p:txBody>
      </p:sp>
    </p:spTree>
    <p:extLst>
      <p:ext uri="{BB962C8B-B14F-4D97-AF65-F5344CB8AC3E}">
        <p14:creationId xmlns:p14="http://schemas.microsoft.com/office/powerpoint/2010/main" val="6415691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CFD3D67-87C4-44BE-76AA-4B43B8FA97C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7A5C2D5-0860-067C-6CA8-97B2E4A501C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CA45AED-93B5-BCBF-49B3-D358AC9C1ACD}"/>
              </a:ext>
            </a:extLst>
          </p:cNvPr>
          <p:cNvSpPr>
            <a:spLocks noGrp="1"/>
          </p:cNvSpPr>
          <p:nvPr>
            <p:ph type="dt" sz="half" idx="10"/>
          </p:nvPr>
        </p:nvSpPr>
        <p:spPr/>
        <p:txBody>
          <a:bodyPr/>
          <a:lstStyle/>
          <a:p>
            <a:fld id="{AA30CED0-54FE-4155-AAC6-96D8702D9126}" type="datetimeFigureOut">
              <a:rPr lang="en-US" smtClean="0"/>
              <a:t>12/10/2025</a:t>
            </a:fld>
            <a:endParaRPr lang="en-US"/>
          </a:p>
        </p:txBody>
      </p:sp>
      <p:sp>
        <p:nvSpPr>
          <p:cNvPr id="5" name="Footer Placeholder 4">
            <a:extLst>
              <a:ext uri="{FF2B5EF4-FFF2-40B4-BE49-F238E27FC236}">
                <a16:creationId xmlns:a16="http://schemas.microsoft.com/office/drawing/2014/main" id="{0065685C-F555-EE0D-BA82-E2D4956BBE9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07777B2-E03F-75A3-F04F-1206B0311633}"/>
              </a:ext>
            </a:extLst>
          </p:cNvPr>
          <p:cNvSpPr>
            <a:spLocks noGrp="1"/>
          </p:cNvSpPr>
          <p:nvPr>
            <p:ph type="sldNum" sz="quarter" idx="12"/>
          </p:nvPr>
        </p:nvSpPr>
        <p:spPr/>
        <p:txBody>
          <a:bodyPr/>
          <a:lstStyle/>
          <a:p>
            <a:fld id="{9DACB405-86D0-4FE2-9171-2809329631EE}" type="slidenum">
              <a:rPr lang="en-US" smtClean="0"/>
              <a:t>‹#›</a:t>
            </a:fld>
            <a:endParaRPr lang="en-US"/>
          </a:p>
        </p:txBody>
      </p:sp>
    </p:spTree>
    <p:extLst>
      <p:ext uri="{BB962C8B-B14F-4D97-AF65-F5344CB8AC3E}">
        <p14:creationId xmlns:p14="http://schemas.microsoft.com/office/powerpoint/2010/main" val="3175565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60C2D7C-D455-3485-43CA-BC5A9EC0463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B4C638E-32B4-FC53-BFA4-9979F67BEB8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63BEFB4-DB5B-D260-F000-B4D3D13DCF7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A30CED0-54FE-4155-AAC6-96D8702D9126}" type="datetimeFigureOut">
              <a:rPr lang="en-US" smtClean="0"/>
              <a:t>12/10/2025</a:t>
            </a:fld>
            <a:endParaRPr lang="en-US"/>
          </a:p>
        </p:txBody>
      </p:sp>
      <p:sp>
        <p:nvSpPr>
          <p:cNvPr id="5" name="Footer Placeholder 4">
            <a:extLst>
              <a:ext uri="{FF2B5EF4-FFF2-40B4-BE49-F238E27FC236}">
                <a16:creationId xmlns:a16="http://schemas.microsoft.com/office/drawing/2014/main" id="{722E9EA4-27D2-67EF-C7D6-5E743707C85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E70129CE-6BCF-5CD6-7E4F-751B72499C1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DACB405-86D0-4FE2-9171-2809329631EE}" type="slidenum">
              <a:rPr lang="en-US" smtClean="0"/>
              <a:t>‹#›</a:t>
            </a:fld>
            <a:endParaRPr lang="en-US"/>
          </a:p>
        </p:txBody>
      </p:sp>
    </p:spTree>
    <p:extLst>
      <p:ext uri="{BB962C8B-B14F-4D97-AF65-F5344CB8AC3E}">
        <p14:creationId xmlns:p14="http://schemas.microsoft.com/office/powerpoint/2010/main" val="38335716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3.jpe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 3">
            <a:extLst>
              <a:ext uri="{FF2B5EF4-FFF2-40B4-BE49-F238E27FC236}">
                <a16:creationId xmlns:a16="http://schemas.microsoft.com/office/drawing/2014/main" id="{D73D0112-73E9-9B4F-FA04-AE9769A5E89A}"/>
              </a:ext>
            </a:extLst>
          </p:cNvPr>
          <p:cNvGraphicFramePr/>
          <p:nvPr>
            <p:extLst>
              <p:ext uri="{D42A27DB-BD31-4B8C-83A1-F6EECF244321}">
                <p14:modId xmlns:p14="http://schemas.microsoft.com/office/powerpoint/2010/main" val="148734573"/>
              </p:ext>
            </p:extLst>
          </p:nvPr>
        </p:nvGraphicFramePr>
        <p:xfrm>
          <a:off x="1117598" y="719666"/>
          <a:ext cx="11174715" cy="541866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990884358"/>
      </p:ext>
    </p:extLst>
  </p:cSld>
  <p:clrMapOvr>
    <a:masterClrMapping/>
  </p:clrMapOvr>
  <mc:AlternateContent xmlns:mc="http://schemas.openxmlformats.org/markup-compatibility/2006" xmlns:p14="http://schemas.microsoft.com/office/powerpoint/2010/main">
    <mc:Choice Requires="p14">
      <p:transition spd="slow" p14:dur="2000" advTm="23291"/>
    </mc:Choice>
    <mc:Fallback xmlns="">
      <p:transition spd="slow" advTm="23291"/>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29C61F-5D4D-3A1C-D68E-A86EED0DE699}"/>
              </a:ext>
            </a:extLst>
          </p:cNvPr>
          <p:cNvSpPr>
            <a:spLocks noGrp="1"/>
          </p:cNvSpPr>
          <p:nvPr>
            <p:ph type="title"/>
          </p:nvPr>
        </p:nvSpPr>
        <p:spPr/>
        <p:txBody>
          <a:bodyPr/>
          <a:lstStyle/>
          <a:p>
            <a:pPr algn="ctr"/>
            <a:r>
              <a:rPr lang="en-US" b="1" dirty="0">
                <a:solidFill>
                  <a:srgbClr val="002060"/>
                </a:solidFill>
              </a:rPr>
              <a:t>Motivation &amp; Stakes</a:t>
            </a:r>
            <a:endParaRPr lang="en-US" dirty="0">
              <a:solidFill>
                <a:srgbClr val="002060"/>
              </a:solidFill>
            </a:endParaRPr>
          </a:p>
        </p:txBody>
      </p:sp>
      <p:sp>
        <p:nvSpPr>
          <p:cNvPr id="5" name="Rectangle 2">
            <a:extLst>
              <a:ext uri="{FF2B5EF4-FFF2-40B4-BE49-F238E27FC236}">
                <a16:creationId xmlns:a16="http://schemas.microsoft.com/office/drawing/2014/main" id="{78774BF3-94AB-0D41-A6CB-1857DE6B5580}"/>
              </a:ext>
            </a:extLst>
          </p:cNvPr>
          <p:cNvSpPr>
            <a:spLocks noGrp="1" noChangeArrowheads="1"/>
          </p:cNvSpPr>
          <p:nvPr>
            <p:ph idx="1"/>
          </p:nvPr>
        </p:nvSpPr>
        <p:spPr bwMode="auto">
          <a:xfrm>
            <a:off x="4810506" y="1451663"/>
            <a:ext cx="3980688" cy="175432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lvl="0" indent="0">
              <a:lnSpc>
                <a:spcPct val="100000"/>
              </a:lnSpc>
              <a:buNone/>
            </a:pPr>
            <a:endParaRPr lang="en-US" altLang="en-US" sz="1000" dirty="0">
              <a:solidFill>
                <a:srgbClr val="303030"/>
              </a:solidFill>
              <a:latin typeface="Google Sans Text"/>
            </a:endParaRPr>
          </a:p>
          <a:p>
            <a:pPr marL="0" lvl="0" indent="0">
              <a:lnSpc>
                <a:spcPct val="100000"/>
              </a:lnSpc>
              <a:buNone/>
            </a:pPr>
            <a:r>
              <a:rPr kumimoji="0" lang="en-US" altLang="en-US" sz="1000" b="0" i="0" u="none" strike="noStrike" cap="none" normalizeH="0" baseline="0" dirty="0">
                <a:ln>
                  <a:noFill/>
                </a:ln>
                <a:solidFill>
                  <a:srgbClr val="303030"/>
                </a:solidFill>
                <a:effectLst/>
                <a:latin typeface="Google Sans Text"/>
              </a:rPr>
              <a:t> </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8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7200" b="1" i="0" u="none" strike="noStrike" normalizeH="0" baseline="0" dirty="0">
                <a:ln w="6600">
                  <a:solidFill>
                    <a:schemeClr val="accent2"/>
                  </a:solidFill>
                  <a:prstDash val="solid"/>
                </a:ln>
                <a:solidFill>
                  <a:srgbClr val="FFFFFF"/>
                </a:solidFill>
                <a:effectLst>
                  <a:outerShdw dist="38100" dir="2700000" algn="tl" rotWithShape="0">
                    <a:schemeClr val="accent2"/>
                  </a:outerShdw>
                </a:effectLst>
              </a:rPr>
              <a:t>$4.88 M </a:t>
            </a:r>
            <a:r>
              <a:rPr kumimoji="0" lang="en-US" altLang="en-US" sz="800" b="0" i="0" u="none" strike="noStrike" cap="none" normalizeH="0" baseline="0" dirty="0">
                <a:ln>
                  <a:noFill/>
                </a:ln>
                <a:solidFill>
                  <a:schemeClr val="tx1"/>
                </a:solidFill>
                <a:effectLst/>
              </a:rPr>
              <a:t>average cost per Incident in corporate settings.</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1028" name="Picture 4" descr="5,800+ Gdpr Stock Illustrations, Royalty-Free Vector ...">
            <a:extLst>
              <a:ext uri="{FF2B5EF4-FFF2-40B4-BE49-F238E27FC236}">
                <a16:creationId xmlns:a16="http://schemas.microsoft.com/office/drawing/2014/main" id="{9EC88539-11E4-41BC-09A5-6AFC9230077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96584" y="3652011"/>
            <a:ext cx="1409700" cy="140970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HIPAA: Things to know as a VRS user - Convo Communications">
            <a:extLst>
              <a:ext uri="{FF2B5EF4-FFF2-40B4-BE49-F238E27FC236}">
                <a16:creationId xmlns:a16="http://schemas.microsoft.com/office/drawing/2014/main" id="{6FD87722-308E-447C-A254-4ED0FFD3092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98660" y="4848363"/>
            <a:ext cx="2179891" cy="1409700"/>
          </a:xfrm>
          <a:prstGeom prst="rect">
            <a:avLst/>
          </a:prstGeom>
          <a:noFill/>
          <a:extLst>
            <a:ext uri="{909E8E84-426E-40DD-AFC4-6F175D3DCCD1}">
              <a14:hiddenFill xmlns:a14="http://schemas.microsoft.com/office/drawing/2010/main">
                <a:solidFill>
                  <a:srgbClr val="FFFFFF"/>
                </a:solidFill>
              </a14:hiddenFill>
            </a:ext>
          </a:extLst>
        </p:spPr>
      </p:pic>
      <p:sp>
        <p:nvSpPr>
          <p:cNvPr id="6" name="AutoShape 8" descr="Image of ">
            <a:extLst>
              <a:ext uri="{FF2B5EF4-FFF2-40B4-BE49-F238E27FC236}">
                <a16:creationId xmlns:a16="http://schemas.microsoft.com/office/drawing/2014/main" id="{AE7AA081-85B7-980E-6310-A012E7E68BBA}"/>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 name="TextBox 9">
            <a:extLst>
              <a:ext uri="{FF2B5EF4-FFF2-40B4-BE49-F238E27FC236}">
                <a16:creationId xmlns:a16="http://schemas.microsoft.com/office/drawing/2014/main" id="{2D5EDCC3-11E3-5701-5FAF-B9328EEF9D34}"/>
              </a:ext>
            </a:extLst>
          </p:cNvPr>
          <p:cNvSpPr txBox="1"/>
          <p:nvPr/>
        </p:nvSpPr>
        <p:spPr>
          <a:xfrm>
            <a:off x="1049112" y="3743353"/>
            <a:ext cx="3596039" cy="2862322"/>
          </a:xfrm>
          <a:prstGeom prst="rect">
            <a:avLst/>
          </a:prstGeom>
          <a:noFill/>
        </p:spPr>
        <p:txBody>
          <a:bodyPr wrap="square" rtlCol="0">
            <a:spAutoFit/>
          </a:bodyPr>
          <a:lstStyle/>
          <a:p>
            <a:pPr lvl="0" eaLnBrk="0" fontAlgn="base" hangingPunct="0">
              <a:spcBef>
                <a:spcPct val="0"/>
              </a:spcBef>
              <a:spcAft>
                <a:spcPct val="0"/>
              </a:spcAft>
            </a:pPr>
            <a:r>
              <a:rPr lang="en-US" altLang="en-US" b="1" dirty="0">
                <a:solidFill>
                  <a:srgbClr val="002060"/>
                </a:solidFill>
                <a:latin typeface="Google Sans Text"/>
              </a:rPr>
              <a:t>Growing Privacy Concern:</a:t>
            </a:r>
            <a:r>
              <a:rPr lang="en-US" altLang="en-US" dirty="0">
                <a:solidFill>
                  <a:srgbClr val="002060"/>
                </a:solidFill>
                <a:latin typeface="Google Sans Text"/>
              </a:rPr>
              <a:t> </a:t>
            </a:r>
            <a:r>
              <a:rPr lang="en-US" altLang="en-US" dirty="0">
                <a:solidFill>
                  <a:srgbClr val="303030"/>
                </a:solidFill>
                <a:latin typeface="Google Sans Text"/>
              </a:rPr>
              <a:t>Anyone chatting with AI chatbots is skeptical about potential information leakage or misuse. </a:t>
            </a:r>
          </a:p>
          <a:p>
            <a:pPr lvl="0" eaLnBrk="0" fontAlgn="base" hangingPunct="0">
              <a:spcBef>
                <a:spcPct val="0"/>
              </a:spcBef>
              <a:spcAft>
                <a:spcPct val="0"/>
              </a:spcAft>
            </a:pPr>
            <a:r>
              <a:rPr lang="en-US" dirty="0">
                <a:solidFill>
                  <a:srgbClr val="303030"/>
                </a:solidFill>
                <a:latin typeface="Google Sans Text"/>
              </a:rPr>
              <a:t>LLMs are "highly prone to retaining and copying PII from the input when prompted" (up to 57.4% leakage in studies)</a:t>
            </a:r>
            <a:endParaRPr lang="en-US" altLang="en-US" dirty="0">
              <a:solidFill>
                <a:srgbClr val="303030"/>
              </a:solidFill>
              <a:latin typeface="Google Sans Text"/>
            </a:endParaRPr>
          </a:p>
          <a:p>
            <a:pPr lvl="0" eaLnBrk="0" fontAlgn="base" hangingPunct="0">
              <a:spcBef>
                <a:spcPct val="0"/>
              </a:spcBef>
              <a:spcAft>
                <a:spcPct val="0"/>
              </a:spcAft>
            </a:pPr>
            <a:endParaRPr lang="en-US" altLang="en-US" dirty="0">
              <a:solidFill>
                <a:srgbClr val="303030"/>
              </a:solidFill>
              <a:latin typeface="Google Sans Text"/>
            </a:endParaRPr>
          </a:p>
          <a:p>
            <a:endParaRPr lang="en-US" dirty="0"/>
          </a:p>
        </p:txBody>
      </p:sp>
      <p:sp>
        <p:nvSpPr>
          <p:cNvPr id="11" name="TextBox 10">
            <a:extLst>
              <a:ext uri="{FF2B5EF4-FFF2-40B4-BE49-F238E27FC236}">
                <a16:creationId xmlns:a16="http://schemas.microsoft.com/office/drawing/2014/main" id="{4F266C18-65B0-2ACD-88BC-9BCBE705E7C9}"/>
              </a:ext>
            </a:extLst>
          </p:cNvPr>
          <p:cNvSpPr txBox="1"/>
          <p:nvPr/>
        </p:nvSpPr>
        <p:spPr>
          <a:xfrm>
            <a:off x="8345384" y="3903313"/>
            <a:ext cx="3264024" cy="1754326"/>
          </a:xfrm>
          <a:prstGeom prst="rect">
            <a:avLst/>
          </a:prstGeom>
          <a:noFill/>
        </p:spPr>
        <p:txBody>
          <a:bodyPr wrap="square" rtlCol="0">
            <a:spAutoFit/>
          </a:bodyPr>
          <a:lstStyle/>
          <a:p>
            <a:r>
              <a:rPr lang="en-US" altLang="en-US" b="1" dirty="0">
                <a:solidFill>
                  <a:srgbClr val="002060"/>
                </a:solidFill>
                <a:latin typeface="Google Sans Text"/>
              </a:rPr>
              <a:t>Regulatory Pressure:</a:t>
            </a:r>
            <a:r>
              <a:rPr lang="en-US" altLang="en-US" dirty="0">
                <a:solidFill>
                  <a:srgbClr val="002060"/>
                </a:solidFill>
                <a:latin typeface="Google Sans Text"/>
              </a:rPr>
              <a:t> </a:t>
            </a:r>
            <a:r>
              <a:rPr lang="en-US" altLang="en-US" dirty="0">
                <a:solidFill>
                  <a:srgbClr val="303030"/>
                </a:solidFill>
                <a:latin typeface="Google Sans Text"/>
              </a:rPr>
              <a:t>AI systems must incorporate robust privacy mechanisms due to frameworks like the EU’s AI Act, US Executive Order, GDPR, and HIPAA.</a:t>
            </a:r>
          </a:p>
          <a:p>
            <a:endParaRPr lang="en-US" dirty="0"/>
          </a:p>
        </p:txBody>
      </p:sp>
      <p:sp>
        <p:nvSpPr>
          <p:cNvPr id="12" name="TextBox 11">
            <a:extLst>
              <a:ext uri="{FF2B5EF4-FFF2-40B4-BE49-F238E27FC236}">
                <a16:creationId xmlns:a16="http://schemas.microsoft.com/office/drawing/2014/main" id="{5F85C0E0-616C-3848-3B24-32056A2638CF}"/>
              </a:ext>
            </a:extLst>
          </p:cNvPr>
          <p:cNvSpPr txBox="1"/>
          <p:nvPr/>
        </p:nvSpPr>
        <p:spPr>
          <a:xfrm>
            <a:off x="8275890" y="1892560"/>
            <a:ext cx="3077910" cy="1477328"/>
          </a:xfrm>
          <a:prstGeom prst="rect">
            <a:avLst/>
          </a:prstGeom>
          <a:noFill/>
        </p:spPr>
        <p:txBody>
          <a:bodyPr wrap="square" rtlCol="0">
            <a:spAutoFit/>
          </a:bodyPr>
          <a:lstStyle/>
          <a:p>
            <a:r>
              <a:rPr lang="en-US" altLang="en-US" b="1" dirty="0">
                <a:solidFill>
                  <a:srgbClr val="002060"/>
                </a:solidFill>
                <a:latin typeface="Google Sans Text"/>
              </a:rPr>
              <a:t>High Cost of Breaches:</a:t>
            </a:r>
            <a:r>
              <a:rPr lang="en-US" altLang="en-US" dirty="0">
                <a:solidFill>
                  <a:srgbClr val="303030"/>
                </a:solidFill>
                <a:latin typeface="Google Sans Text"/>
              </a:rPr>
              <a:t> The global average cost of a data breach hit a record peak of </a:t>
            </a:r>
            <a:r>
              <a:rPr kumimoji="0" lang="en-US" altLang="en-US" sz="1600" b="0" i="0" u="none" strike="noStrike" cap="none" normalizeH="0" baseline="0" dirty="0">
                <a:ln>
                  <a:noFill/>
                </a:ln>
                <a:solidFill>
                  <a:srgbClr val="303030"/>
                </a:solidFill>
                <a:effectLst/>
                <a:latin typeface="KaTeX_Main"/>
              </a:rPr>
              <a:t>4.88 </a:t>
            </a:r>
            <a:r>
              <a:rPr kumimoji="0" lang="en-US" altLang="en-US" sz="1600" b="0" i="1" u="none" strike="noStrike" cap="none" normalizeH="0" baseline="0" dirty="0">
                <a:ln>
                  <a:noFill/>
                </a:ln>
                <a:solidFill>
                  <a:srgbClr val="303030"/>
                </a:solidFill>
                <a:effectLst/>
                <a:latin typeface="KaTeX_Math"/>
              </a:rPr>
              <a:t>million in </a:t>
            </a:r>
            <a:r>
              <a:rPr kumimoji="0" lang="en-US" altLang="en-US" sz="1600" b="0" i="0" u="none" strike="noStrike" cap="none" normalizeH="0" baseline="0" dirty="0">
                <a:ln>
                  <a:noFill/>
                </a:ln>
                <a:solidFill>
                  <a:srgbClr val="303030"/>
                </a:solidFill>
                <a:effectLst/>
                <a:latin typeface="KaTeX_Main"/>
              </a:rPr>
              <a:t>2025</a:t>
            </a:r>
            <a:r>
              <a:rPr lang="en-US" altLang="en-US" dirty="0">
                <a:solidFill>
                  <a:srgbClr val="303030"/>
                </a:solidFill>
                <a:latin typeface="Google Sans Text"/>
              </a:rPr>
              <a:t>.</a:t>
            </a:r>
            <a:r>
              <a:rPr kumimoji="0" lang="en-US" altLang="en-US" sz="1400" b="0" i="0" u="none" strike="noStrike" cap="none" normalizeH="0" baseline="0" dirty="0">
                <a:ln>
                  <a:noFill/>
                </a:ln>
                <a:solidFill>
                  <a:schemeClr val="tx1"/>
                </a:solidFill>
                <a:effectLst/>
              </a:rPr>
              <a:t> </a:t>
            </a:r>
          </a:p>
          <a:p>
            <a:endParaRPr lang="en-US" dirty="0"/>
          </a:p>
        </p:txBody>
      </p:sp>
      <p:pic>
        <p:nvPicPr>
          <p:cNvPr id="1034" name="Picture 10" descr="Intellectual Property Protection ...">
            <a:extLst>
              <a:ext uri="{FF2B5EF4-FFF2-40B4-BE49-F238E27FC236}">
                <a16:creationId xmlns:a16="http://schemas.microsoft.com/office/drawing/2014/main" id="{640F4950-86BD-2996-CCF3-5692D12DBD4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82389" y="1764520"/>
            <a:ext cx="2400300" cy="1905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0136036"/>
      </p:ext>
    </p:extLst>
  </p:cSld>
  <p:clrMapOvr>
    <a:masterClrMapping/>
  </p:clrMapOvr>
  <mc:AlternateContent xmlns:mc="http://schemas.openxmlformats.org/markup-compatibility/2006" xmlns:p14="http://schemas.microsoft.com/office/powerpoint/2010/main">
    <mc:Choice Requires="p14">
      <p:transition spd="slow" p14:dur="2000" advTm="91563"/>
    </mc:Choice>
    <mc:Fallback xmlns="">
      <p:transition spd="slow" advTm="91563"/>
    </mc:Fallback>
  </mc:AlternateContent>
  <p:extLst>
    <p:ext uri="{3A86A75C-4F4B-4683-9AE1-C65F6400EC91}">
      <p14:laserTraceLst xmlns:p14="http://schemas.microsoft.com/office/powerpoint/2010/main">
        <p14:tracePtLst>
          <p14:tracePt t="16817" x="4027488" y="6396038"/>
          <p14:tracePt t="16819" x="4162425" y="6100763"/>
          <p14:tracePt t="16827" x="4289425" y="5813425"/>
          <p14:tracePt t="16841" x="4608513" y="5159375"/>
          <p14:tracePt t="16861" x="4927600" y="4505325"/>
          <p14:tracePt t="16874" x="5254625" y="3890963"/>
          <p14:tracePt t="16893" x="5692775" y="3149600"/>
          <p14:tracePt t="16907" x="5900738" y="2806700"/>
          <p14:tracePt t="16925" x="6027738" y="2600325"/>
          <p14:tracePt t="16943" x="6100763" y="2487613"/>
          <p14:tracePt t="16958" x="6108700" y="2471738"/>
          <p14:tracePt t="16976" x="6091238" y="2495550"/>
          <p14:tracePt t="17298" x="6091238" y="2455863"/>
          <p14:tracePt t="17304" x="6108700" y="2400300"/>
          <p14:tracePt t="17312" x="6124575" y="2336800"/>
          <p14:tracePt t="17330" x="6172200" y="2208213"/>
          <p14:tracePt t="17333" x="6196013" y="2136775"/>
          <p14:tracePt t="17342" x="6227763" y="2057400"/>
          <p14:tracePt t="17357" x="6291263" y="1898650"/>
          <p14:tracePt t="17380" x="6451600" y="1666875"/>
          <p14:tracePt t="17393" x="6562725" y="1514475"/>
          <p14:tracePt t="17408" x="6665913" y="1379538"/>
          <p14:tracePt t="17429" x="6818313" y="1220788"/>
          <p14:tracePt t="17443" x="6905625" y="1139825"/>
          <p14:tracePt t="17461" x="7008813" y="1052513"/>
          <p14:tracePt t="17477" x="7080250" y="1012825"/>
          <p14:tracePt t="17492" x="7119938" y="989013"/>
          <p14:tracePt t="17506" x="7161213" y="973138"/>
          <p14:tracePt t="17526" x="7200900" y="941388"/>
          <p14:tracePt t="17542" x="7224713" y="933450"/>
          <p14:tracePt t="17558" x="7264400" y="909638"/>
          <p14:tracePt t="17577" x="7319963" y="869950"/>
          <p14:tracePt t="17592" x="7383463" y="836613"/>
          <p14:tracePt t="17608" x="7446963" y="781050"/>
          <p14:tracePt t="17624" x="7527925" y="733425"/>
          <p14:tracePt t="17641" x="7631113" y="654050"/>
          <p14:tracePt t="17658" x="7670800" y="622300"/>
          <p14:tracePt t="17676" x="7694613" y="606425"/>
          <p14:tracePt t="19712" x="7710488" y="590550"/>
          <p14:tracePt t="19718" x="7742238" y="550863"/>
          <p14:tracePt t="19725" x="7773988" y="519113"/>
          <p14:tracePt t="19743" x="7813675" y="454025"/>
          <p14:tracePt t="19758" x="7847013" y="406400"/>
          <p14:tracePt t="19774" x="7878763" y="366713"/>
          <p14:tracePt t="42789" x="7391400" y="622300"/>
          <p14:tracePt t="42807" x="6873875" y="973138"/>
          <p14:tracePt t="42825" x="6108700" y="1555750"/>
          <p14:tracePt t="42841" x="5645150" y="1865313"/>
          <p14:tracePt t="42858" x="5270500" y="2136775"/>
          <p14:tracePt t="42874" x="4983163" y="2344738"/>
          <p14:tracePt t="42890" x="4745038" y="2519363"/>
          <p14:tracePt t="42907" x="4473575" y="2727325"/>
          <p14:tracePt t="42924" x="4321175" y="2854325"/>
          <p14:tracePt t="42925" x="4265613" y="2909888"/>
          <p14:tracePt t="42941" x="4138613" y="3022600"/>
          <p14:tracePt t="42958" x="4019550" y="3141663"/>
          <p14:tracePt t="42975" x="3867150" y="3294063"/>
          <p14:tracePt t="42990" x="3787775" y="3381375"/>
          <p14:tracePt t="43007" x="3716338" y="3460750"/>
          <p14:tracePt t="43025" x="3676650" y="3524250"/>
          <p14:tracePt t="43026" x="3643313" y="3548063"/>
          <p14:tracePt t="43042" x="3627438" y="3587750"/>
          <p14:tracePt t="43058" x="3619500" y="3629025"/>
          <p14:tracePt t="43075" x="3619500" y="3652838"/>
          <p14:tracePt t="43089" x="3619500" y="3668713"/>
          <p14:tracePt t="43346" x="3571875" y="3732213"/>
          <p14:tracePt t="43351" x="3500438" y="3811588"/>
          <p14:tracePt t="43357" x="3429000" y="3914775"/>
          <p14:tracePt t="43379" x="3173413" y="4273550"/>
          <p14:tracePt t="43391" x="3054350" y="4473575"/>
          <p14:tracePt t="43406" x="2949575" y="4641850"/>
          <p14:tracePt t="43423" x="2886075" y="4776788"/>
          <p14:tracePt t="43441" x="2838450" y="4895850"/>
          <p14:tracePt t="43458" x="2822575" y="4951413"/>
          <p14:tracePt t="43473" x="2822575" y="5000625"/>
          <p14:tracePt t="43491" x="2822575" y="5040313"/>
          <p14:tracePt t="43508" x="2838450" y="5064125"/>
          <p14:tracePt t="43524" x="2862263" y="5095875"/>
          <p14:tracePt t="43541" x="2901950" y="5127625"/>
          <p14:tracePt t="43559" x="2933700" y="5151438"/>
          <p14:tracePt t="43574" x="2982913" y="5175250"/>
          <p14:tracePt t="43594" x="3030538" y="5207000"/>
          <p14:tracePt t="43607" x="3046413" y="5214938"/>
          <p14:tracePt t="43609" x="3062288" y="5230813"/>
          <p14:tracePt t="43624" x="3086100" y="5246688"/>
          <p14:tracePt t="43641" x="3101975" y="5262563"/>
          <p14:tracePt t="43645" x="3109913" y="5270500"/>
          <p14:tracePt t="43658" x="3125788" y="5302250"/>
          <p14:tracePt t="43674" x="3141663" y="5351463"/>
          <p14:tracePt t="43691" x="3165475" y="5399088"/>
          <p14:tracePt t="43711" x="3197225" y="5486400"/>
          <p14:tracePt t="43726" x="3221038" y="5541963"/>
          <p14:tracePt t="43742" x="3260725" y="5581650"/>
          <p14:tracePt t="43744" x="3284538" y="5613400"/>
          <p14:tracePt t="43758" x="3341688" y="5670550"/>
          <p14:tracePt t="43775" x="3389313" y="5702300"/>
          <p14:tracePt t="43791" x="3452813" y="5741988"/>
          <p14:tracePt t="43808" x="3516313" y="5749925"/>
          <p14:tracePt t="43824" x="3571875" y="5749925"/>
          <p14:tracePt t="43843" x="3668713" y="5734050"/>
          <p14:tracePt t="43857" x="3732213" y="5710238"/>
          <p14:tracePt t="43874" x="3771900" y="5702300"/>
          <p14:tracePt t="43890" x="3803650" y="5694363"/>
          <p14:tracePt t="43894" x="3819525" y="5686425"/>
          <p14:tracePt t="43907" x="3835400" y="5686425"/>
          <p14:tracePt t="43924" x="3843338" y="5686425"/>
          <p14:tracePt t="44003" x="3851275" y="5686425"/>
          <p14:tracePt t="51025" x="3914775" y="5581650"/>
          <p14:tracePt t="51031" x="4043363" y="5383213"/>
          <p14:tracePt t="51039" x="4186238" y="5183188"/>
          <p14:tracePt t="51056" x="4513263" y="4689475"/>
          <p14:tracePt t="51074" x="5127625" y="3938588"/>
          <p14:tracePt t="51091" x="5534025" y="3405188"/>
          <p14:tracePt t="51108" x="5932488" y="2959100"/>
          <p14:tracePt t="51125" x="6386513" y="2392363"/>
          <p14:tracePt t="51140" x="6602413" y="2136775"/>
          <p14:tracePt t="51159" x="6745288" y="1946275"/>
          <p14:tracePt t="51177" x="6777038" y="1898650"/>
          <p14:tracePt t="51181" x="6784975" y="1881188"/>
          <p14:tracePt t="51191" x="6784975" y="1873250"/>
          <p14:tracePt t="51208" x="6777038" y="1873250"/>
          <p14:tracePt t="51474" x="6810375" y="1833563"/>
          <p14:tracePt t="51480" x="6858000" y="1770063"/>
          <p14:tracePt t="51489" x="6905625" y="1714500"/>
          <p14:tracePt t="51507" x="7024688" y="1603375"/>
          <p14:tracePt t="51524" x="7185025" y="1443038"/>
          <p14:tracePt t="51540" x="7280275" y="1347788"/>
          <p14:tracePt t="51558" x="7383463" y="1236663"/>
          <p14:tracePt t="51574" x="7504113" y="1076325"/>
          <p14:tracePt t="51590" x="7559675" y="981075"/>
          <p14:tracePt t="51606" x="7607300" y="909638"/>
          <p14:tracePt t="51624" x="7639050" y="844550"/>
          <p14:tracePt t="51641" x="7639050" y="828675"/>
          <p14:tracePt t="51658" x="7646988" y="820738"/>
          <p14:tracePt t="51675" x="7654925" y="804863"/>
          <p14:tracePt t="51690" x="7654925" y="796925"/>
          <p14:tracePt t="51709" x="7678738" y="773113"/>
          <p14:tracePt t="51723" x="7694613" y="749300"/>
          <p14:tracePt t="51740" x="7726363" y="709613"/>
          <p14:tracePt t="51760" x="7789863" y="638175"/>
          <p14:tracePt t="51773" x="7829550" y="558800"/>
          <p14:tracePt t="51790" x="7878763" y="477838"/>
          <p14:tracePt t="51810" x="7926388" y="358775"/>
          <p14:tracePt t="55027" x="7966075" y="358775"/>
          <p14:tracePt t="55032" x="7910513" y="501650"/>
          <p14:tracePt t="55040" x="7813675" y="654050"/>
          <p14:tracePt t="55057" x="7646988" y="1004888"/>
          <p14:tracePt t="55073" x="7519988" y="1339850"/>
          <p14:tracePt t="55091" x="7391400" y="1738313"/>
          <p14:tracePt t="55107" x="7351713" y="1938338"/>
          <p14:tracePt t="55123" x="7304088" y="2097088"/>
          <p14:tracePt t="55140" x="7280275" y="2281238"/>
          <p14:tracePt t="55157" x="7280275" y="2376488"/>
          <p14:tracePt t="55175" x="7280275" y="2479675"/>
          <p14:tracePt t="55190" x="7280275" y="2503488"/>
          <p14:tracePt t="55191" x="7280275" y="2527300"/>
          <p14:tracePt t="55207" x="7280275" y="2559050"/>
          <p14:tracePt t="55224" x="7280275" y="2592388"/>
          <p14:tracePt t="55241" x="7280275" y="2632075"/>
          <p14:tracePt t="55260" x="7280275" y="2663825"/>
          <p14:tracePt t="55274" x="7280275" y="2679700"/>
          <p14:tracePt t="55276" x="7280275" y="2687638"/>
          <p14:tracePt t="55290" x="7280275" y="2719388"/>
          <p14:tracePt t="55307" x="7280275" y="2727325"/>
          <p14:tracePt t="55326" x="7272338" y="2743200"/>
          <p14:tracePt t="57354" x="7256463" y="2751138"/>
          <p14:tracePt t="57359" x="7224713" y="2774950"/>
          <p14:tracePt t="57374" x="7192963" y="2790825"/>
          <p14:tracePt t="57375" x="7161213" y="2822575"/>
          <p14:tracePt t="57390" x="7088188" y="2878138"/>
          <p14:tracePt t="57407" x="7008813" y="2935288"/>
          <p14:tracePt t="57426" x="6905625" y="3046413"/>
          <p14:tracePt t="57441" x="6842125" y="3101975"/>
          <p14:tracePt t="57459" x="6794500" y="3157538"/>
          <p14:tracePt t="57475" x="6769100" y="3189288"/>
          <p14:tracePt t="57491" x="6745288" y="3221038"/>
          <p14:tracePt t="57507" x="6729413" y="3252788"/>
          <p14:tracePt t="57525" x="6713538" y="3278188"/>
          <p14:tracePt t="57540" x="6697663" y="3302000"/>
          <p14:tracePt t="57558" x="6681788" y="3333750"/>
          <p14:tracePt t="57574" x="6673850" y="3349625"/>
          <p14:tracePt t="57590" x="6665913" y="3365500"/>
          <p14:tracePt t="57608" x="6650038" y="3389313"/>
          <p14:tracePt t="57624" x="6634163" y="3421063"/>
          <p14:tracePt t="57641" x="6626225" y="3436938"/>
          <p14:tracePt t="57660" x="6610350" y="3460750"/>
          <p14:tracePt t="57675" x="6610350" y="3468688"/>
          <p14:tracePt t="57692" x="6610350" y="3476625"/>
          <p14:tracePt t="57708" x="6602413" y="3492500"/>
          <p14:tracePt t="57725" x="6602413" y="3500438"/>
          <p14:tracePt t="57740" x="6594475" y="3508375"/>
          <p14:tracePt t="57758" x="6586538" y="3508375"/>
          <p14:tracePt t="57760" x="6570663" y="3508375"/>
          <p14:tracePt t="57774" x="6562725" y="3508375"/>
          <p14:tracePt t="65439" x="6554788" y="3460750"/>
          <p14:tracePt t="65445" x="6546850" y="3397250"/>
          <p14:tracePt t="65460" x="6538913" y="3228975"/>
          <p14:tracePt t="65475" x="6523038" y="3014663"/>
          <p14:tracePt t="65490" x="6523038" y="2774950"/>
          <p14:tracePt t="65509" x="6570663" y="2273300"/>
          <p14:tracePt t="65526" x="6626225" y="1922463"/>
          <p14:tracePt t="65541" x="6713538" y="1579563"/>
          <p14:tracePt t="65557" x="6834188" y="1244600"/>
          <p14:tracePt t="65576" x="6977063" y="885825"/>
          <p14:tracePt t="65593" x="7072313" y="733425"/>
          <p14:tracePt t="65594" x="7096125" y="677863"/>
          <p14:tracePt t="65614" x="7153275" y="590550"/>
          <p14:tracePt t="65618" x="7177088" y="558800"/>
          <p14:tracePt t="65624" x="7185025" y="550863"/>
          <p14:tracePt t="65643" x="7192963" y="534988"/>
          <p14:tracePt t="65684" x="7200900" y="534988"/>
          <p14:tracePt t="65704" x="7208838" y="527050"/>
          <p14:tracePt t="65717" x="7224713" y="527050"/>
          <p14:tracePt t="65724" x="7232650" y="527050"/>
          <p14:tracePt t="65742" x="7280275" y="519113"/>
          <p14:tracePt t="65745" x="7304088" y="519113"/>
          <p14:tracePt t="65758" x="7351713" y="509588"/>
          <p14:tracePt t="65777" x="7496175" y="469900"/>
          <p14:tracePt t="65780" x="7551738" y="461963"/>
          <p14:tracePt t="65790" x="7599363" y="438150"/>
          <p14:tracePt t="65807" x="7702550" y="414338"/>
          <p14:tracePt t="65808" x="7734300" y="406400"/>
          <p14:tracePt t="65827" x="7781925" y="390525"/>
          <p14:tracePt t="65841" x="7821613" y="374650"/>
          <p14:tracePt t="65860" x="7839075" y="374650"/>
          <p14:tracePt t="65876" x="7847013" y="374650"/>
          <p14:tracePt t="65946" x="7854950" y="374650"/>
          <p14:tracePt t="65960" x="7870825" y="374650"/>
          <p14:tracePt t="65966" x="7878763" y="374650"/>
          <p14:tracePt t="65975" x="7886700" y="366713"/>
          <p14:tracePt t="65994" x="7918450" y="366713"/>
          <p14:tracePt t="65998" x="7934325" y="366713"/>
          <p14:tracePt t="66009" x="7958138" y="366713"/>
          <p14:tracePt t="66025" x="7989888" y="366713"/>
          <p14:tracePt t="66041" x="8005763" y="366713"/>
          <p14:tracePt t="66059" x="8013700" y="366713"/>
          <p14:tracePt t="66075" x="8021638" y="366713"/>
          <p14:tracePt t="66132" x="8029575" y="366713"/>
          <p14:tracePt t="66137" x="8037513" y="366713"/>
          <p14:tracePt t="66194" x="8045450" y="366713"/>
          <p14:tracePt t="66294" x="8045450" y="358775"/>
          <p14:tracePt t="69744" x="7966075" y="406400"/>
          <p14:tracePt t="69746" x="7942263" y="469900"/>
          <p14:tracePt t="69753" x="7902575" y="566738"/>
          <p14:tracePt t="69759" x="7878763" y="669925"/>
          <p14:tracePt t="69774" x="7829550" y="957263"/>
          <p14:tracePt t="69791" x="7805738" y="1268413"/>
          <p14:tracePt t="69808" x="7821613" y="1714500"/>
          <p14:tracePt t="69826" x="7997825" y="2503488"/>
          <p14:tracePt t="69842" x="8164513" y="3006725"/>
          <p14:tracePt t="69857" x="8348663" y="3452813"/>
          <p14:tracePt t="69875" x="8580438" y="3875088"/>
          <p14:tracePt t="69895" x="8699500" y="4083050"/>
          <p14:tracePt t="69910" x="8739188" y="4138613"/>
          <p14:tracePt t="69925" x="8755063" y="4154488"/>
          <p14:tracePt t="69941" x="8763000" y="4162425"/>
          <p14:tracePt t="69961" x="8763000" y="4154488"/>
          <p14:tracePt t="69976" x="8763000" y="4146550"/>
          <p14:tracePt t="75730" x="8715375" y="4138613"/>
          <p14:tracePt t="75736" x="8636000" y="4098925"/>
          <p14:tracePt t="75743" x="8548688" y="4059238"/>
          <p14:tracePt t="75758" x="8364538" y="3979863"/>
          <p14:tracePt t="75775" x="8172450" y="3890963"/>
          <p14:tracePt t="75791" x="7981950" y="3819525"/>
          <p14:tracePt t="75808" x="7694613" y="3740150"/>
          <p14:tracePt t="75823" x="7512050" y="3716338"/>
          <p14:tracePt t="75840" x="7343775" y="3692525"/>
          <p14:tracePt t="75858" x="7153275" y="3692525"/>
          <p14:tracePt t="75874" x="7064375" y="3692525"/>
          <p14:tracePt t="75890" x="7000875" y="3692525"/>
          <p14:tracePt t="75908" x="6913563" y="3692525"/>
          <p14:tracePt t="75929" x="6858000" y="3684588"/>
          <p14:tracePt t="75942" x="6842125" y="3676650"/>
          <p14:tracePt t="75958" x="6784975" y="3668713"/>
          <p14:tracePt t="75976" x="6769100" y="3668713"/>
          <p14:tracePt t="75993" x="6737350" y="3668713"/>
          <p14:tracePt t="76008" x="6713538" y="3668713"/>
          <p14:tracePt t="76024" x="6705600" y="3676650"/>
          <p14:tracePt t="76041" x="6689725" y="3684588"/>
          <p14:tracePt t="76058" x="6673850" y="3708400"/>
          <p14:tracePt t="76076" x="6657975" y="3732213"/>
          <p14:tracePt t="76091" x="6650038" y="3763963"/>
          <p14:tracePt t="76107" x="6634163" y="3819525"/>
          <p14:tracePt t="76124" x="6618288" y="3875088"/>
          <p14:tracePt t="76141" x="6610350" y="3948113"/>
          <p14:tracePt t="76158" x="6610350" y="4059238"/>
          <p14:tracePt t="76175" x="6626225" y="4162425"/>
          <p14:tracePt t="76191" x="6657975" y="4249738"/>
          <p14:tracePt t="76208" x="6729413" y="4386263"/>
          <p14:tracePt t="76226" x="6769100" y="4441825"/>
          <p14:tracePt t="76240" x="6818313" y="4481513"/>
          <p14:tracePt t="76258" x="6897688" y="4521200"/>
          <p14:tracePt t="76274" x="6937375" y="4545013"/>
          <p14:tracePt t="76292" x="7000875" y="4560888"/>
          <p14:tracePt t="76308" x="7048500" y="4560888"/>
          <p14:tracePt t="76324" x="7088188" y="4568825"/>
          <p14:tracePt t="76342" x="7135813" y="4560888"/>
          <p14:tracePt t="76357" x="7177088" y="4529138"/>
          <p14:tracePt t="76375" x="7192963" y="4497388"/>
          <p14:tracePt t="76766" x="7177088" y="4497388"/>
          <p14:tracePt t="76771" x="7135813" y="4513263"/>
          <p14:tracePt t="76777" x="7104063" y="4529138"/>
          <p14:tracePt t="76790" x="7056438" y="4545013"/>
          <p14:tracePt t="76807" x="6977063" y="4592638"/>
          <p14:tracePt t="76808" x="6945313" y="4608513"/>
          <p14:tracePt t="76823" x="6881813" y="4649788"/>
          <p14:tracePt t="76841" x="6802438" y="4713288"/>
          <p14:tracePt t="76857" x="6697663" y="4816475"/>
          <p14:tracePt t="76874" x="6634163" y="4903788"/>
          <p14:tracePt t="76890" x="6570663" y="4992688"/>
          <p14:tracePt t="76893" x="6538913" y="5040313"/>
          <p14:tracePt t="76918" x="6491288" y="5143500"/>
          <p14:tracePt t="76923" x="6475413" y="5167313"/>
          <p14:tracePt t="76941" x="6459538" y="5207000"/>
          <p14:tracePt t="76943" x="6451600" y="5230813"/>
          <p14:tracePt t="76957" x="6434138" y="5262563"/>
          <p14:tracePt t="76974" x="6434138" y="5286375"/>
          <p14:tracePt t="76991" x="6434138" y="5327650"/>
          <p14:tracePt t="77008" x="6434138" y="5375275"/>
          <p14:tracePt t="77027" x="6434138" y="5430838"/>
          <p14:tracePt t="77041" x="6434138" y="5486400"/>
          <p14:tracePt t="77057" x="6459538" y="5534025"/>
          <p14:tracePt t="77075" x="6475413" y="5581650"/>
          <p14:tracePt t="77090" x="6515100" y="5629275"/>
          <p14:tracePt t="77108" x="6562725" y="5694363"/>
          <p14:tracePt t="77124" x="6602413" y="5741988"/>
          <p14:tracePt t="77142" x="6657975" y="5797550"/>
          <p14:tracePt t="77157" x="6689725" y="5821363"/>
          <p14:tracePt t="77174" x="6729413" y="5861050"/>
          <p14:tracePt t="77191" x="6777038" y="5908675"/>
          <p14:tracePt t="77208" x="6826250" y="5932488"/>
          <p14:tracePt t="77223" x="6881813" y="5964238"/>
          <p14:tracePt t="77242" x="6945313" y="6005513"/>
          <p14:tracePt t="77257" x="7000875" y="6037263"/>
          <p14:tracePt t="77275" x="7040563" y="6045200"/>
          <p14:tracePt t="77293" x="7096125" y="6061075"/>
          <p14:tracePt t="77306" x="7145338" y="6069013"/>
          <p14:tracePt t="77323" x="7192963" y="6069013"/>
          <p14:tracePt t="77339" x="7232650" y="6069013"/>
          <p14:tracePt t="77356" x="7319963" y="6045200"/>
          <p14:tracePt t="77374" x="7375525" y="6021388"/>
          <p14:tracePt t="77390" x="7431088" y="5980113"/>
          <p14:tracePt t="77408" x="7519988" y="5924550"/>
          <p14:tracePt t="77426" x="7583488" y="5876925"/>
          <p14:tracePt t="77439" x="7639050" y="5813425"/>
          <p14:tracePt t="77462" x="7773988" y="5629275"/>
          <p14:tracePt t="77473" x="7797800" y="5589588"/>
          <p14:tracePt t="77491" x="7870825" y="5462588"/>
          <p14:tracePt t="77507" x="7894638" y="5407025"/>
          <p14:tracePt t="77523" x="7902575" y="5375275"/>
          <p14:tracePt t="77544" x="7902575" y="5351463"/>
          <p14:tracePt t="77559" x="7902575" y="5335588"/>
          <p14:tracePt t="77575" x="7894638" y="5310188"/>
          <p14:tracePt t="77592" x="7862888" y="5278438"/>
          <p14:tracePt t="77606" x="7847013" y="5262563"/>
          <p14:tracePt t="77624" x="7839075" y="5254625"/>
          <p14:tracePt t="77640" x="7829550" y="5246688"/>
          <p14:tracePt t="77642" x="7821613" y="5238750"/>
          <p14:tracePt t="77657" x="7821613" y="5230813"/>
          <p14:tracePt t="77674" x="7813675" y="5230813"/>
          <p14:tracePt t="77691" x="7805738" y="5207000"/>
          <p14:tracePt t="77708" x="7797800" y="5183188"/>
          <p14:tracePt t="77723" x="7797800" y="5159375"/>
          <p14:tracePt t="77740" x="7797800" y="5143500"/>
          <p14:tracePt t="77758" x="7789863" y="5135563"/>
          <p14:tracePt t="80702" x="7781925" y="5072063"/>
          <p14:tracePt t="80708" x="7773988" y="4976813"/>
          <p14:tracePt t="80724" x="7742238" y="4760913"/>
          <p14:tracePt t="80744" x="7718425" y="4497388"/>
          <p14:tracePt t="80745" x="7694613" y="4330700"/>
          <p14:tracePt t="80757" x="7686675" y="4170363"/>
          <p14:tracePt t="80774" x="7678738" y="3605213"/>
          <p14:tracePt t="80792" x="7678738" y="3278188"/>
          <p14:tracePt t="80808" x="7702550" y="2798763"/>
          <p14:tracePt t="80825" x="7726363" y="2559050"/>
          <p14:tracePt t="80849" x="7766050" y="2305050"/>
          <p14:tracePt t="80855" x="7773988" y="2257425"/>
          <p14:tracePt t="80859" x="7781925" y="2216150"/>
          <p14:tracePt t="80874" x="7789863" y="2160588"/>
          <p14:tracePt t="80891" x="7797800" y="2152650"/>
          <p14:tracePt t="80919" x="7789863" y="2168525"/>
          <p14:tracePt t="81183" x="7789863" y="2128838"/>
          <p14:tracePt t="81188" x="7781925" y="2049463"/>
          <p14:tracePt t="81196" x="7773988" y="1985963"/>
          <p14:tracePt t="81206" x="7773988" y="1914525"/>
          <p14:tracePt t="81225" x="7758113" y="1627188"/>
          <p14:tracePt t="81247" x="7766050" y="1316038"/>
          <p14:tracePt t="81257" x="7781925" y="1220788"/>
          <p14:tracePt t="81275" x="7797800" y="965200"/>
          <p14:tracePt t="81292" x="7829550" y="812800"/>
          <p14:tracePt t="81309" x="7854950" y="677863"/>
          <p14:tracePt t="81325" x="7894638" y="501650"/>
          <p14:tracePt t="81341" x="7926388" y="430213"/>
          <p14:tracePt t="81358" x="7934325" y="406400"/>
          <p14:tracePt t="81376" x="7934325" y="390525"/>
          <p14:tracePt t="81389" x="7942263" y="382588"/>
          <p14:tracePt t="81449" x="7942263" y="374650"/>
          <p14:tracePt t="81455" x="7950200" y="366713"/>
          <p14:tracePt t="81460" x="7958138" y="358775"/>
          <p14:tracePt t="85031" x="7981950" y="358775"/>
          <p14:tracePt t="85038" x="7966075" y="477838"/>
          <p14:tracePt t="85046" x="7950200" y="614363"/>
          <p14:tracePt t="85058" x="7942263" y="796925"/>
          <p14:tracePt t="85060" x="7942263" y="996950"/>
          <p14:tracePt t="85079" x="7958138" y="1419225"/>
          <p14:tracePt t="85081" x="7997825" y="1627188"/>
          <p14:tracePt t="85091" x="8029575" y="1857375"/>
          <p14:tracePt t="85109" x="8148638" y="2328863"/>
          <p14:tracePt t="85110" x="8221663" y="2566988"/>
          <p14:tracePt t="85125" x="8364538" y="2967038"/>
          <p14:tracePt t="85142" x="8548688" y="3373438"/>
          <p14:tracePt t="85158" x="8683625" y="3676650"/>
          <p14:tracePt t="85160" x="8723313" y="3771900"/>
          <p14:tracePt t="85175" x="8778875" y="3883025"/>
          <p14:tracePt t="85204" x="8826500" y="3948113"/>
          <p14:tracePt t="85214" x="8834438" y="3963988"/>
          <p14:tracePt t="85232" x="8834438" y="3948113"/>
          <p14:tracePt t="90285" x="8899525" y="3930650"/>
          <p14:tracePt t="90292" x="8986838" y="3898900"/>
          <p14:tracePt t="90299" x="9097963" y="3875088"/>
          <p14:tracePt t="90307" x="9217025" y="3851275"/>
          <p14:tracePt t="90323" x="9559925" y="3771900"/>
          <p14:tracePt t="90339" x="9975850" y="3692525"/>
          <p14:tracePt t="90358" x="10645775" y="3579813"/>
          <p14:tracePt t="90373" x="11083925" y="3532188"/>
          <p14:tracePt t="90390" x="11466513" y="3484563"/>
          <p14:tracePt t="90408" x="11936413" y="3429000"/>
          <p14:tracePt t="90426" x="12144375" y="3405188"/>
        </p14:tracePtLst>
      </p14:laserTraceLst>
    </p:ext>
  </p:extLs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9CE125-3EC8-572D-D037-434682BAAFF6}"/>
              </a:ext>
            </a:extLst>
          </p:cNvPr>
          <p:cNvSpPr>
            <a:spLocks noGrp="1"/>
          </p:cNvSpPr>
          <p:nvPr>
            <p:ph type="title"/>
          </p:nvPr>
        </p:nvSpPr>
        <p:spPr/>
        <p:txBody>
          <a:bodyPr/>
          <a:lstStyle/>
          <a:p>
            <a:pPr algn="ctr"/>
            <a:r>
              <a:rPr lang="en-US" b="1" dirty="0">
                <a:solidFill>
                  <a:srgbClr val="002060"/>
                </a:solidFill>
              </a:rPr>
              <a:t>Problem Statement</a:t>
            </a:r>
          </a:p>
        </p:txBody>
      </p:sp>
      <p:pic>
        <p:nvPicPr>
          <p:cNvPr id="4" name="Content Placeholder 3">
            <a:extLst>
              <a:ext uri="{FF2B5EF4-FFF2-40B4-BE49-F238E27FC236}">
                <a16:creationId xmlns:a16="http://schemas.microsoft.com/office/drawing/2014/main" id="{F7D57016-B9EF-B008-B252-A0416E76D3B9}"/>
              </a:ext>
            </a:extLst>
          </p:cNvPr>
          <p:cNvPicPr>
            <a:picLocks noGrp="1" noChangeAspect="1"/>
          </p:cNvPicPr>
          <p:nvPr>
            <p:ph idx="1"/>
          </p:nvPr>
        </p:nvPicPr>
        <p:blipFill>
          <a:blip r:embed="rId3"/>
          <a:stretch>
            <a:fillRect/>
          </a:stretch>
        </p:blipFill>
        <p:spPr>
          <a:xfrm>
            <a:off x="1879742" y="1216498"/>
            <a:ext cx="8173936" cy="2232386"/>
          </a:xfrm>
          <a:prstGeom prst="rect">
            <a:avLst/>
          </a:prstGeom>
        </p:spPr>
      </p:pic>
      <p:sp>
        <p:nvSpPr>
          <p:cNvPr id="5" name="Rectangle 1">
            <a:extLst>
              <a:ext uri="{FF2B5EF4-FFF2-40B4-BE49-F238E27FC236}">
                <a16:creationId xmlns:a16="http://schemas.microsoft.com/office/drawing/2014/main" id="{BF28BCE1-ED92-1BDC-1525-A32FF6B8598F}"/>
              </a:ext>
            </a:extLst>
          </p:cNvPr>
          <p:cNvSpPr>
            <a:spLocks noChangeArrowheads="1"/>
          </p:cNvSpPr>
          <p:nvPr/>
        </p:nvSpPr>
        <p:spPr bwMode="auto">
          <a:xfrm>
            <a:off x="560408" y="3345235"/>
            <a:ext cx="10354519" cy="120032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rgbClr val="002060"/>
                </a:solidFill>
                <a:effectLst/>
                <a:latin typeface="+mn-lt"/>
              </a:rPr>
              <a:t>LLMs Memorize and Leak User Input</a:t>
            </a:r>
            <a:r>
              <a:rPr kumimoji="0" lang="en-US" altLang="en-US" b="0" i="0" u="none" strike="noStrike" cap="none" normalizeH="0" baseline="0" dirty="0">
                <a:ln>
                  <a:noFill/>
                </a:ln>
                <a:solidFill>
                  <a:srgbClr val="002060"/>
                </a:solidFill>
                <a:effectLst/>
                <a:latin typeface="+mn-lt"/>
              </a:rPr>
              <a:t> </a:t>
            </a:r>
            <a:r>
              <a:rPr kumimoji="0" lang="en-US" altLang="en-US" b="0" i="0" u="none" strike="noStrike" cap="none" normalizeH="0" baseline="0" dirty="0">
                <a:ln>
                  <a:noFill/>
                </a:ln>
                <a:solidFill>
                  <a:srgbClr val="303030"/>
                </a:solidFill>
                <a:effectLst/>
                <a:latin typeface="+mn-lt"/>
              </a:rPr>
              <a:t>User prompts containing PII are transmitted unprotected to server-side LLMs.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303030"/>
                </a:solidFill>
                <a:effectLst/>
                <a:latin typeface="+mn-lt"/>
              </a:rPr>
              <a:t>Exam question is how we protect the PII data from even leaving the User 1 machine i.e. Protecting the PII data at client side.</a:t>
            </a:r>
            <a:endParaRPr kumimoji="0" lang="en-US" altLang="en-US" b="0" i="0" u="none" strike="noStrike" cap="none" normalizeH="0" baseline="0" dirty="0">
              <a:ln>
                <a:noFill/>
              </a:ln>
              <a:solidFill>
                <a:schemeClr val="tx1"/>
              </a:solidFill>
              <a:effectLst/>
              <a:latin typeface="+mn-lt"/>
            </a:endParaRPr>
          </a:p>
        </p:txBody>
      </p:sp>
      <p:pic>
        <p:nvPicPr>
          <p:cNvPr id="6" name="Picture 5">
            <a:extLst>
              <a:ext uri="{FF2B5EF4-FFF2-40B4-BE49-F238E27FC236}">
                <a16:creationId xmlns:a16="http://schemas.microsoft.com/office/drawing/2014/main" id="{A7315207-1144-D521-D2A1-9A6C57DAAD9F}"/>
              </a:ext>
            </a:extLst>
          </p:cNvPr>
          <p:cNvPicPr>
            <a:picLocks noChangeAspect="1"/>
          </p:cNvPicPr>
          <p:nvPr/>
        </p:nvPicPr>
        <p:blipFill>
          <a:blip r:embed="rId4"/>
          <a:stretch>
            <a:fillRect/>
          </a:stretch>
        </p:blipFill>
        <p:spPr>
          <a:xfrm>
            <a:off x="2951544" y="4302819"/>
            <a:ext cx="5921696" cy="2435054"/>
          </a:xfrm>
          <a:prstGeom prst="rect">
            <a:avLst/>
          </a:prstGeom>
        </p:spPr>
      </p:pic>
      <p:sp>
        <p:nvSpPr>
          <p:cNvPr id="7" name="TextBox 6">
            <a:extLst>
              <a:ext uri="{FF2B5EF4-FFF2-40B4-BE49-F238E27FC236}">
                <a16:creationId xmlns:a16="http://schemas.microsoft.com/office/drawing/2014/main" id="{5063EDEF-E00D-82D9-5BBC-E1CB5C9FBDD5}"/>
              </a:ext>
            </a:extLst>
          </p:cNvPr>
          <p:cNvSpPr txBox="1"/>
          <p:nvPr/>
        </p:nvSpPr>
        <p:spPr>
          <a:xfrm>
            <a:off x="2338086" y="2933312"/>
            <a:ext cx="1030146" cy="369332"/>
          </a:xfrm>
          <a:prstGeom prst="rect">
            <a:avLst/>
          </a:prstGeom>
          <a:noFill/>
        </p:spPr>
        <p:txBody>
          <a:bodyPr wrap="square" rtlCol="0">
            <a:spAutoFit/>
          </a:bodyPr>
          <a:lstStyle/>
          <a:p>
            <a:r>
              <a:rPr lang="en-US" b="1" dirty="0"/>
              <a:t>User 1</a:t>
            </a:r>
          </a:p>
        </p:txBody>
      </p:sp>
      <p:sp>
        <p:nvSpPr>
          <p:cNvPr id="8" name="TextBox 7">
            <a:extLst>
              <a:ext uri="{FF2B5EF4-FFF2-40B4-BE49-F238E27FC236}">
                <a16:creationId xmlns:a16="http://schemas.microsoft.com/office/drawing/2014/main" id="{18342031-BFE9-DA8A-DB8F-351005DF6307}"/>
              </a:ext>
            </a:extLst>
          </p:cNvPr>
          <p:cNvSpPr txBox="1"/>
          <p:nvPr/>
        </p:nvSpPr>
        <p:spPr>
          <a:xfrm>
            <a:off x="8823768" y="2933312"/>
            <a:ext cx="1030146" cy="369332"/>
          </a:xfrm>
          <a:prstGeom prst="rect">
            <a:avLst/>
          </a:prstGeom>
          <a:noFill/>
        </p:spPr>
        <p:txBody>
          <a:bodyPr wrap="square" rtlCol="0">
            <a:spAutoFit/>
          </a:bodyPr>
          <a:lstStyle/>
          <a:p>
            <a:r>
              <a:rPr lang="en-US" b="1" dirty="0"/>
              <a:t>User 2</a:t>
            </a:r>
          </a:p>
        </p:txBody>
      </p:sp>
      <p:sp>
        <p:nvSpPr>
          <p:cNvPr id="9" name="TextBox 8">
            <a:extLst>
              <a:ext uri="{FF2B5EF4-FFF2-40B4-BE49-F238E27FC236}">
                <a16:creationId xmlns:a16="http://schemas.microsoft.com/office/drawing/2014/main" id="{1260B2E1-0CC5-33EC-77B3-CFA5DAA907A2}"/>
              </a:ext>
            </a:extLst>
          </p:cNvPr>
          <p:cNvSpPr txBox="1"/>
          <p:nvPr/>
        </p:nvSpPr>
        <p:spPr>
          <a:xfrm>
            <a:off x="5025303" y="2933312"/>
            <a:ext cx="1030146" cy="369332"/>
          </a:xfrm>
          <a:prstGeom prst="rect">
            <a:avLst/>
          </a:prstGeom>
          <a:noFill/>
        </p:spPr>
        <p:txBody>
          <a:bodyPr wrap="square" rtlCol="0">
            <a:spAutoFit/>
          </a:bodyPr>
          <a:lstStyle/>
          <a:p>
            <a:r>
              <a:rPr lang="en-US" b="1" dirty="0"/>
              <a:t>Figure: 1</a:t>
            </a:r>
          </a:p>
        </p:txBody>
      </p:sp>
      <p:sp>
        <p:nvSpPr>
          <p:cNvPr id="11" name="TextBox 10">
            <a:extLst>
              <a:ext uri="{FF2B5EF4-FFF2-40B4-BE49-F238E27FC236}">
                <a16:creationId xmlns:a16="http://schemas.microsoft.com/office/drawing/2014/main" id="{1686919F-2822-C48C-9153-1B5E236A5BFB}"/>
              </a:ext>
            </a:extLst>
          </p:cNvPr>
          <p:cNvSpPr txBox="1"/>
          <p:nvPr/>
        </p:nvSpPr>
        <p:spPr>
          <a:xfrm>
            <a:off x="5025303" y="6368541"/>
            <a:ext cx="1030146" cy="369332"/>
          </a:xfrm>
          <a:prstGeom prst="rect">
            <a:avLst/>
          </a:prstGeom>
          <a:noFill/>
        </p:spPr>
        <p:txBody>
          <a:bodyPr wrap="square" rtlCol="0">
            <a:spAutoFit/>
          </a:bodyPr>
          <a:lstStyle/>
          <a:p>
            <a:r>
              <a:rPr lang="en-US" b="1" dirty="0"/>
              <a:t>Figure: 2</a:t>
            </a:r>
          </a:p>
        </p:txBody>
      </p:sp>
    </p:spTree>
    <p:extLst>
      <p:ext uri="{BB962C8B-B14F-4D97-AF65-F5344CB8AC3E}">
        <p14:creationId xmlns:p14="http://schemas.microsoft.com/office/powerpoint/2010/main" val="2482376589"/>
      </p:ext>
    </p:extLst>
  </p:cSld>
  <p:clrMapOvr>
    <a:masterClrMapping/>
  </p:clrMapOvr>
  <mc:AlternateContent xmlns:mc="http://schemas.openxmlformats.org/markup-compatibility/2006" xmlns:p14="http://schemas.microsoft.com/office/powerpoint/2010/main">
    <mc:Choice Requires="p14">
      <p:transition spd="slow" p14:dur="2000" advTm="47267"/>
    </mc:Choice>
    <mc:Fallback xmlns="">
      <p:transition spd="slow" advTm="47267"/>
    </mc:Fallback>
  </mc:AlternateContent>
  <p:extLst>
    <p:ext uri="{3A86A75C-4F4B-4683-9AE1-C65F6400EC91}">
      <p14:laserTraceLst xmlns:p14="http://schemas.microsoft.com/office/powerpoint/2010/main">
        <p14:tracePtLst>
          <p14:tracePt t="1503" x="11841163" y="2487613"/>
          <p14:tracePt t="1509" x="11633200" y="2273300"/>
          <p14:tracePt t="1524" x="11234738" y="1881188"/>
          <p14:tracePt t="1540" x="10883900" y="1522413"/>
          <p14:tracePt t="1556" x="10620375" y="1284288"/>
          <p14:tracePt t="1573" x="10382250" y="1108075"/>
          <p14:tracePt t="1589" x="10287000" y="1052513"/>
          <p14:tracePt t="1609" x="10237788" y="1028700"/>
          <p14:tracePt t="1625" x="10229850" y="1028700"/>
          <p14:tracePt t="1990" x="10166350" y="1044575"/>
          <p14:tracePt t="1998" x="10047288" y="1060450"/>
          <p14:tracePt t="2005" x="9918700" y="1060450"/>
          <p14:tracePt t="2023" x="9640888" y="1068388"/>
          <p14:tracePt t="2040" x="9137650" y="1020763"/>
          <p14:tracePt t="2056" x="8818563" y="989013"/>
          <p14:tracePt t="2073" x="8548688" y="941388"/>
          <p14:tracePt t="2092" x="8205788" y="869950"/>
          <p14:tracePt t="2110" x="7981950" y="796925"/>
          <p14:tracePt t="2123" x="7910513" y="765175"/>
          <p14:tracePt t="2142" x="7797800" y="685800"/>
          <p14:tracePt t="2155" x="7766050" y="638175"/>
          <p14:tracePt t="2174" x="7742238" y="558800"/>
          <p14:tracePt t="3241" x="7718425" y="566738"/>
          <p14:tracePt t="3248" x="7678738" y="598488"/>
          <p14:tracePt t="3256" x="7639050" y="630238"/>
          <p14:tracePt t="3272" x="7527925" y="733425"/>
          <p14:tracePt t="3291" x="7327900" y="949325"/>
          <p14:tracePt t="3306" x="7135813" y="1204913"/>
          <p14:tracePt t="3323" x="6929438" y="1490663"/>
          <p14:tracePt t="3340" x="6650038" y="1938338"/>
          <p14:tracePt t="3356" x="6491288" y="2144713"/>
          <p14:tracePt t="3373" x="6386513" y="2312988"/>
          <p14:tracePt t="3389" x="6283325" y="2463800"/>
          <p14:tracePt t="3407" x="6156325" y="2632075"/>
          <p14:tracePt t="3423" x="6091238" y="2703513"/>
          <p14:tracePt t="3440" x="6051550" y="2759075"/>
          <p14:tracePt t="3456" x="6019800" y="2790825"/>
          <p14:tracePt t="3473" x="5995988" y="2814638"/>
          <p14:tracePt t="3490" x="5956300" y="2846388"/>
          <p14:tracePt t="3507" x="5940425" y="2854325"/>
          <p14:tracePt t="3522" x="5924550" y="2862263"/>
          <p14:tracePt t="3540" x="5892800" y="2878138"/>
          <p14:tracePt t="3556" x="5853113" y="2894013"/>
          <p14:tracePt t="3574" x="5821363" y="2901950"/>
          <p14:tracePt t="3591" x="5757863" y="2901950"/>
          <p14:tracePt t="3607" x="5716588" y="2901950"/>
          <p14:tracePt t="3625" x="5629275" y="2862263"/>
          <p14:tracePt t="3641" x="5581650" y="2846388"/>
          <p14:tracePt t="3656" x="5565775" y="2838450"/>
          <p14:tracePt t="4132" x="5510213" y="2838450"/>
          <p14:tracePt t="4140" x="5446713" y="2838450"/>
          <p14:tracePt t="4148" x="5373688" y="2854325"/>
          <p14:tracePt t="4156" x="5294313" y="2870200"/>
          <p14:tracePt t="4175" x="5056188" y="2901950"/>
          <p14:tracePt t="4190" x="4911725" y="2919413"/>
          <p14:tracePt t="4211" x="4721225" y="2927350"/>
          <p14:tracePt t="4225" x="4608513" y="2919413"/>
          <p14:tracePt t="4240" x="4505325" y="2878138"/>
          <p14:tracePt t="4257" x="4425950" y="2822575"/>
          <p14:tracePt t="4275" x="4313238" y="2663825"/>
          <p14:tracePt t="4291" x="4265613" y="2527300"/>
          <p14:tracePt t="4307" x="4233863" y="2376488"/>
          <p14:tracePt t="4322" x="4225925" y="2233613"/>
          <p14:tracePt t="4340" x="4233863" y="2057400"/>
          <p14:tracePt t="4357" x="4273550" y="1946275"/>
          <p14:tracePt t="4373" x="4344988" y="1841500"/>
          <p14:tracePt t="4393" x="4545013" y="1754188"/>
          <p14:tracePt t="4407" x="4760913" y="1738313"/>
          <p14:tracePt t="4423" x="5030788" y="1762125"/>
          <p14:tracePt t="4440" x="5661025" y="1881188"/>
          <p14:tracePt t="4460" x="6124575" y="2041525"/>
          <p14:tracePt t="4460" x="6386513" y="2136775"/>
          <p14:tracePt t="4474" x="6873875" y="2305050"/>
          <p14:tracePt t="4490" x="7272338" y="2439988"/>
          <p14:tracePt t="4506" x="7535863" y="2535238"/>
          <p14:tracePt t="4525" x="7766050" y="2608263"/>
          <p14:tracePt t="4540" x="7862888" y="2640013"/>
          <p14:tracePt t="4558" x="7894638" y="2647950"/>
          <p14:tracePt t="4575" x="7902575" y="2663825"/>
          <p14:tracePt t="4581" x="7902575" y="2671763"/>
          <p14:tracePt t="4590" x="7902575" y="2679700"/>
          <p14:tracePt t="4610" x="7894638" y="2687638"/>
          <p14:tracePt t="7910" x="7878763" y="2687638"/>
          <p14:tracePt t="7915" x="7854950" y="2687638"/>
          <p14:tracePt t="7922" x="7821613" y="2695575"/>
          <p14:tracePt t="7940" x="7758113" y="2703513"/>
          <p14:tracePt t="7956" x="7654925" y="2727325"/>
          <p14:tracePt t="7973" x="7512050" y="2759075"/>
          <p14:tracePt t="7990" x="7423150" y="2774950"/>
          <p14:tracePt t="8006" x="7319963" y="2790825"/>
          <p14:tracePt t="8022" x="7216775" y="2806700"/>
          <p14:tracePt t="8040" x="7161213" y="2822575"/>
          <p14:tracePt t="8057" x="7088188" y="2830513"/>
          <p14:tracePt t="8072" x="7040563" y="2846388"/>
          <p14:tracePt t="8094" x="6985000" y="2870200"/>
          <p14:tracePt t="8107" x="6929438" y="2886075"/>
          <p14:tracePt t="8131" x="6850063" y="2943225"/>
          <p14:tracePt t="8136" x="6834188" y="2959100"/>
          <p14:tracePt t="8142" x="6802438" y="2974975"/>
          <p14:tracePt t="8160" x="6745288" y="3014663"/>
          <p14:tracePt t="8173" x="6713538" y="3054350"/>
          <p14:tracePt t="8193" x="6673850" y="3086100"/>
          <p14:tracePt t="8207" x="6650038" y="3109913"/>
          <p14:tracePt t="8224" x="6634163" y="3109913"/>
          <p14:tracePt t="8699" x="6602413" y="3109913"/>
          <p14:tracePt t="8706" x="6570663" y="3094038"/>
          <p14:tracePt t="8713" x="6523038" y="3094038"/>
          <p14:tracePt t="8722" x="6459538" y="3070225"/>
          <p14:tracePt t="8739" x="6338888" y="3054350"/>
          <p14:tracePt t="8756" x="6196013" y="3038475"/>
          <p14:tracePt t="8772" x="5956300" y="3014663"/>
          <p14:tracePt t="8790" x="5789613" y="2998788"/>
          <p14:tracePt t="8807" x="5526088" y="2959100"/>
          <p14:tracePt t="8822" x="5357813" y="2919413"/>
          <p14:tracePt t="8839" x="5183188" y="2878138"/>
          <p14:tracePt t="8863" x="4927600" y="2790825"/>
          <p14:tracePt t="8866" x="4856163" y="2767013"/>
          <p14:tracePt t="8877" x="4784725" y="2751138"/>
          <p14:tracePt t="8879" x="4721225" y="2727325"/>
          <p14:tracePt t="8890" x="4664075" y="2695575"/>
          <p14:tracePt t="8911" x="4481513" y="2632075"/>
          <p14:tracePt t="8913" x="4433888" y="2608263"/>
          <p14:tracePt t="8923" x="4394200" y="2592388"/>
          <p14:tracePt t="8941" x="4297363" y="2559050"/>
          <p14:tracePt t="8956" x="4194175" y="2519363"/>
          <p14:tracePt t="8974" x="4122738" y="2495550"/>
          <p14:tracePt t="8990" x="4075113" y="2487613"/>
          <p14:tracePt t="9006" x="4027488" y="2471738"/>
          <p14:tracePt t="9009" x="4011613" y="2471738"/>
          <p14:tracePt t="9025" x="3978275" y="2463800"/>
          <p14:tracePt t="9039" x="3938588" y="2455863"/>
          <p14:tracePt t="9057" x="3906838" y="2432050"/>
          <p14:tracePt t="9363" x="3867150" y="2447925"/>
          <p14:tracePt t="9370" x="3811588" y="2471738"/>
          <p14:tracePt t="9378" x="3756025" y="2495550"/>
          <p14:tracePt t="9389" x="3684588" y="2519363"/>
          <p14:tracePt t="9407" x="3476625" y="2584450"/>
          <p14:tracePt t="9423" x="3317875" y="2608263"/>
          <p14:tracePt t="9440" x="3173413" y="2640013"/>
          <p14:tracePt t="9443" x="3109913" y="2647950"/>
          <p14:tracePt t="9457" x="3006725" y="2671763"/>
          <p14:tracePt t="9474" x="2925763" y="2679700"/>
          <p14:tracePt t="9490" x="2870200" y="2703513"/>
          <p14:tracePt t="9509" x="2822575" y="2711450"/>
          <p14:tracePt t="9522" x="2806700" y="2719388"/>
          <p14:tracePt t="9549" x="2798763" y="2719388"/>
          <p14:tracePt t="9684" x="2806700" y="2727325"/>
          <p14:tracePt t="9707" x="2814638" y="2727325"/>
          <p14:tracePt t="9714" x="2814638" y="2735263"/>
          <p14:tracePt t="9726" x="2822575" y="2735263"/>
          <p14:tracePt t="9745" x="2838450" y="2743200"/>
          <p14:tracePt t="9756" x="2838450" y="2751138"/>
          <p14:tracePt t="9757" x="2846388" y="2751138"/>
          <p14:tracePt t="9773" x="2854325" y="2751138"/>
          <p14:tracePt t="9790" x="2854325" y="2759075"/>
          <p14:tracePt t="9806" x="2862263" y="2759075"/>
          <p14:tracePt t="9827" x="2878138" y="2767013"/>
          <p14:tracePt t="9831" x="2878138" y="2774950"/>
          <p14:tracePt t="9834" x="2886075" y="2774950"/>
          <p14:tracePt t="9859" x="2894013" y="2774950"/>
          <p14:tracePt t="9877" x="2901950" y="2774950"/>
          <p14:tracePt t="9935" x="2901950" y="2767013"/>
          <p14:tracePt t="11257" x="2917825" y="2767013"/>
          <p14:tracePt t="11262" x="2933700" y="2767013"/>
          <p14:tracePt t="11276" x="2967038" y="2767013"/>
          <p14:tracePt t="11282" x="2990850" y="2767013"/>
          <p14:tracePt t="11290" x="3006725" y="2767013"/>
          <p14:tracePt t="11307" x="3038475" y="2767013"/>
          <p14:tracePt t="11310" x="3046413" y="2767013"/>
          <p14:tracePt t="11324" x="3078163" y="2767013"/>
          <p14:tracePt t="11350" x="3094038" y="2767013"/>
          <p14:tracePt t="11363" x="3101975" y="2767013"/>
          <p14:tracePt t="11432" x="3109913" y="2767013"/>
          <p14:tracePt t="11448" x="3117850" y="2767013"/>
          <p14:tracePt t="11474" x="3125788" y="2767013"/>
          <p14:tracePt t="11497" x="3141663" y="2767013"/>
          <p14:tracePt t="11502" x="3149600" y="2767013"/>
          <p14:tracePt t="11517" x="3165475" y="2767013"/>
          <p14:tracePt t="11524" x="3173413" y="2767013"/>
          <p14:tracePt t="11540" x="3189288" y="2767013"/>
          <p14:tracePt t="11556" x="3221038" y="2767013"/>
          <p14:tracePt t="11575" x="3276600" y="2767013"/>
          <p14:tracePt t="11592" x="3317875" y="2767013"/>
          <p14:tracePt t="11609" x="3365500" y="2767013"/>
          <p14:tracePt t="11611" x="3381375" y="2767013"/>
          <p14:tracePt t="11623" x="3405188" y="2767013"/>
          <p14:tracePt t="11625" x="3413125" y="2767013"/>
          <p14:tracePt t="11639" x="3429000" y="2767013"/>
          <p14:tracePt t="11658" x="3444875" y="2767013"/>
          <p14:tracePt t="11681" x="3452813" y="2767013"/>
          <p14:tracePt t="11756" x="3460750" y="2767013"/>
          <p14:tracePt t="11775" x="3468688" y="2767013"/>
          <p14:tracePt t="11780" x="3476625" y="2767013"/>
          <p14:tracePt t="11795" x="3484563" y="2751138"/>
          <p14:tracePt t="14972" x="3500438" y="2751138"/>
          <p14:tracePt t="14979" x="3508375" y="2751138"/>
          <p14:tracePt t="14994" x="3524250" y="2751138"/>
          <p14:tracePt t="15008" x="3532188" y="2751138"/>
          <p14:tracePt t="15027" x="3540125" y="2751138"/>
          <p14:tracePt t="15039" x="3556000" y="2759075"/>
          <p14:tracePt t="15059" x="3563938" y="2759075"/>
          <p14:tracePt t="15074" x="3571875" y="2759075"/>
          <p14:tracePt t="15094" x="3579813" y="2759075"/>
          <p14:tracePt t="15145" x="3587750" y="2759075"/>
          <p14:tracePt t="15187" x="3587750" y="2767013"/>
          <p14:tracePt t="15202" x="3595688" y="2767013"/>
          <p14:tracePt t="15229" x="3603625" y="2767013"/>
          <p14:tracePt t="15237" x="3611563" y="2767013"/>
          <p14:tracePt t="15251" x="3619500" y="2767013"/>
          <p14:tracePt t="15258" x="3627438" y="2767013"/>
          <p14:tracePt t="15276" x="3643313" y="2774950"/>
          <p14:tracePt t="15294" x="3668713" y="2774950"/>
          <p14:tracePt t="15308" x="3684588" y="2774950"/>
          <p14:tracePt t="15324" x="3708400" y="2774950"/>
          <p14:tracePt t="15341" x="3724275" y="2774950"/>
          <p14:tracePt t="15360" x="3748088" y="2782888"/>
          <p14:tracePt t="15373" x="3756025" y="2782888"/>
          <p14:tracePt t="15390" x="3771900" y="2782888"/>
          <p14:tracePt t="15409" x="3787775" y="2782888"/>
          <p14:tracePt t="15426" x="3795713" y="2782888"/>
          <p14:tracePt t="15440" x="3803650" y="2790825"/>
          <p14:tracePt t="15457" x="3811588" y="2790825"/>
          <p14:tracePt t="15474" x="3819525" y="2790825"/>
          <p14:tracePt t="15489" x="3819525" y="2798763"/>
          <p14:tracePt t="15506" x="3827463" y="2798763"/>
          <p14:tracePt t="15523" x="3827463" y="2806700"/>
          <p14:tracePt t="15550" x="3835400" y="2806700"/>
          <p14:tracePt t="15557" x="3835400" y="2798763"/>
          <p14:tracePt t="15572" x="3843338" y="2782888"/>
          <p14:tracePt t="16044" x="3875088" y="2782888"/>
          <p14:tracePt t="16050" x="3922713" y="2798763"/>
          <p14:tracePt t="16057" x="3970338" y="2814638"/>
          <p14:tracePt t="16073" x="4090988" y="2846388"/>
          <p14:tracePt t="16089" x="4233863" y="2878138"/>
          <p14:tracePt t="16107" x="4505325" y="2909888"/>
          <p14:tracePt t="16123" x="4592638" y="2935288"/>
          <p14:tracePt t="16123" x="4687888" y="2943225"/>
          <p14:tracePt t="16139" x="4856163" y="2959100"/>
          <p14:tracePt t="16159" x="5111750" y="2959100"/>
          <p14:tracePt t="16172" x="5262563" y="2943225"/>
          <p14:tracePt t="16190" x="5389563" y="2909888"/>
          <p14:tracePt t="16206" x="5549900" y="2878138"/>
          <p14:tracePt t="16223" x="5621338" y="2862263"/>
          <p14:tracePt t="16240" x="5676900" y="2854325"/>
          <p14:tracePt t="16257" x="5740400" y="2838450"/>
          <p14:tracePt t="16273" x="5765800" y="2822575"/>
          <p14:tracePt t="16288" x="5781675" y="2814638"/>
          <p14:tracePt t="16305" x="5789613" y="2806700"/>
          <p14:tracePt t="16703" x="5797550" y="2790825"/>
          <p14:tracePt t="16707" x="5821363" y="2774950"/>
          <p14:tracePt t="16723" x="5861050" y="2719388"/>
          <p14:tracePt t="16740" x="5892800" y="2679700"/>
          <p14:tracePt t="16756" x="5940425" y="2608263"/>
          <p14:tracePt t="16772" x="5972175" y="2559050"/>
          <p14:tracePt t="16790" x="5995988" y="2503488"/>
          <p14:tracePt t="16806" x="6019800" y="2455863"/>
          <p14:tracePt t="16822" x="6051550" y="2392363"/>
          <p14:tracePt t="16839" x="6059488" y="2360613"/>
          <p14:tracePt t="16856" x="6059488" y="2336800"/>
          <p14:tracePt t="16859" x="6059488" y="2320925"/>
          <p14:tracePt t="16872" x="6059488" y="2297113"/>
          <p14:tracePt t="16895" x="6059488" y="2281238"/>
          <p14:tracePt t="16898" x="6035675" y="2257425"/>
          <p14:tracePt t="16908" x="6019800" y="2241550"/>
          <p14:tracePt t="16925" x="5988050" y="2216150"/>
          <p14:tracePt t="16940" x="5948363" y="2200275"/>
          <p14:tracePt t="16957" x="5876925" y="2176463"/>
          <p14:tracePt t="16973" x="5829300" y="2160588"/>
          <p14:tracePt t="16991" x="5789613" y="2152650"/>
          <p14:tracePt t="17006" x="5724525" y="2136775"/>
          <p14:tracePt t="17023" x="5692775" y="2136775"/>
          <p14:tracePt t="17039" x="5668963" y="2136775"/>
          <p14:tracePt t="17055" x="5621338" y="2144713"/>
          <p14:tracePt t="17073" x="5565775" y="2176463"/>
          <p14:tracePt t="17093" x="5494338" y="2241550"/>
          <p14:tracePt t="17108" x="5454650" y="2289175"/>
          <p14:tracePt t="17123" x="5430838" y="2328863"/>
          <p14:tracePt t="17139" x="5407025" y="2384425"/>
          <p14:tracePt t="17162" x="5389563" y="2439988"/>
          <p14:tracePt t="17176" x="5381625" y="2463800"/>
          <p14:tracePt t="17193" x="5381625" y="2511425"/>
          <p14:tracePt t="17206" x="5389563" y="2576513"/>
          <p14:tracePt t="17223" x="5422900" y="2640013"/>
          <p14:tracePt t="17239" x="5462588" y="2703513"/>
          <p14:tracePt t="17257" x="5557838" y="2806700"/>
          <p14:tracePt t="17272" x="5613400" y="2846388"/>
          <p14:tracePt t="17290" x="5676900" y="2886075"/>
          <p14:tracePt t="17307" x="5757863" y="2901950"/>
          <p14:tracePt t="17322" x="5821363" y="2901950"/>
          <p14:tracePt t="17340" x="5868988" y="2901950"/>
          <p14:tracePt t="17359" x="5964238" y="2862263"/>
          <p14:tracePt t="17374" x="6035675" y="2830513"/>
          <p14:tracePt t="17392" x="6148388" y="2759075"/>
          <p14:tracePt t="17406" x="6211888" y="2695575"/>
          <p14:tracePt t="17423" x="6275388" y="2640013"/>
          <p14:tracePt t="17439" x="6330950" y="2576513"/>
          <p14:tracePt t="17457" x="6386513" y="2495550"/>
          <p14:tracePt t="17472" x="6402388" y="2455863"/>
          <p14:tracePt t="17490" x="6418263" y="2416175"/>
          <p14:tracePt t="17506" x="6418263" y="2392363"/>
          <p14:tracePt t="17523" x="6418263" y="2352675"/>
          <p14:tracePt t="17540" x="6402388" y="2305050"/>
          <p14:tracePt t="17557" x="6378575" y="2273300"/>
          <p14:tracePt t="17575" x="6370638" y="2241550"/>
          <p14:tracePt t="17589" x="6362700" y="2224088"/>
          <p14:tracePt t="17610" x="6338888" y="2192338"/>
          <p14:tracePt t="17624" x="6330950" y="2168525"/>
          <p14:tracePt t="17641" x="6323013" y="2144713"/>
          <p14:tracePt t="17658" x="6315075" y="2128838"/>
          <p14:tracePt t="17674" x="6307138" y="2112963"/>
          <p14:tracePt t="17690" x="6299200" y="2097088"/>
          <p14:tracePt t="17808" x="6291263" y="2097088"/>
          <p14:tracePt t="17821" x="6275388" y="2097088"/>
          <p14:tracePt t="17827" x="6267450" y="2097088"/>
          <p14:tracePt t="18622" x="6299200" y="2097088"/>
          <p14:tracePt t="18627" x="6346825" y="2097088"/>
          <p14:tracePt t="18640" x="6442075" y="2097088"/>
          <p14:tracePt t="18657" x="6538913" y="2097088"/>
          <p14:tracePt t="18676" x="6705600" y="2097088"/>
          <p14:tracePt t="18692" x="6818313" y="2097088"/>
          <p14:tracePt t="18707" x="6937375" y="2105025"/>
          <p14:tracePt t="18723" x="7040563" y="2112963"/>
          <p14:tracePt t="18740" x="7232650" y="2144713"/>
          <p14:tracePt t="18757" x="7335838" y="2160588"/>
          <p14:tracePt t="18773" x="7462838" y="2184400"/>
          <p14:tracePt t="18790" x="7639050" y="2216150"/>
          <p14:tracePt t="18806" x="7742238" y="2233613"/>
          <p14:tracePt t="18822" x="7847013" y="2241550"/>
          <p14:tracePt t="18841" x="7997825" y="2257425"/>
          <p14:tracePt t="18856" x="8085138" y="2257425"/>
          <p14:tracePt t="18874" x="8164513" y="2265363"/>
          <p14:tracePt t="18889" x="8229600" y="2273300"/>
          <p14:tracePt t="18907" x="8308975" y="2273300"/>
          <p14:tracePt t="18926" x="8372475" y="2281238"/>
          <p14:tracePt t="18939" x="8412163" y="2281238"/>
          <p14:tracePt t="18963" x="8451850" y="2289175"/>
          <p14:tracePt t="19322" x="8467725" y="2273300"/>
          <p14:tracePt t="19327" x="8483600" y="2249488"/>
          <p14:tracePt t="19339" x="8499475" y="2241550"/>
          <p14:tracePt t="19358" x="8548688" y="2168525"/>
          <p14:tracePt t="19372" x="8588375" y="2128838"/>
          <p14:tracePt t="19389" x="8620125" y="2097088"/>
          <p14:tracePt t="19407" x="8667750" y="2049463"/>
          <p14:tracePt t="19423" x="8707438" y="2017713"/>
          <p14:tracePt t="19439" x="8739188" y="1985963"/>
          <p14:tracePt t="19457" x="8810625" y="1930400"/>
          <p14:tracePt t="19472" x="8874125" y="1906588"/>
          <p14:tracePt t="19489" x="8955088" y="1873250"/>
          <p14:tracePt t="19506" x="9026525" y="1849438"/>
          <p14:tracePt t="19508" x="9074150" y="1841500"/>
          <p14:tracePt t="19523" x="9153525" y="1809750"/>
          <p14:tracePt t="19538" x="9242425" y="1785938"/>
          <p14:tracePt t="19557" x="9345613" y="1770063"/>
          <p14:tracePt t="19573" x="9409113" y="1762125"/>
          <p14:tracePt t="19590" x="9456738" y="1762125"/>
          <p14:tracePt t="19609" x="9528175" y="1770063"/>
          <p14:tracePt t="19622" x="9567863" y="1778000"/>
          <p14:tracePt t="19641" x="9601200" y="1793875"/>
          <p14:tracePt t="19656" x="9640888" y="1817688"/>
          <p14:tracePt t="19675" x="9664700" y="1849438"/>
          <p14:tracePt t="19692" x="9680575" y="1873250"/>
          <p14:tracePt t="19693" x="9696450" y="1881188"/>
          <p14:tracePt t="19707" x="9720263" y="1906588"/>
          <p14:tracePt t="19724" x="9736138" y="1930400"/>
          <p14:tracePt t="19739" x="9752013" y="1962150"/>
          <p14:tracePt t="19756" x="9767888" y="1978025"/>
          <p14:tracePt t="19773" x="9791700" y="2017713"/>
          <p14:tracePt t="19789" x="9807575" y="2049463"/>
          <p14:tracePt t="19806" x="9823450" y="2073275"/>
          <p14:tracePt t="19823" x="9855200" y="2144713"/>
          <p14:tracePt t="19839" x="9871075" y="2176463"/>
          <p14:tracePt t="19859" x="9886950" y="2216150"/>
          <p14:tracePt t="19873" x="9902825" y="2249488"/>
          <p14:tracePt t="19891" x="9902825" y="2273300"/>
          <p14:tracePt t="19910" x="9918700" y="2320925"/>
          <p14:tracePt t="19924" x="9926638" y="2344738"/>
          <p14:tracePt t="19940" x="9936163" y="2368550"/>
          <p14:tracePt t="19957" x="9944100" y="2400300"/>
          <p14:tracePt t="19973" x="9944100" y="2439988"/>
          <p14:tracePt t="19990" x="9944100" y="2447925"/>
          <p14:tracePt t="20009" x="9944100" y="2487613"/>
          <p14:tracePt t="20025" x="9944100" y="2511425"/>
          <p14:tracePt t="20039" x="9944100" y="2535238"/>
          <p14:tracePt t="20056" x="9944100" y="2559050"/>
          <p14:tracePt t="20075" x="9944100" y="2616200"/>
          <p14:tracePt t="20103" x="9944100" y="2655888"/>
          <p14:tracePt t="20110" x="9944100" y="2663825"/>
          <p14:tracePt t="20116" x="9944100" y="2671763"/>
          <p14:tracePt t="20123" x="9944100" y="2679700"/>
          <p14:tracePt t="20139" x="9944100" y="2703513"/>
          <p14:tracePt t="20155" x="9944100" y="2727325"/>
          <p14:tracePt t="20173" x="9944100" y="2751138"/>
          <p14:tracePt t="20189" x="9944100" y="2767013"/>
          <p14:tracePt t="20208" x="9936163" y="2782888"/>
          <p14:tracePt t="20222" x="9936163" y="2790825"/>
          <p14:tracePt t="20223" x="9926638" y="2790825"/>
          <p14:tracePt t="20241" x="9918700" y="2814638"/>
          <p14:tracePt t="20257" x="9902825" y="2838450"/>
          <p14:tracePt t="20273" x="9894888" y="2854325"/>
          <p14:tracePt t="20290" x="9879013" y="2870200"/>
          <p14:tracePt t="20310" x="9847263" y="2886075"/>
          <p14:tracePt t="20325" x="9839325" y="2894013"/>
          <p14:tracePt t="20339" x="9823450" y="2909888"/>
          <p14:tracePt t="20360" x="9799638" y="2909888"/>
          <p14:tracePt t="20372" x="9791700" y="2919413"/>
          <p14:tracePt t="20394" x="9783763" y="2919413"/>
          <p14:tracePt t="20407" x="9775825" y="2927350"/>
          <p14:tracePt t="20422" x="9759950" y="2935288"/>
          <p14:tracePt t="20439" x="9744075" y="2951163"/>
          <p14:tracePt t="20458" x="9704388" y="2967038"/>
          <p14:tracePt t="20473" x="9680575" y="2974975"/>
          <p14:tracePt t="20490" x="9656763" y="2990850"/>
          <p14:tracePt t="20505" x="9632950" y="3006725"/>
          <p14:tracePt t="20523" x="9593263" y="3022600"/>
          <p14:tracePt t="20539" x="9551988" y="3038475"/>
          <p14:tracePt t="20556" x="9512300" y="3046413"/>
          <p14:tracePt t="20573" x="9440863" y="3054350"/>
          <p14:tracePt t="20590" x="9385300" y="3054350"/>
          <p14:tracePt t="20608" x="9274175" y="3054350"/>
          <p14:tracePt t="20623" x="9193213" y="3046413"/>
          <p14:tracePt t="20640" x="9090025" y="3030538"/>
          <p14:tracePt t="20657" x="8955088" y="2982913"/>
          <p14:tracePt t="20674" x="8874125" y="2943225"/>
          <p14:tracePt t="20690" x="8794750" y="2901950"/>
          <p14:tracePt t="20706" x="8731250" y="2870200"/>
          <p14:tracePt t="20723" x="8667750" y="2814638"/>
          <p14:tracePt t="20741" x="8643938" y="2782888"/>
          <p14:tracePt t="20755" x="8620125" y="2751138"/>
          <p14:tracePt t="20772" x="8604250" y="2727325"/>
          <p14:tracePt t="20774" x="8596313" y="2711450"/>
          <p14:tracePt t="20789" x="8572500" y="2640013"/>
          <p14:tracePt t="20806" x="8564563" y="2551113"/>
          <p14:tracePt t="20823" x="8556625" y="2408238"/>
          <p14:tracePt t="20829" x="8548688" y="2368550"/>
          <p14:tracePt t="20839" x="8548688" y="2320925"/>
          <p14:tracePt t="20857" x="8540750" y="2200275"/>
          <p14:tracePt t="20873" x="8540750" y="2144713"/>
          <p14:tracePt t="20890" x="8540750" y="2105025"/>
          <p14:tracePt t="20910" x="8540750" y="2081213"/>
          <p14:tracePt t="20923" x="8540750" y="2073275"/>
          <p14:tracePt t="20940" x="8540750" y="2057400"/>
          <p14:tracePt t="20958" x="8540750" y="2041525"/>
          <p14:tracePt t="20973" x="8556625" y="2025650"/>
          <p14:tracePt t="20991" x="8580438" y="2017713"/>
          <p14:tracePt t="21006" x="8628063" y="1993900"/>
          <p14:tracePt t="21022" x="8691563" y="1985963"/>
          <p14:tracePt t="21039" x="8739188" y="1985963"/>
          <p14:tracePt t="21058" x="8794750" y="1985963"/>
          <p14:tracePt t="21072" x="8834438" y="2001838"/>
          <p14:tracePt t="21089" x="8858250" y="2009775"/>
          <p14:tracePt t="21109" x="8891588" y="2033588"/>
          <p14:tracePt t="21124" x="8907463" y="2049463"/>
          <p14:tracePt t="21140" x="8915400" y="2057400"/>
          <p14:tracePt t="21157" x="8923338" y="2081213"/>
          <p14:tracePt t="21175" x="8931275" y="2097088"/>
          <p14:tracePt t="21189" x="8939213" y="2105025"/>
          <p14:tracePt t="21208" x="8955088" y="2128838"/>
          <p14:tracePt t="21222" x="8978900" y="2152650"/>
          <p14:tracePt t="21240" x="8994775" y="2176463"/>
          <p14:tracePt t="21257" x="9034463" y="2216150"/>
          <p14:tracePt t="21273" x="9050338" y="2241550"/>
          <p14:tracePt t="21294" x="9082088" y="2281238"/>
          <p14:tracePt t="21306" x="9090025" y="2289175"/>
          <p14:tracePt t="21322" x="9097963" y="2312988"/>
          <p14:tracePt t="21780" x="9082088" y="2312988"/>
          <p14:tracePt t="21787" x="9042400" y="2297113"/>
          <p14:tracePt t="21796" x="9002713" y="2281238"/>
          <p14:tracePt t="21807" x="8899525" y="2233613"/>
          <p14:tracePt t="21814" x="8842375" y="2208213"/>
          <p14:tracePt t="21822" x="8794750" y="2184400"/>
          <p14:tracePt t="21839" x="8675688" y="2144713"/>
          <p14:tracePt t="21857" x="8491538" y="2081213"/>
          <p14:tracePt t="21876" x="8372475" y="2057400"/>
          <p14:tracePt t="21891" x="8189913" y="2009775"/>
          <p14:tracePt t="21906" x="8037513" y="1993900"/>
          <p14:tracePt t="21925" x="7886700" y="1985963"/>
          <p14:tracePt t="21939" x="7702550" y="1970088"/>
          <p14:tracePt t="21957" x="7407275" y="1946275"/>
          <p14:tracePt t="21972" x="7208838" y="1938338"/>
          <p14:tracePt t="21990" x="6992938" y="1930400"/>
          <p14:tracePt t="22006" x="6769100" y="1930400"/>
          <p14:tracePt t="22024" x="6410325" y="1930400"/>
          <p14:tracePt t="22040" x="6180138" y="1946275"/>
          <p14:tracePt t="22056" x="5829300" y="1970088"/>
          <p14:tracePt t="22073" x="5605463" y="2001838"/>
          <p14:tracePt t="22090" x="5389563" y="2025650"/>
          <p14:tracePt t="22106" x="5103813" y="2073275"/>
          <p14:tracePt t="22125" x="4927600" y="2097088"/>
          <p14:tracePt t="22140" x="4800600" y="2128838"/>
          <p14:tracePt t="22156" x="4664075" y="2152650"/>
          <p14:tracePt t="22158" x="4608513" y="2168525"/>
          <p14:tracePt t="22173" x="4521200" y="2184400"/>
          <p14:tracePt t="22193" x="4410075" y="2200275"/>
          <p14:tracePt t="22207" x="4337050" y="2200275"/>
          <p14:tracePt t="22222" x="4281488" y="2208213"/>
          <p14:tracePt t="22240" x="4225925" y="2208213"/>
          <p14:tracePt t="22257" x="4138613" y="2208213"/>
          <p14:tracePt t="22273" x="4090988" y="2216150"/>
          <p14:tracePt t="22289" x="4051300" y="2233613"/>
          <p14:tracePt t="22306" x="3986213" y="2249488"/>
          <p14:tracePt t="22322" x="3954463" y="2257425"/>
          <p14:tracePt t="22339" x="3930650" y="2273300"/>
          <p14:tracePt t="22357" x="3914775" y="2273300"/>
          <p14:tracePt t="22375" x="3906838" y="2281238"/>
          <p14:tracePt t="23170" x="3946525" y="2281238"/>
          <p14:tracePt t="23176" x="4011613" y="2281238"/>
          <p14:tracePt t="23191" x="4138613" y="2281238"/>
          <p14:tracePt t="23206" x="4281488" y="2281238"/>
          <p14:tracePt t="23224" x="4418013" y="2281238"/>
          <p14:tracePt t="23241" x="4624388" y="2281238"/>
          <p14:tracePt t="23259" x="4752975" y="2281238"/>
          <p14:tracePt t="23274" x="4879975" y="2273300"/>
          <p14:tracePt t="23291" x="5030788" y="2273300"/>
          <p14:tracePt t="23320" x="5143500" y="2273300"/>
          <p14:tracePt t="23325" x="5167313" y="2273300"/>
          <p14:tracePt t="23331" x="5199063" y="2281238"/>
          <p14:tracePt t="23341" x="5254625" y="2281238"/>
          <p14:tracePt t="23356" x="5302250" y="2281238"/>
          <p14:tracePt t="23375" x="5365750" y="2289175"/>
          <p14:tracePt t="23393" x="5454650" y="2328863"/>
          <p14:tracePt t="23406" x="5526088" y="2352675"/>
          <p14:tracePt t="23424" x="5597525" y="2384425"/>
          <p14:tracePt t="23440" x="5708650" y="2447925"/>
          <p14:tracePt t="23457" x="5805488" y="2511425"/>
          <p14:tracePt t="23475" x="5892800" y="2576513"/>
          <p14:tracePt t="23490" x="6027738" y="2671763"/>
          <p14:tracePt t="23508" x="6124575" y="2735263"/>
          <p14:tracePt t="23523" x="6211888" y="2790825"/>
          <p14:tracePt t="23540" x="6323013" y="2854325"/>
          <p14:tracePt t="23555" x="6362700" y="2886075"/>
          <p14:tracePt t="23573" x="6378575" y="2901950"/>
          <p14:tracePt t="23590" x="6386513" y="2901950"/>
          <p14:tracePt t="23607" x="6378575" y="2894013"/>
          <p14:tracePt t="23628" x="6323013" y="2830513"/>
          <p14:tracePt t="24557" x="6323013" y="2822575"/>
          <p14:tracePt t="24563" x="6315075" y="2806700"/>
          <p14:tracePt t="24572" x="6299200" y="2782888"/>
          <p14:tracePt t="24589" x="6291263" y="2735263"/>
          <p14:tracePt t="24606" x="6283325" y="2687638"/>
          <p14:tracePt t="24626" x="6283325" y="2592388"/>
          <p14:tracePt t="24639" x="6291263" y="2511425"/>
          <p14:tracePt t="24656" x="6330950" y="2384425"/>
          <p14:tracePt t="24673" x="6394450" y="2281238"/>
          <p14:tracePt t="24690" x="6483350" y="2160588"/>
          <p14:tracePt t="24706" x="6673850" y="2001838"/>
          <p14:tracePt t="24722" x="6834188" y="1890713"/>
          <p14:tracePt t="24740" x="7000875" y="1801813"/>
          <p14:tracePt t="24758" x="7248525" y="1706563"/>
          <p14:tracePt t="24772" x="7383463" y="1690688"/>
          <p14:tracePt t="24789" x="7478713" y="1682750"/>
          <p14:tracePt t="24807" x="7551738" y="1698625"/>
          <p14:tracePt t="24823" x="7599363" y="1722438"/>
          <p14:tracePt t="24839" x="7623175" y="1762125"/>
          <p14:tracePt t="24858" x="7654925" y="1922463"/>
          <p14:tracePt t="24876" x="7639050" y="2049463"/>
          <p14:tracePt t="24879" x="7639050" y="2128838"/>
          <p14:tracePt t="24889" x="7631113" y="2192338"/>
          <p14:tracePt t="24907" x="7567613" y="2368550"/>
          <p14:tracePt t="24923" x="7527925" y="2455863"/>
          <p14:tracePt t="24941" x="7496175" y="2511425"/>
          <p14:tracePt t="24958" x="7391400" y="2600325"/>
          <p14:tracePt t="24978" x="7288213" y="2655888"/>
          <p14:tracePt t="24980" x="7232650" y="2679700"/>
          <p14:tracePt t="24989" x="7169150" y="2703513"/>
          <p14:tracePt t="25007" x="6953250" y="2751138"/>
          <p14:tracePt t="25023" x="6818313" y="2751138"/>
          <p14:tracePt t="25039" x="6673850" y="2751138"/>
          <p14:tracePt t="25057" x="6467475" y="2727325"/>
          <p14:tracePt t="25073" x="6338888" y="2687638"/>
          <p14:tracePt t="25090" x="6235700" y="2647950"/>
          <p14:tracePt t="25109" x="6091238" y="2592388"/>
          <p14:tracePt t="25114" x="6051550" y="2566988"/>
          <p14:tracePt t="25123" x="6011863" y="2551113"/>
          <p14:tracePt t="25139" x="5940425" y="2495550"/>
          <p14:tracePt t="25159" x="5853113" y="2408238"/>
          <p14:tracePt t="25163" x="5829300" y="2360613"/>
          <p14:tracePt t="25173" x="5805488" y="2312988"/>
          <p14:tracePt t="25192" x="5765800" y="2208213"/>
          <p14:tracePt t="25194" x="5749925" y="2160588"/>
          <p14:tracePt t="25206" x="5716588" y="2105025"/>
          <p14:tracePt t="25223" x="5684838" y="2057400"/>
          <p14:tracePt t="25240" x="5645150" y="2033588"/>
          <p14:tracePt t="25257" x="5526088" y="2025650"/>
          <p14:tracePt t="25273" x="5381625" y="2041525"/>
          <p14:tracePt t="25293" x="5111750" y="2120900"/>
          <p14:tracePt t="25307" x="4927600" y="2192338"/>
          <p14:tracePt t="25322" x="4752975" y="2265363"/>
          <p14:tracePt t="25340" x="4584700" y="2312988"/>
          <p14:tracePt t="25356" x="4402138" y="2376488"/>
          <p14:tracePt t="25374" x="4344988" y="2376488"/>
          <p14:tracePt t="25389" x="4329113" y="2376488"/>
          <p14:tracePt t="25407" x="4321175" y="2352675"/>
          <p14:tracePt t="25806" x="4370388" y="2305050"/>
          <p14:tracePt t="25813" x="4473575" y="2241550"/>
          <p14:tracePt t="25822" x="4592638" y="2160588"/>
          <p14:tracePt t="25842" x="4951413" y="1881188"/>
          <p14:tracePt t="25856" x="5246688" y="1658938"/>
          <p14:tracePt t="25877" x="5724525" y="1339850"/>
          <p14:tracePt t="25889" x="5876925" y="1244600"/>
          <p14:tracePt t="25907" x="6259513" y="1012825"/>
          <p14:tracePt t="25923" x="6434138" y="901700"/>
          <p14:tracePt t="25942" x="6618288" y="804863"/>
          <p14:tracePt t="25956" x="6705600" y="757238"/>
          <p14:tracePt t="25974" x="6737350" y="741363"/>
          <p14:tracePt t="25992" x="6753225" y="733425"/>
          <p14:tracePt t="25996" x="6761163" y="733425"/>
          <p14:tracePt t="26022" x="6737350" y="733425"/>
          <p14:tracePt t="26273" x="6818313" y="709613"/>
          <p14:tracePt t="26282" x="6921500" y="677863"/>
          <p14:tracePt t="26288" x="7016750" y="646113"/>
          <p14:tracePt t="26310" x="7264400" y="598488"/>
          <p14:tracePt t="26322" x="7415213" y="590550"/>
          <p14:tracePt t="26343" x="7591425" y="574675"/>
          <p14:tracePt t="26348" x="7631113" y="574675"/>
          <p14:tracePt t="26356" x="7678738" y="574675"/>
          <p14:tracePt t="26378" x="7773988" y="566738"/>
          <p14:tracePt t="26389" x="7797800" y="566738"/>
          <p14:tracePt t="26407" x="7862888" y="558800"/>
          <p14:tracePt t="26422" x="7894638" y="558800"/>
          <p14:tracePt t="26439" x="7918450" y="550863"/>
          <p14:tracePt t="26458" x="7926388" y="550863"/>
          <p14:tracePt t="26474" x="7950200" y="550863"/>
          <p14:tracePt t="26492" x="7974013" y="542925"/>
          <p14:tracePt t="26507" x="7989888" y="542925"/>
          <p14:tracePt t="26525" x="8005763" y="534988"/>
          <p14:tracePt t="26540" x="8013700" y="534988"/>
          <p14:tracePt t="26559" x="8021638" y="534988"/>
          <p14:tracePt t="26562" x="8029575" y="534988"/>
          <p14:tracePt t="26577" x="8037513" y="534988"/>
          <p14:tracePt t="26593" x="8045450" y="527050"/>
          <p14:tracePt t="26606" x="8053388" y="527050"/>
          <p14:tracePt t="26614" x="8061325" y="527050"/>
          <p14:tracePt t="26624" x="8069263" y="527050"/>
          <p14:tracePt t="26642" x="8077200" y="527050"/>
          <p14:tracePt t="26663" x="8085138" y="527050"/>
          <p14:tracePt t="26672" x="8085138" y="519113"/>
          <p14:tracePt t="26722" x="8085138" y="501650"/>
          <p14:tracePt t="26726" x="8085138" y="485775"/>
          <p14:tracePt t="26739" x="8077200" y="469900"/>
          <p14:tracePt t="26756" x="8045450" y="430213"/>
          <p14:tracePt t="26775" x="8029575" y="398463"/>
          <p14:tracePt t="26779" x="8021638" y="390525"/>
          <p14:tracePt t="26789" x="8013700" y="374650"/>
          <p14:tracePt t="26806" x="7997825" y="358775"/>
          <p14:tracePt t="33335" x="7839075" y="446088"/>
          <p14:tracePt t="33342" x="7789863" y="509588"/>
          <p14:tracePt t="33357" x="7686675" y="646113"/>
          <p14:tracePt t="33372" x="7583488" y="788988"/>
          <p14:tracePt t="33391" x="7478713" y="949325"/>
          <p14:tracePt t="33406" x="7383463" y="1100138"/>
          <p14:tracePt t="33423" x="7264400" y="1300163"/>
          <p14:tracePt t="33439" x="7200900" y="1435100"/>
          <p14:tracePt t="33457" x="7104063" y="1674813"/>
          <p14:tracePt t="33472" x="7064375" y="1833563"/>
          <p14:tracePt t="33488" x="7008813" y="2017713"/>
          <p14:tracePt t="33508" x="6929438" y="2344738"/>
          <p14:tracePt t="33522" x="6873875" y="2592388"/>
          <p14:tracePt t="33539" x="6818313" y="2782888"/>
          <p14:tracePt t="33558" x="6761163" y="3038475"/>
          <p14:tracePt t="33573" x="6729413" y="3173413"/>
          <p14:tracePt t="33590" x="6713538" y="3278188"/>
          <p14:tracePt t="33609" x="6705600" y="3357563"/>
          <p14:tracePt t="33623" x="6697663" y="3397250"/>
          <p14:tracePt t="33640" x="6697663" y="3413125"/>
          <p14:tracePt t="33656" x="6697663" y="3421063"/>
          <p14:tracePt t="34108" x="6650038" y="3468688"/>
          <p14:tracePt t="34116" x="6538913" y="3556000"/>
          <p14:tracePt t="34125" x="6459538" y="3636963"/>
          <p14:tracePt t="34131" x="6330950" y="3748088"/>
          <p14:tracePt t="34139" x="6219825" y="3867150"/>
          <p14:tracePt t="34156" x="5829300" y="4298950"/>
          <p14:tracePt t="34172" x="5621338" y="4584700"/>
          <p14:tracePt t="34189" x="5446713" y="4808538"/>
          <p14:tracePt t="34207" x="5238750" y="5056188"/>
          <p14:tracePt t="34223" x="5127625" y="5199063"/>
          <p14:tracePt t="34239" x="5030788" y="5319713"/>
          <p14:tracePt t="34257" x="4935538" y="5414963"/>
          <p14:tracePt t="34272" x="4895850" y="5446713"/>
          <p14:tracePt t="34289" x="4872038" y="5462588"/>
          <p14:tracePt t="34306" x="4848225" y="5470525"/>
          <p14:tracePt t="34322" x="4840288" y="5478463"/>
          <p14:tracePt t="34339" x="4824413" y="5478463"/>
          <p14:tracePt t="34359" x="4808538" y="5478463"/>
          <p14:tracePt t="34374" x="4800600" y="5486400"/>
          <p14:tracePt t="34390" x="4792663" y="5486400"/>
          <p14:tracePt t="34407" x="4776788" y="5486400"/>
          <p14:tracePt t="34422" x="4760913" y="5462588"/>
          <p14:tracePt t="34813" x="4713288" y="5486400"/>
          <p14:tracePt t="34820" x="4656138" y="5526088"/>
          <p14:tracePt t="34827" x="4600575" y="5565775"/>
          <p14:tracePt t="34839" x="4529138" y="5605463"/>
          <p14:tracePt t="34864" x="4225925" y="5741988"/>
          <p14:tracePt t="34873" x="4154488" y="5765800"/>
          <p14:tracePt t="34892" x="3930650" y="5805488"/>
          <p14:tracePt t="34906" x="3803650" y="5813425"/>
          <p14:tracePt t="34923" x="3708400" y="5805488"/>
          <p14:tracePt t="34944" x="3556000" y="5781675"/>
          <p14:tracePt t="34957" x="3484563" y="5749925"/>
          <p14:tracePt t="34972" x="3429000" y="5710238"/>
          <p14:tracePt t="34994" x="3357563" y="5637213"/>
          <p14:tracePt t="35007" x="3333750" y="5581650"/>
          <p14:tracePt t="35022" x="3308350" y="5534025"/>
          <p14:tracePt t="35040" x="3292475" y="5470525"/>
          <p14:tracePt t="35056" x="3292475" y="5367338"/>
          <p14:tracePt t="35072" x="3308350" y="5262563"/>
          <p14:tracePt t="35096" x="3365500" y="5127625"/>
          <p14:tracePt t="35110" x="3436938" y="5008563"/>
          <p14:tracePt t="35125" x="3524250" y="4919663"/>
          <p14:tracePt t="35141" x="3660775" y="4784725"/>
          <p14:tracePt t="35159" x="3763963" y="4729163"/>
          <p14:tracePt t="35174" x="3859213" y="4697413"/>
          <p14:tracePt t="35189" x="3970338" y="4681538"/>
          <p14:tracePt t="35206" x="4067175" y="4681538"/>
          <p14:tracePt t="35207" x="4106863" y="4681538"/>
          <p14:tracePt t="35223" x="4210050" y="4689475"/>
          <p14:tracePt t="35239" x="4281488" y="4705350"/>
          <p14:tracePt t="35258" x="4370388" y="4737100"/>
          <p14:tracePt t="35276" x="4394200" y="4760913"/>
          <p14:tracePt t="35281" x="4410075" y="4776788"/>
          <p14:tracePt t="35291" x="4425950" y="4784725"/>
          <p14:tracePt t="35306" x="4425950" y="4792663"/>
          <p14:tracePt t="35324" x="4433888" y="4792663"/>
          <p14:tracePt t="35340" x="4433888" y="4800600"/>
          <p14:tracePt t="35436" x="4441825" y="4792663"/>
          <p14:tracePt t="35441" x="4441825" y="4776788"/>
          <p14:tracePt t="36230" x="4441825" y="4792663"/>
          <p14:tracePt t="36236" x="4441825" y="4816475"/>
          <p14:tracePt t="36243" x="4441825" y="4848225"/>
          <p14:tracePt t="36256" x="4441825" y="4879975"/>
          <p14:tracePt t="36273" x="4441825" y="4992688"/>
          <p14:tracePt t="36292" x="4441825" y="5095875"/>
          <p14:tracePt t="36312" x="4441825" y="5151438"/>
          <p14:tracePt t="36315" x="4441825" y="5183188"/>
          <p14:tracePt t="36323" x="4441825" y="5207000"/>
          <p14:tracePt t="36340" x="4449763" y="5262563"/>
          <p14:tracePt t="36365" x="4465638" y="5383213"/>
          <p14:tracePt t="36374" x="4473575" y="5414963"/>
          <p14:tracePt t="36390" x="4481513" y="5462588"/>
          <p14:tracePt t="36408" x="4489450" y="5534025"/>
          <p14:tracePt t="36422" x="4489450" y="5581650"/>
          <p14:tracePt t="36440" x="4489450" y="5637213"/>
          <p14:tracePt t="36458" x="4497388" y="5734050"/>
          <p14:tracePt t="36473" x="4505325" y="5765800"/>
          <p14:tracePt t="36475" x="4505325" y="5797550"/>
          <p14:tracePt t="36489" x="4505325" y="5845175"/>
          <p14:tracePt t="36508" x="4497388" y="5908675"/>
          <p14:tracePt t="36522" x="4489450" y="5956300"/>
          <p14:tracePt t="36539" x="4473575" y="5988050"/>
          <p14:tracePt t="36556" x="4449763" y="6021388"/>
          <p14:tracePt t="36573" x="4402138" y="6100763"/>
          <p14:tracePt t="36589" x="4352925" y="6148388"/>
          <p14:tracePt t="36606" x="4217988" y="6219825"/>
          <p14:tracePt t="36622" x="4106863" y="6259513"/>
          <p14:tracePt t="36639" x="3994150" y="6275388"/>
          <p14:tracePt t="36656" x="3811588" y="6275388"/>
          <p14:tracePt t="36675" x="3700463" y="6251575"/>
          <p14:tracePt t="36691" x="3579813" y="6188075"/>
          <p14:tracePt t="36706" x="3476625" y="6092825"/>
          <p14:tracePt t="36723" x="3333750" y="5900738"/>
          <p14:tracePt t="36739" x="3252788" y="5726113"/>
          <p14:tracePt t="36758" x="3189288" y="5494338"/>
          <p14:tracePt t="36773" x="3173413" y="5335588"/>
          <p14:tracePt t="36789" x="3173413" y="5191125"/>
          <p14:tracePt t="36806" x="3197225" y="5080000"/>
          <p14:tracePt t="36823" x="3260725" y="4959350"/>
          <p14:tracePt t="36839" x="3308350" y="4903788"/>
          <p14:tracePt t="36857" x="3389313" y="4856163"/>
          <p14:tracePt t="36880" x="3516313" y="4840288"/>
          <p14:tracePt t="36889" x="3556000" y="4840288"/>
          <p14:tracePt t="36907" x="3700463" y="4856163"/>
          <p14:tracePt t="36923" x="3811588" y="4911725"/>
          <p14:tracePt t="36941" x="3930650" y="4959350"/>
          <p14:tracePt t="36957" x="4098925" y="5072063"/>
          <p14:tracePt t="36972" x="4178300" y="5143500"/>
          <p14:tracePt t="36989" x="4273550" y="5230813"/>
          <p14:tracePt t="37005" x="4344988" y="5335588"/>
          <p14:tracePt t="37022" x="4410075" y="5478463"/>
          <p14:tracePt t="37039" x="4449763" y="5573713"/>
          <p14:tracePt t="37056" x="4473575" y="5662613"/>
          <p14:tracePt t="37059" x="4473575" y="5702300"/>
          <p14:tracePt t="37072" x="4481513" y="5757863"/>
          <p14:tracePt t="37089" x="4481513" y="5789613"/>
          <p14:tracePt t="37108" x="4481513" y="5829300"/>
          <p14:tracePt t="37123" x="4481513" y="5853113"/>
          <p14:tracePt t="37140" x="4465638" y="5868988"/>
          <p14:tracePt t="37156" x="4433888" y="5884863"/>
          <p14:tracePt t="38940" x="4418013" y="5884863"/>
          <p14:tracePt t="38947" x="4394200" y="5876925"/>
          <p14:tracePt t="38955" x="4386263" y="5868988"/>
          <p14:tracePt t="38973" x="4352925" y="5853113"/>
          <p14:tracePt t="38989" x="4337050" y="5837238"/>
          <p14:tracePt t="39006" x="4313238" y="5821363"/>
          <p14:tracePt t="39023" x="4305300" y="5805488"/>
          <p14:tracePt t="39039" x="4297363" y="5781675"/>
          <p14:tracePt t="39056" x="4289425" y="5757863"/>
          <p14:tracePt t="39073" x="4281488" y="5734050"/>
          <p14:tracePt t="39092" x="4281488" y="5710238"/>
          <p14:tracePt t="39107" x="4273550" y="5694363"/>
          <p14:tracePt t="39126" x="4273550" y="5678488"/>
          <p14:tracePt t="39140" x="4273550" y="5662613"/>
          <p14:tracePt t="39156" x="4265613" y="5653088"/>
          <p14:tracePt t="39157" x="4265613" y="5645150"/>
          <p14:tracePt t="39172" x="4257675" y="5637213"/>
          <p14:tracePt t="39189" x="4249738" y="5613400"/>
          <p14:tracePt t="39207" x="4217988" y="5581650"/>
          <p14:tracePt t="39223" x="4186238" y="5557838"/>
          <p14:tracePt t="39239" x="4162425" y="5534025"/>
          <p14:tracePt t="39256" x="4114800" y="5510213"/>
          <p14:tracePt t="39273" x="4075113" y="5486400"/>
          <p14:tracePt t="39298" x="4027488" y="5462588"/>
          <p14:tracePt t="39308" x="3986213" y="5454650"/>
          <p14:tracePt t="39323" x="3946525" y="5446713"/>
          <p14:tracePt t="39340" x="3906838" y="5438775"/>
          <p14:tracePt t="39358" x="3843338" y="5438775"/>
          <p14:tracePt t="39375" x="3779838" y="5446713"/>
          <p14:tracePt t="39389" x="3748088" y="5454650"/>
          <p14:tracePt t="39410" x="3692525" y="5470525"/>
          <p14:tracePt t="39423" x="3668713" y="5478463"/>
          <p14:tracePt t="39440" x="3651250" y="5494338"/>
          <p14:tracePt t="39456" x="3627438" y="5518150"/>
          <p14:tracePt t="39474" x="3611563" y="5541963"/>
          <p14:tracePt t="39500" x="3595688" y="5565775"/>
          <p14:tracePt t="39502" x="3587750" y="5573713"/>
          <p14:tracePt t="39508" x="3579813" y="5589588"/>
          <p14:tracePt t="39523" x="3563938" y="5605463"/>
          <p14:tracePt t="39539" x="3556000" y="5629275"/>
          <p14:tracePt t="39556" x="3540125" y="5662613"/>
          <p14:tracePt t="39573" x="3532188" y="5678488"/>
          <p14:tracePt t="39589" x="3532188" y="5694363"/>
          <p14:tracePt t="39607" x="3524250" y="5734050"/>
          <p14:tracePt t="39625" x="3524250" y="5757863"/>
          <p14:tracePt t="39640" x="3524250" y="5781675"/>
          <p14:tracePt t="39657" x="3532188" y="5829300"/>
          <p14:tracePt t="39673" x="3548063" y="5853113"/>
          <p14:tracePt t="39691" x="3556000" y="5884863"/>
          <p14:tracePt t="39707" x="3595688" y="5932488"/>
          <p14:tracePt t="39723" x="3619500" y="5964238"/>
          <p14:tracePt t="39740" x="3643313" y="5995988"/>
          <p14:tracePt t="39758" x="3708400" y="6037263"/>
          <p14:tracePt t="39772" x="3763963" y="6061075"/>
          <p14:tracePt t="39789" x="3819525" y="6076950"/>
          <p14:tracePt t="39806" x="3883025" y="6092825"/>
          <p14:tracePt t="39823" x="3978275" y="6092825"/>
          <p14:tracePt t="39840" x="4043363" y="6092825"/>
          <p14:tracePt t="39858" x="4162425" y="6076950"/>
          <p14:tracePt t="39875" x="4225925" y="6045200"/>
          <p14:tracePt t="39889" x="4289425" y="6013450"/>
          <p14:tracePt t="39907" x="4378325" y="5940425"/>
          <p14:tracePt t="39923" x="4410075" y="5900738"/>
          <p14:tracePt t="39942" x="4433888" y="5868988"/>
          <p14:tracePt t="39959" x="4449763" y="5845175"/>
          <p14:tracePt t="39973" x="4457700" y="5821363"/>
          <p14:tracePt t="39991" x="4465638" y="5805488"/>
          <p14:tracePt t="40006" x="4465638" y="5789613"/>
          <p14:tracePt t="40024" x="4465638" y="5741988"/>
          <p14:tracePt t="40041" x="4465638" y="5710238"/>
          <p14:tracePt t="40056" x="4465638" y="5678488"/>
          <p14:tracePt t="40074" x="4441825" y="5613400"/>
          <p14:tracePt t="40089" x="4433888" y="5589588"/>
          <p14:tracePt t="40107" x="4425950" y="5565775"/>
          <p14:tracePt t="40124" x="4425950" y="5549900"/>
          <p14:tracePt t="40143" x="4410075" y="5526088"/>
          <p14:tracePt t="40156" x="4402138" y="5526088"/>
          <p14:tracePt t="40174" x="4362450" y="5494338"/>
          <p14:tracePt t="40191" x="4337050" y="5478463"/>
          <p14:tracePt t="40205" x="4297363" y="5462588"/>
          <p14:tracePt t="40223" x="4225925" y="5430838"/>
          <p14:tracePt t="40239" x="4178300" y="5422900"/>
          <p14:tracePt t="40255" x="4130675" y="5414963"/>
          <p14:tracePt t="40273" x="4075113" y="5414963"/>
          <p14:tracePt t="40288" x="4043363" y="5414963"/>
          <p14:tracePt t="40307" x="4011613" y="5414963"/>
          <p14:tracePt t="40322" x="3978275" y="5422900"/>
          <p14:tracePt t="40324" x="3970338" y="5422900"/>
          <p14:tracePt t="40340" x="3930650" y="5438775"/>
          <p14:tracePt t="40358" x="3890963" y="5454650"/>
          <p14:tracePt t="40374" x="3851275" y="5462588"/>
          <p14:tracePt t="40390" x="3827463" y="5486400"/>
          <p14:tracePt t="40406" x="3803650" y="5502275"/>
          <p14:tracePt t="40424" x="3771900" y="5518150"/>
          <p14:tracePt t="40443" x="3756025" y="5534025"/>
          <p14:tracePt t="40456" x="3748088" y="5534025"/>
          <p14:tracePt t="40473" x="3740150" y="5541963"/>
          <p14:tracePt t="40490" x="3732213" y="5549900"/>
          <p14:tracePt t="40508" x="3732213" y="5557838"/>
          <p14:tracePt t="40523" x="3724275" y="5565775"/>
          <p14:tracePt t="40540" x="3716338" y="5565775"/>
          <p14:tracePt t="40556" x="3708400" y="5581650"/>
          <p14:tracePt t="40574" x="3692525" y="5597525"/>
          <p14:tracePt t="40591" x="3684588" y="5613400"/>
          <p14:tracePt t="40609" x="3676650" y="5637213"/>
          <p14:tracePt t="40624" x="3660775" y="5653088"/>
          <p14:tracePt t="40641" x="3660775" y="5662613"/>
          <p14:tracePt t="40655" x="3651250" y="5678488"/>
          <p14:tracePt t="40673" x="3651250" y="5702300"/>
          <p14:tracePt t="40691" x="3651250" y="5726113"/>
          <p14:tracePt t="40705" x="3651250" y="5749925"/>
          <p14:tracePt t="40723" x="3660775" y="5805488"/>
          <p14:tracePt t="40740" x="3660775" y="5829300"/>
          <p14:tracePt t="40758" x="3676650" y="5868988"/>
          <p14:tracePt t="40772" x="3700463" y="5900738"/>
          <p14:tracePt t="40791" x="3724275" y="5932488"/>
          <p14:tracePt t="40806" x="3740150" y="5964238"/>
          <p14:tracePt t="40823" x="3787775" y="6005513"/>
          <p14:tracePt t="40845" x="3835400" y="6045200"/>
          <p14:tracePt t="40856" x="3859213" y="6061075"/>
          <p14:tracePt t="40877" x="3914775" y="6092825"/>
          <p14:tracePt t="40892" x="3962400" y="6108700"/>
          <p14:tracePt t="40907" x="4051300" y="6132513"/>
          <p14:tracePt t="40923" x="4106863" y="6140450"/>
          <p14:tracePt t="40943" x="4217988" y="6140450"/>
          <p14:tracePt t="40957" x="4273550" y="6124575"/>
          <p14:tracePt t="40973" x="4344988" y="6100763"/>
          <p14:tracePt t="40993" x="4402138" y="6069013"/>
          <p14:tracePt t="41007" x="4481513" y="6005513"/>
          <p14:tracePt t="41024" x="4529138" y="5956300"/>
          <p14:tracePt t="41040" x="4576763" y="5884863"/>
          <p14:tracePt t="41057" x="4624388" y="5765800"/>
          <p14:tracePt t="41073" x="4672013" y="5678488"/>
          <p14:tracePt t="41089" x="4705350" y="5573713"/>
          <p14:tracePt t="41106" x="4721225" y="5494338"/>
          <p14:tracePt t="41124" x="4729163" y="5422900"/>
          <p14:tracePt t="41139" x="4737100" y="5383213"/>
          <p14:tracePt t="41157" x="4737100" y="5351463"/>
          <p14:tracePt t="41172" x="4737100" y="5335588"/>
          <p14:tracePt t="41191" x="4729163" y="5319713"/>
          <p14:tracePt t="41208" x="4705350" y="5278438"/>
          <p14:tracePt t="41223" x="4672013" y="5262563"/>
          <p14:tracePt t="41240" x="4640263" y="5246688"/>
          <p14:tracePt t="41256" x="4600575" y="5222875"/>
          <p14:tracePt t="41273" x="4552950" y="5207000"/>
          <p14:tracePt t="41289" x="4505325" y="5199063"/>
          <p14:tracePt t="41307" x="4465638" y="5191125"/>
          <p14:tracePt t="41323" x="4425950" y="5183188"/>
          <p14:tracePt t="41340" x="4394200" y="5175250"/>
          <p14:tracePt t="41359" x="4337050" y="5175250"/>
          <p14:tracePt t="41374" x="4297363" y="5175250"/>
          <p14:tracePt t="41390" x="4249738" y="5183188"/>
          <p14:tracePt t="41406" x="4194175" y="5199063"/>
          <p14:tracePt t="41422" x="4154488" y="5214938"/>
          <p14:tracePt t="41441" x="4106863" y="5230813"/>
          <p14:tracePt t="41457" x="4051300" y="5262563"/>
          <p14:tracePt t="41473" x="3994150" y="5302250"/>
          <p14:tracePt t="41489" x="3938588" y="5351463"/>
          <p14:tracePt t="41506" x="3890963" y="5414963"/>
          <p14:tracePt t="41523" x="3827463" y="5510213"/>
          <p14:tracePt t="41539" x="3803650" y="5557838"/>
          <p14:tracePt t="41555" x="3787775" y="5605463"/>
          <p14:tracePt t="41573" x="3771900" y="5670550"/>
          <p14:tracePt t="41589" x="3771900" y="5710238"/>
          <p14:tracePt t="41607" x="3771900" y="5765800"/>
          <p14:tracePt t="41625" x="3779838" y="5813425"/>
          <p14:tracePt t="41639" x="3787775" y="5853113"/>
          <p14:tracePt t="41657" x="3827463" y="5924550"/>
          <p14:tracePt t="41672" x="3859213" y="5956300"/>
          <p14:tracePt t="41690" x="3890963" y="5995988"/>
          <p14:tracePt t="41707" x="3978275" y="6061075"/>
          <p14:tracePt t="41722" x="4051300" y="6100763"/>
          <p14:tracePt t="41741" x="4130675" y="6132513"/>
          <p14:tracePt t="41744" x="4186238" y="6148388"/>
          <p14:tracePt t="41761" x="4289425" y="6164263"/>
          <p14:tracePt t="41764" x="4344988" y="6172200"/>
          <p14:tracePt t="41772" x="4402138" y="6172200"/>
          <p14:tracePt t="41790" x="4513263" y="6172200"/>
          <p14:tracePt t="41814" x="4687888" y="6132513"/>
          <p14:tracePt t="41822" x="4713288" y="6116638"/>
          <p14:tracePt t="41840" x="4752975" y="6092825"/>
          <p14:tracePt t="41856" x="4776788" y="6053138"/>
          <p14:tracePt t="41874" x="4784725" y="6037263"/>
          <p14:tracePt t="42493" x="4768850" y="6045200"/>
          <p14:tracePt t="42499" x="4760913" y="6069013"/>
          <p14:tracePt t="42507" x="4745038" y="6076950"/>
          <p14:tracePt t="42523" x="4713288" y="6092825"/>
          <p14:tracePt t="42539" x="4672013" y="6116638"/>
          <p14:tracePt t="42556" x="4600575" y="6140450"/>
          <p14:tracePt t="42573" x="4560888" y="6140450"/>
          <p14:tracePt t="42589" x="4505325" y="6156325"/>
          <p14:tracePt t="42607" x="4433888" y="6156325"/>
          <p14:tracePt t="42622" x="4386263" y="6156325"/>
          <p14:tracePt t="42639" x="4344988" y="6156325"/>
          <p14:tracePt t="42657" x="4297363" y="6156325"/>
          <p14:tracePt t="42672" x="4265613" y="6140450"/>
          <p14:tracePt t="42689" x="4233863" y="6116638"/>
          <p14:tracePt t="42706" x="4162425" y="6029325"/>
          <p14:tracePt t="42724" x="4122738" y="5956300"/>
          <p14:tracePt t="42739" x="4090988" y="5884863"/>
          <p14:tracePt t="42756" x="4059238" y="5821363"/>
          <p14:tracePt t="42773" x="4043363" y="5773738"/>
          <p14:tracePt t="42792" x="4043363" y="5718175"/>
          <p14:tracePt t="42807" x="4043363" y="5653088"/>
          <p14:tracePt t="42822" x="4075113" y="5565775"/>
          <p14:tracePt t="42839" x="4122738" y="5454650"/>
          <p14:tracePt t="42860" x="4210050" y="5294313"/>
          <p14:tracePt t="42876" x="4273550" y="5230813"/>
          <p14:tracePt t="42878" x="4297363" y="5191125"/>
          <p14:tracePt t="42897" x="4352925" y="5151438"/>
          <p14:tracePt t="42900" x="4394200" y="5135563"/>
          <p14:tracePt t="42907" x="4441825" y="5135563"/>
          <p14:tracePt t="42924" x="4529138" y="5119688"/>
          <p14:tracePt t="42940" x="4640263" y="5111750"/>
          <p14:tracePt t="42957" x="4816475" y="5151438"/>
          <p14:tracePt t="42973" x="4927600" y="5214938"/>
          <p14:tracePt t="42990" x="5022850" y="5286375"/>
          <p14:tracePt t="43007" x="5159375" y="5414963"/>
          <p14:tracePt t="43023" x="5214938" y="5502275"/>
          <p14:tracePt t="43041" x="5262563" y="5605463"/>
          <p14:tracePt t="43056" x="5270500" y="5670550"/>
          <p14:tracePt t="43073" x="5278438" y="5741988"/>
          <p14:tracePt t="43090" x="5278438" y="5805488"/>
          <p14:tracePt t="43108" x="5270500" y="5868988"/>
          <p14:tracePt t="43125" x="5254625" y="5900738"/>
          <p14:tracePt t="43140" x="5238750" y="5924550"/>
          <p14:tracePt t="43157" x="5230813" y="5924550"/>
          <p14:tracePt t="43173" x="5214938" y="5924550"/>
          <p14:tracePt t="44045" x="5127625" y="5940425"/>
          <p14:tracePt t="44051" x="5030788" y="5988050"/>
          <p14:tracePt t="44062" x="4927600" y="6013450"/>
          <p14:tracePt t="44072" x="4832350" y="6045200"/>
          <p14:tracePt t="44097" x="4568825" y="6076950"/>
          <p14:tracePt t="44102" x="4410075" y="6076950"/>
          <p14:tracePt t="44109" x="4329113" y="6069013"/>
          <p14:tracePt t="44125" x="4210050" y="6037263"/>
          <p14:tracePt t="44140" x="4106863" y="5972175"/>
          <p14:tracePt t="44159" x="4027488" y="5900738"/>
          <p14:tracePt t="44174" x="3946525" y="5765800"/>
          <p14:tracePt t="44191" x="3914775" y="5637213"/>
          <p14:tracePt t="44208" x="3898900" y="5494338"/>
          <p14:tracePt t="44211" x="3898900" y="5430838"/>
          <p14:tracePt t="44224" x="3898900" y="5302250"/>
          <p14:tracePt t="44239" x="3906838" y="5214938"/>
          <p14:tracePt t="44256" x="3914775" y="5159375"/>
          <p14:tracePt t="44273" x="3930650" y="5111750"/>
          <p14:tracePt t="44276" x="3938588" y="5095875"/>
          <p14:tracePt t="44291" x="3970338" y="5064125"/>
          <p14:tracePt t="44297" x="3986213" y="5048250"/>
          <p14:tracePt t="44302" x="4011613" y="5032375"/>
          <p14:tracePt t="44312" x="4035425" y="5024438"/>
          <p14:tracePt t="44322" x="4075113" y="5008563"/>
          <p14:tracePt t="44343" x="4225925" y="5008563"/>
          <p14:tracePt t="44361" x="4425950" y="5143500"/>
          <p14:tracePt t="44376" x="4568825" y="5319713"/>
          <p14:tracePt t="44381" x="4640263" y="5422900"/>
          <p14:tracePt t="44390" x="4679950" y="5526088"/>
          <p14:tracePt t="44406" x="4784725" y="5781675"/>
          <p14:tracePt t="44423" x="4816475" y="5995988"/>
          <p14:tracePt t="44443" x="4792663" y="6235700"/>
          <p14:tracePt t="44445" x="4760913" y="6291263"/>
          <p14:tracePt t="44456" x="4729163" y="6338888"/>
          <p14:tracePt t="44473" x="4624388" y="6427788"/>
          <p14:tracePt t="44497" x="4457700" y="6491288"/>
          <p14:tracePt t="44504" x="4352925" y="6491288"/>
          <p14:tracePt t="44513" x="4297363" y="6483350"/>
          <p14:tracePt t="44523" x="4249738" y="6467475"/>
          <p14:tracePt t="44540" x="4098925" y="6348413"/>
          <p14:tracePt t="44561" x="4043363" y="6203950"/>
          <p14:tracePt t="44565" x="4019550" y="6124575"/>
          <p14:tracePt t="44579" x="4002088" y="5932488"/>
          <p14:tracePt t="44582" x="4002088" y="5829300"/>
          <p14:tracePt t="44591" x="4011613" y="5710238"/>
          <p14:tracePt t="44607" x="4075113" y="5478463"/>
          <p14:tracePt t="44626" x="4233863" y="5199063"/>
          <p14:tracePt t="44641" x="4394200" y="5072063"/>
          <p14:tracePt t="44656" x="4584700" y="5000625"/>
          <p14:tracePt t="44678" x="4872038" y="5000625"/>
          <p14:tracePt t="44696" x="5022850" y="5080000"/>
          <p14:tracePt t="44700" x="5087938" y="5135563"/>
          <p14:tracePt t="44706" x="5135563" y="5199063"/>
          <p14:tracePt t="44726" x="5230813" y="5486400"/>
          <p14:tracePt t="44740" x="5238750" y="5710238"/>
          <p14:tracePt t="44756" x="5214938" y="5908675"/>
          <p14:tracePt t="44773" x="5159375" y="6084888"/>
          <p14:tracePt t="44790" x="5038725" y="6251575"/>
          <p14:tracePt t="44814" x="4895850" y="6323013"/>
          <p14:tracePt t="44822" x="4864100" y="6338888"/>
          <p14:tracePt t="44842" x="4721225" y="6291263"/>
          <p14:tracePt t="44857" x="4640263" y="6203950"/>
          <p14:tracePt t="45322" x="4687888" y="6203950"/>
          <p14:tracePt t="45328" x="4760913" y="6180138"/>
          <p14:tracePt t="45340" x="4848225" y="6172200"/>
          <p14:tracePt t="45344" x="4943475" y="6156325"/>
          <p14:tracePt t="45361" x="5175250" y="6108700"/>
          <p14:tracePt t="45364" x="5326063" y="6076950"/>
          <p14:tracePt t="45375" x="5478463" y="6037263"/>
          <p14:tracePt t="45390" x="5853113" y="5916613"/>
          <p14:tracePt t="45393" x="6083300" y="5853113"/>
          <p14:tracePt t="45407" x="6570663" y="5686425"/>
          <p14:tracePt t="45424" x="7072313" y="5526088"/>
          <p14:tracePt t="45428" x="7288213" y="5462588"/>
          <p14:tracePt t="45443" x="7694613" y="5359400"/>
          <p14:tracePt t="45458" x="7950200" y="5310188"/>
          <p14:tracePt t="45473" x="8132763" y="5278438"/>
          <p14:tracePt t="45490" x="8237538" y="5262563"/>
          <p14:tracePt t="45492" x="8261350" y="5254625"/>
          <p14:tracePt t="45506" x="8269288" y="5254625"/>
          <p14:tracePt t="45522" x="8277225" y="5254625"/>
          <p14:tracePt t="45541" x="8172450" y="5278438"/>
          <p14:tracePt t="45765" x="8348663" y="5159375"/>
          <p14:tracePt t="45771" x="8612188" y="5000625"/>
          <p14:tracePt t="45778" x="8907463" y="4832350"/>
          <p14:tracePt t="45788" x="9201150" y="4689475"/>
          <p14:tracePt t="45808" x="10126663" y="4338638"/>
          <p14:tracePt t="45822" x="10406063" y="4233863"/>
          <p14:tracePt t="45840" x="11099800" y="4043363"/>
          <p14:tracePt t="45857" x="11577638" y="3948113"/>
          <p14:tracePt t="45876" x="11769725" y="3930650"/>
          <p14:tracePt t="45879" x="11833225" y="3930650"/>
          <p14:tracePt t="45888" x="11896725" y="3922713"/>
          <p14:tracePt t="45906" x="11976100" y="3906838"/>
          <p14:tracePt t="45923" x="11999913" y="3898900"/>
          <p14:tracePt t="46154" x="12080875" y="3875088"/>
          <p14:tracePt t="46162" x="12184063" y="3843338"/>
        </p14:tracePtLst>
      </p14:laserTraceLst>
    </p:ext>
  </p:extLs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43BDBE-2546-6E15-3A80-15B941BACD37}"/>
              </a:ext>
            </a:extLst>
          </p:cNvPr>
          <p:cNvSpPr>
            <a:spLocks noGrp="1"/>
          </p:cNvSpPr>
          <p:nvPr>
            <p:ph type="title"/>
          </p:nvPr>
        </p:nvSpPr>
        <p:spPr/>
        <p:txBody>
          <a:bodyPr/>
          <a:lstStyle/>
          <a:p>
            <a:pPr algn="ctr"/>
            <a:r>
              <a:rPr lang="en-US" b="1" dirty="0">
                <a:solidFill>
                  <a:srgbClr val="002060"/>
                </a:solidFill>
              </a:rPr>
              <a:t>Existing Limitations and Research Gap</a:t>
            </a:r>
          </a:p>
        </p:txBody>
      </p:sp>
      <p:sp>
        <p:nvSpPr>
          <p:cNvPr id="8" name="Rectangle 4">
            <a:extLst>
              <a:ext uri="{FF2B5EF4-FFF2-40B4-BE49-F238E27FC236}">
                <a16:creationId xmlns:a16="http://schemas.microsoft.com/office/drawing/2014/main" id="{7592E5FA-D4B0-9911-3078-97463B1323E1}"/>
              </a:ext>
            </a:extLst>
          </p:cNvPr>
          <p:cNvSpPr>
            <a:spLocks noGrp="1" noChangeArrowheads="1"/>
          </p:cNvSpPr>
          <p:nvPr>
            <p:ph idx="1"/>
          </p:nvPr>
        </p:nvSpPr>
        <p:spPr bwMode="auto">
          <a:xfrm>
            <a:off x="629856" y="4072305"/>
            <a:ext cx="10515600" cy="203132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rgbClr val="002060"/>
                </a:solidFill>
                <a:effectLst/>
                <a:latin typeface="+mn-lt"/>
              </a:rPr>
              <a:t>Cryptographic Approaches (HE, SMPC):</a:t>
            </a:r>
            <a:r>
              <a:rPr kumimoji="0" lang="en-US" altLang="en-US" sz="1800" b="0" i="0" u="none" strike="noStrike" cap="none" normalizeH="0" baseline="0" dirty="0">
                <a:ln>
                  <a:noFill/>
                </a:ln>
                <a:solidFill>
                  <a:srgbClr val="303030"/>
                </a:solidFill>
                <a:effectLst/>
                <a:latin typeface="+mn-lt"/>
              </a:rPr>
              <a:t>Offer strong privacy but impose significant computational overhead and latency (e.g., 1000x slower).</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rgbClr val="002060"/>
                </a:solidFill>
                <a:effectLst/>
                <a:latin typeface="+mn-lt"/>
              </a:rPr>
              <a:t>Perturbation Methods (DP):</a:t>
            </a:r>
            <a:r>
              <a:rPr kumimoji="0" lang="en-US" altLang="en-US" sz="1800" b="0" i="0" u="none" strike="noStrike" cap="none" normalizeH="0" baseline="0" dirty="0">
                <a:ln>
                  <a:noFill/>
                </a:ln>
                <a:solidFill>
                  <a:srgbClr val="002060"/>
                </a:solidFill>
                <a:effectLst/>
                <a:latin typeface="+mn-lt"/>
              </a:rPr>
              <a:t> </a:t>
            </a:r>
            <a:r>
              <a:rPr kumimoji="0" lang="en-US" altLang="en-US" sz="1800" b="0" i="0" u="none" strike="noStrike" cap="none" normalizeH="0" baseline="0" dirty="0">
                <a:ln>
                  <a:noFill/>
                </a:ln>
                <a:solidFill>
                  <a:srgbClr val="303030"/>
                </a:solidFill>
                <a:effectLst/>
                <a:latin typeface="+mn-lt"/>
              </a:rPr>
              <a:t>Improve scalability but struggle with the privacy-utility trade-off, often leading to diminished accuracy and unreliable outputs.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err="1">
                <a:ln>
                  <a:noFill/>
                </a:ln>
                <a:solidFill>
                  <a:srgbClr val="002060"/>
                </a:solidFill>
                <a:effectLst/>
                <a:latin typeface="+mn-lt"/>
              </a:rPr>
              <a:t>SnD</a:t>
            </a:r>
            <a:r>
              <a:rPr kumimoji="0" lang="en-US" altLang="en-US" sz="1800" b="1" i="0" u="none" strike="noStrike" cap="none" normalizeH="0" baseline="0" dirty="0">
                <a:ln>
                  <a:noFill/>
                </a:ln>
                <a:solidFill>
                  <a:srgbClr val="002060"/>
                </a:solidFill>
                <a:effectLst/>
                <a:latin typeface="+mn-lt"/>
              </a:rPr>
              <a:t> Framework:</a:t>
            </a:r>
            <a:r>
              <a:rPr kumimoji="0" lang="en-US" altLang="en-US" sz="1800" b="0" i="0" u="none" strike="noStrike" cap="none" normalizeH="0" baseline="0" dirty="0">
                <a:ln>
                  <a:noFill/>
                </a:ln>
                <a:solidFill>
                  <a:srgbClr val="002060"/>
                </a:solidFill>
                <a:effectLst/>
                <a:latin typeface="+mn-lt"/>
              </a:rPr>
              <a:t> </a:t>
            </a:r>
            <a:r>
              <a:rPr kumimoji="0" lang="en-US" altLang="en-US" sz="1800" b="0" i="0" u="none" strike="noStrike" cap="none" normalizeH="0" baseline="0" dirty="0">
                <a:ln>
                  <a:noFill/>
                </a:ln>
                <a:solidFill>
                  <a:srgbClr val="303030"/>
                </a:solidFill>
                <a:effectLst/>
                <a:latin typeface="+mn-lt"/>
              </a:rPr>
              <a:t>Lacks way to identify PII data effectively, risking leakage of identifiable entities.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rgbClr val="002060"/>
                </a:solidFill>
                <a:effectLst/>
                <a:latin typeface="+mn-lt"/>
              </a:rPr>
              <a:t>Gap:</a:t>
            </a:r>
            <a:r>
              <a:rPr kumimoji="0" lang="en-US" altLang="en-US" sz="1800" b="0" i="0" u="none" strike="noStrike" cap="none" normalizeH="0" baseline="0" dirty="0">
                <a:ln>
                  <a:noFill/>
                </a:ln>
                <a:solidFill>
                  <a:srgbClr val="002060"/>
                </a:solidFill>
                <a:effectLst/>
                <a:latin typeface="+mn-lt"/>
              </a:rPr>
              <a:t> </a:t>
            </a:r>
            <a:r>
              <a:rPr kumimoji="0" lang="en-US" altLang="en-US" sz="1800" b="0" i="0" u="none" strike="noStrike" cap="none" normalizeH="0" baseline="0" dirty="0">
                <a:ln>
                  <a:noFill/>
                </a:ln>
                <a:solidFill>
                  <a:srgbClr val="303030"/>
                </a:solidFill>
                <a:effectLst/>
                <a:latin typeface="+mn-lt"/>
              </a:rPr>
              <a:t>Need for a robust, practical, and efficient client-side solution that guarantees privacy (PII data) and balances model performance</a:t>
            </a:r>
            <a:r>
              <a:rPr lang="en-US" altLang="en-US" sz="1800" dirty="0">
                <a:latin typeface="+mn-lt"/>
              </a:rPr>
              <a:t>.</a:t>
            </a:r>
            <a:endParaRPr kumimoji="0" lang="en-US" altLang="en-US" sz="1800" b="0" i="0" u="none" strike="noStrike" cap="none" normalizeH="0" baseline="0" dirty="0">
              <a:ln>
                <a:noFill/>
              </a:ln>
              <a:solidFill>
                <a:schemeClr val="tx1"/>
              </a:solidFill>
              <a:effectLst/>
              <a:latin typeface="+mn-lt"/>
            </a:endParaRPr>
          </a:p>
        </p:txBody>
      </p:sp>
      <p:pic>
        <p:nvPicPr>
          <p:cNvPr id="7" name="Picture 6">
            <a:extLst>
              <a:ext uri="{FF2B5EF4-FFF2-40B4-BE49-F238E27FC236}">
                <a16:creationId xmlns:a16="http://schemas.microsoft.com/office/drawing/2014/main" id="{68DFAB82-9CFA-6B98-3EF1-B6D113ECA8E6}"/>
              </a:ext>
            </a:extLst>
          </p:cNvPr>
          <p:cNvPicPr>
            <a:picLocks noChangeAspect="1"/>
          </p:cNvPicPr>
          <p:nvPr/>
        </p:nvPicPr>
        <p:blipFill>
          <a:blip r:embed="rId3"/>
          <a:stretch>
            <a:fillRect/>
          </a:stretch>
        </p:blipFill>
        <p:spPr>
          <a:xfrm>
            <a:off x="2365577" y="1689375"/>
            <a:ext cx="7460846" cy="1828271"/>
          </a:xfrm>
          <a:prstGeom prst="rect">
            <a:avLst/>
          </a:prstGeom>
        </p:spPr>
      </p:pic>
      <p:sp>
        <p:nvSpPr>
          <p:cNvPr id="9" name="TextBox 8">
            <a:extLst>
              <a:ext uri="{FF2B5EF4-FFF2-40B4-BE49-F238E27FC236}">
                <a16:creationId xmlns:a16="http://schemas.microsoft.com/office/drawing/2014/main" id="{A2861ADC-A3FB-DEDE-1C7B-D1944F753B0B}"/>
              </a:ext>
            </a:extLst>
          </p:cNvPr>
          <p:cNvSpPr txBox="1"/>
          <p:nvPr/>
        </p:nvSpPr>
        <p:spPr>
          <a:xfrm>
            <a:off x="5372583" y="3610309"/>
            <a:ext cx="1030146" cy="369332"/>
          </a:xfrm>
          <a:prstGeom prst="rect">
            <a:avLst/>
          </a:prstGeom>
          <a:noFill/>
        </p:spPr>
        <p:txBody>
          <a:bodyPr wrap="square" rtlCol="0">
            <a:spAutoFit/>
          </a:bodyPr>
          <a:lstStyle/>
          <a:p>
            <a:r>
              <a:rPr lang="en-US" b="1" dirty="0"/>
              <a:t>Figure: 3</a:t>
            </a:r>
          </a:p>
        </p:txBody>
      </p:sp>
    </p:spTree>
    <p:extLst>
      <p:ext uri="{BB962C8B-B14F-4D97-AF65-F5344CB8AC3E}">
        <p14:creationId xmlns:p14="http://schemas.microsoft.com/office/powerpoint/2010/main" val="3379031273"/>
      </p:ext>
    </p:extLst>
  </p:cSld>
  <p:clrMapOvr>
    <a:masterClrMapping/>
  </p:clrMapOvr>
  <mc:AlternateContent xmlns:mc="http://schemas.openxmlformats.org/markup-compatibility/2006" xmlns:p14="http://schemas.microsoft.com/office/powerpoint/2010/main">
    <mc:Choice Requires="p14">
      <p:transition spd="slow" p14:dur="2000" advTm="85776"/>
    </mc:Choice>
    <mc:Fallback xmlns="">
      <p:transition spd="slow" advTm="85776"/>
    </mc:Fallback>
  </mc:AlternateContent>
  <p:extLst>
    <p:ext uri="{3A86A75C-4F4B-4683-9AE1-C65F6400EC91}">
      <p14:laserTraceLst xmlns:p14="http://schemas.microsoft.com/office/powerpoint/2010/main">
        <p14:tracePtLst>
          <p14:tracePt t="17714" x="11825288" y="2798763"/>
          <p14:tracePt t="17721" x="11601450" y="2624138"/>
          <p14:tracePt t="17729" x="11379200" y="2439988"/>
          <p14:tracePt t="17741" x="11115675" y="2233613"/>
          <p14:tracePt t="17761" x="10429875" y="1611313"/>
          <p14:tracePt t="17773" x="10023475" y="1236663"/>
          <p14:tracePt t="17792" x="9520238" y="828675"/>
          <p14:tracePt t="17808" x="9337675" y="693738"/>
          <p14:tracePt t="17824" x="9209088" y="598488"/>
          <p14:tracePt t="17843" x="9145588" y="542925"/>
          <p14:tracePt t="17845" x="9121775" y="519113"/>
          <p14:tracePt t="17858" x="9097963" y="461963"/>
          <p14:tracePt t="17875" x="9097963" y="430213"/>
          <p14:tracePt t="18246" x="9058275" y="422275"/>
          <p14:tracePt t="18252" x="9002713" y="406400"/>
          <p14:tracePt t="18258" x="8947150" y="390525"/>
          <p14:tracePt t="18274" x="8858250" y="358775"/>
          <p14:tracePt t="18290" x="8755063" y="319088"/>
          <p14:tracePt t="18307" x="8651875" y="295275"/>
          <p14:tracePt t="18326" x="8523288" y="239713"/>
          <p14:tracePt t="18340" x="8451850" y="200025"/>
          <p14:tracePt t="18361" x="8332788" y="158750"/>
          <p14:tracePt t="18367" x="8293100" y="142875"/>
          <p14:tracePt t="18374" x="8261350" y="134938"/>
          <p14:tracePt t="18396" x="8172450" y="111125"/>
          <p14:tracePt t="18408" x="8156575" y="103188"/>
          <p14:tracePt t="18410" x="8132763" y="95250"/>
          <p14:tracePt t="18428" x="8085138" y="87313"/>
          <p14:tracePt t="18430" x="8069263" y="79375"/>
          <p14:tracePt t="18818" x="7839075" y="358775"/>
          <p14:tracePt t="18823" x="7839075" y="366713"/>
          <p14:tracePt t="18831" x="7847013" y="366713"/>
          <p14:tracePt t="18840" x="7854950" y="366713"/>
          <p14:tracePt t="18860" x="7878763" y="382588"/>
          <p14:tracePt t="18875" x="7886700" y="382588"/>
          <p14:tracePt t="18893" x="7902575" y="390525"/>
          <p14:tracePt t="18910" x="7910513" y="390525"/>
          <p14:tracePt t="18933" x="7918450" y="390525"/>
          <p14:tracePt t="18951" x="7926388" y="390525"/>
          <p14:tracePt t="18959" x="7934325" y="390525"/>
          <p14:tracePt t="18975" x="7942263" y="390525"/>
          <p14:tracePt t="19003" x="7950200" y="390525"/>
          <p14:tracePt t="19011" x="7950200" y="382588"/>
          <p14:tracePt t="19059" x="7958138" y="382588"/>
          <p14:tracePt t="19074" x="7966075" y="374650"/>
          <p14:tracePt t="19089" x="7966075" y="366713"/>
          <p14:tracePt t="19096" x="7966075" y="358775"/>
          <p14:tracePt t="19109" x="7974013" y="358775"/>
          <p14:tracePt t="21182" x="7607300" y="454025"/>
          <p14:tracePt t="21190" x="7423150" y="542925"/>
          <p14:tracePt t="21209" x="6937375" y="820738"/>
          <p14:tracePt t="21225" x="5995988" y="1419225"/>
          <p14:tracePt t="21240" x="5318125" y="1881188"/>
          <p14:tracePt t="21257" x="4672013" y="2312988"/>
          <p14:tracePt t="21276" x="3803650" y="2838450"/>
          <p14:tracePt t="21290" x="3341688" y="3062288"/>
          <p14:tracePt t="21306" x="3014663" y="3213100"/>
          <p14:tracePt t="21325" x="2774950" y="3309938"/>
          <p14:tracePt t="21342" x="2687638" y="3341688"/>
          <p14:tracePt t="21359" x="2655888" y="3349625"/>
          <p14:tracePt t="21362" x="2647950" y="3349625"/>
          <p14:tracePt t="21375" x="2647950" y="3333750"/>
          <p14:tracePt t="21638" x="2559050" y="3421063"/>
          <p14:tracePt t="21645" x="2439988" y="3579813"/>
          <p14:tracePt t="21657" x="2320925" y="3740150"/>
          <p14:tracePt t="21683" x="1873250" y="4265613"/>
          <p14:tracePt t="21692" x="1809750" y="4362450"/>
          <p14:tracePt t="21710" x="1674813" y="4545013"/>
          <p14:tracePt t="21724" x="1643063" y="4600575"/>
          <p14:tracePt t="21743" x="1627188" y="4624388"/>
          <p14:tracePt t="21758" x="1619250" y="4641850"/>
          <p14:tracePt t="21776" x="1619250" y="4657725"/>
          <p14:tracePt t="21790" x="1619250" y="4665663"/>
          <p14:tracePt t="21807" x="1619250" y="4673600"/>
          <p14:tracePt t="21825" x="1619250" y="4713288"/>
          <p14:tracePt t="21843" x="1627188" y="4745038"/>
          <p14:tracePt t="21845" x="1635125" y="4768850"/>
          <p14:tracePt t="21858" x="1635125" y="4800600"/>
          <p14:tracePt t="21875" x="1643063" y="4856163"/>
          <p14:tracePt t="21893" x="1643063" y="4887913"/>
          <p14:tracePt t="21908" x="1643063" y="4919663"/>
          <p14:tracePt t="21910" x="1643063" y="4927600"/>
          <p14:tracePt t="21927" x="1627188" y="4951413"/>
          <p14:tracePt t="21941" x="1603375" y="4976813"/>
          <p14:tracePt t="21958" x="1579563" y="5000625"/>
          <p14:tracePt t="21975" x="1522413" y="5024438"/>
          <p14:tracePt t="21991" x="1490663" y="5040313"/>
          <p14:tracePt t="22007" x="1458913" y="5040313"/>
          <p14:tracePt t="22024" x="1435100" y="5040313"/>
          <p14:tracePt t="22026" x="1427163" y="5040313"/>
          <p14:tracePt t="22041" x="1403350" y="5040313"/>
          <p14:tracePt t="22058" x="1387475" y="5040313"/>
          <p14:tracePt t="22074" x="1379538" y="5032375"/>
          <p14:tracePt t="22091" x="1371600" y="5032375"/>
          <p14:tracePt t="22131" x="1371600" y="5024438"/>
          <p14:tracePt t="22151" x="1379538" y="5016500"/>
          <p14:tracePt t="22159" x="1395413" y="5008563"/>
          <p14:tracePt t="22177" x="1450975" y="4984750"/>
          <p14:tracePt t="22191" x="1562100" y="4959350"/>
          <p14:tracePt t="22208" x="1722438" y="4935538"/>
          <p14:tracePt t="22225" x="2025650" y="4895850"/>
          <p14:tracePt t="22230" x="2152650" y="4887913"/>
          <p14:tracePt t="22241" x="2281238" y="4856163"/>
          <p14:tracePt t="22257" x="2559050" y="4824413"/>
          <p14:tracePt t="22274" x="2790825" y="4784725"/>
          <p14:tracePt t="22275" x="2894013" y="4776788"/>
          <p14:tracePt t="22293" x="3109913" y="4752975"/>
          <p14:tracePt t="22295" x="3205163" y="4745038"/>
          <p14:tracePt t="22308" x="3357563" y="4737100"/>
          <p14:tracePt t="22324" x="3468688" y="4737100"/>
          <p14:tracePt t="22341" x="3556000" y="4737100"/>
          <p14:tracePt t="22360" x="3603625" y="4737100"/>
          <p14:tracePt t="22374" x="3611563" y="4737100"/>
          <p14:tracePt t="22391" x="3595688" y="4673600"/>
          <p14:tracePt t="22625" x="3660775" y="4657725"/>
          <p14:tracePt t="22633" x="3748088" y="4649788"/>
          <p14:tracePt t="22640" x="3835400" y="4633913"/>
          <p14:tracePt t="22657" x="3994150" y="4600575"/>
          <p14:tracePt t="22675" x="4194175" y="4584700"/>
          <p14:tracePt t="22691" x="4265613" y="4584700"/>
          <p14:tracePt t="22707" x="4337050" y="4576763"/>
          <p14:tracePt t="22725" x="4402138" y="4568825"/>
          <p14:tracePt t="22740" x="4433888" y="4568825"/>
          <p14:tracePt t="22757" x="4441825" y="4568825"/>
          <p14:tracePt t="22776" x="4457700" y="4568825"/>
          <p14:tracePt t="22855" x="4465638" y="4568825"/>
          <p14:tracePt t="31122" x="4513263" y="4568825"/>
          <p14:tracePt t="31130" x="4584700" y="4568825"/>
          <p14:tracePt t="31143" x="4745038" y="4568825"/>
          <p14:tracePt t="31158" x="4903788" y="4568825"/>
          <p14:tracePt t="31175" x="5080000" y="4576763"/>
          <p14:tracePt t="31194" x="5326063" y="4592638"/>
          <p14:tracePt t="31208" x="5397500" y="4600575"/>
          <p14:tracePt t="31211" x="5470525" y="4608513"/>
          <p14:tracePt t="31224" x="5621338" y="4608513"/>
          <p14:tracePt t="31242" x="5749925" y="4616450"/>
          <p14:tracePt t="31259" x="5916613" y="4624388"/>
          <p14:tracePt t="31275" x="5995988" y="4624388"/>
          <p14:tracePt t="31295" x="6100763" y="4624388"/>
          <p14:tracePt t="31301" x="6124575" y="4624388"/>
          <p14:tracePt t="31309" x="6140450" y="4624388"/>
          <p14:tracePt t="31324" x="6164263" y="4624388"/>
          <p14:tracePt t="31341" x="6180138" y="4624388"/>
          <p14:tracePt t="31359" x="6188075" y="4624388"/>
          <p14:tracePt t="33281" x="6140450" y="4633913"/>
          <p14:tracePt t="33288" x="6051550" y="4649788"/>
          <p14:tracePt t="33297" x="5964238" y="4665663"/>
          <p14:tracePt t="33307" x="5876925" y="4697413"/>
          <p14:tracePt t="33324" x="5581650" y="4752975"/>
          <p14:tracePt t="33342" x="5373688" y="4800600"/>
          <p14:tracePt t="33360" x="5014913" y="4887913"/>
          <p14:tracePt t="33376" x="4745038" y="4976813"/>
          <p14:tracePt t="33390" x="4481513" y="5064125"/>
          <p14:tracePt t="33410" x="4186238" y="5159375"/>
          <p14:tracePt t="33425" x="4019550" y="5199063"/>
          <p14:tracePt t="33442" x="3883025" y="5222875"/>
          <p14:tracePt t="33445" x="3827463" y="5230813"/>
          <p14:tracePt t="33457" x="3771900" y="5246688"/>
          <p14:tracePt t="33477" x="3603625" y="5262563"/>
          <p14:tracePt t="33494" x="3516313" y="5270500"/>
          <p14:tracePt t="33495" x="3460750" y="5270500"/>
          <p14:tracePt t="33507" x="3421063" y="5270500"/>
          <p14:tracePt t="33524" x="3244850" y="5270500"/>
          <p14:tracePt t="33543" x="3117850" y="5270500"/>
          <p14:tracePt t="33557" x="2974975" y="5262563"/>
          <p14:tracePt t="33575" x="2743200" y="5254625"/>
          <p14:tracePt t="33591" x="2574925" y="5238750"/>
          <p14:tracePt t="33607" x="2416175" y="5230813"/>
          <p14:tracePt t="33623" x="2255838" y="5230813"/>
          <p14:tracePt t="33641" x="2041525" y="5230813"/>
          <p14:tracePt t="33659" x="1938338" y="5222875"/>
          <p14:tracePt t="33662" x="1897063" y="5214938"/>
          <p14:tracePt t="33678" x="1841500" y="5207000"/>
          <p14:tracePt t="33692" x="1809750" y="5199063"/>
          <p14:tracePt t="33707" x="1809750" y="5183188"/>
          <p14:tracePt t="33726" x="1817688" y="5143500"/>
          <p14:tracePt t="34020" x="1762125" y="5143500"/>
          <p14:tracePt t="34027" x="1698625" y="5143500"/>
          <p14:tracePt t="34042" x="1571625" y="5127625"/>
          <p14:tracePt t="34060" x="1427163" y="5111750"/>
          <p14:tracePt t="34062" x="1371600" y="5103813"/>
          <p14:tracePt t="34074" x="1323975" y="5095875"/>
          <p14:tracePt t="34094" x="1195388" y="5080000"/>
          <p14:tracePt t="34110" x="1123950" y="5064125"/>
          <p14:tracePt t="34113" x="1100138" y="5056188"/>
          <p14:tracePt t="34124" x="1084263" y="5048250"/>
          <p14:tracePt t="34142" x="1028700" y="5032375"/>
          <p14:tracePt t="34158" x="1004888" y="5024438"/>
          <p14:tracePt t="34176" x="981075" y="5016500"/>
          <p14:tracePt t="34177" x="973138" y="5016500"/>
          <p14:tracePt t="34192" x="949325" y="5000625"/>
          <p14:tracePt t="34208" x="933450" y="4992688"/>
          <p14:tracePt t="34224" x="917575" y="4984750"/>
          <p14:tracePt t="34241" x="893763" y="4967288"/>
          <p14:tracePt t="34258" x="877888" y="4967288"/>
          <p14:tracePt t="34275" x="860425" y="4951413"/>
          <p14:tracePt t="34276" x="852488" y="4951413"/>
          <p14:tracePt t="34292" x="836613" y="4943475"/>
          <p14:tracePt t="34307" x="820738" y="4943475"/>
          <p14:tracePt t="34324" x="812800" y="4927600"/>
          <p14:tracePt t="34356" x="804863" y="4927600"/>
          <p14:tracePt t="34471" x="820738" y="4927600"/>
          <p14:tracePt t="34478" x="828675" y="4927600"/>
          <p14:tracePt t="34491" x="836613" y="4935538"/>
          <p14:tracePt t="34509" x="893763" y="4943475"/>
          <p14:tracePt t="34524" x="933450" y="4959350"/>
          <p14:tracePt t="34543" x="1004888" y="4967288"/>
          <p14:tracePt t="34559" x="1052513" y="4967288"/>
          <p14:tracePt t="34576" x="1108075" y="4976813"/>
          <p14:tracePt t="34579" x="1147763" y="4984750"/>
          <p14:tracePt t="34594" x="1211263" y="4984750"/>
          <p14:tracePt t="34608" x="1268413" y="4984750"/>
          <p14:tracePt t="34628" x="1371600" y="4976813"/>
          <p14:tracePt t="34640" x="1403350" y="4976813"/>
          <p14:tracePt t="34660" x="1490663" y="4967288"/>
          <p14:tracePt t="34663" x="1522413" y="4959350"/>
          <p14:tracePt t="34674" x="1554163" y="4951413"/>
          <p14:tracePt t="34692" x="1603375" y="4951413"/>
          <p14:tracePt t="34707" x="1674813" y="4935538"/>
          <p14:tracePt t="34725" x="1714500" y="4935538"/>
          <p14:tracePt t="34744" x="1762125" y="4927600"/>
          <p14:tracePt t="34758" x="1801813" y="4911725"/>
          <p14:tracePt t="34776" x="1833563" y="4911725"/>
          <p14:tracePt t="34779" x="1849438" y="4911725"/>
          <p14:tracePt t="34793" x="1881188" y="4903788"/>
          <p14:tracePt t="34811" x="1905000" y="4903788"/>
          <p14:tracePt t="34814" x="1912938" y="4903788"/>
          <p14:tracePt t="34828" x="1922463" y="4895850"/>
          <p14:tracePt t="34844" x="1930400" y="4895850"/>
          <p14:tracePt t="35476" x="1922463" y="4895850"/>
          <p14:tracePt t="35487" x="1912938" y="4895850"/>
          <p14:tracePt t="35502" x="1905000" y="4895850"/>
          <p14:tracePt t="35586" x="1912938" y="4895850"/>
          <p14:tracePt t="35594" x="1930400" y="4903788"/>
          <p14:tracePt t="35607" x="1946275" y="4903788"/>
          <p14:tracePt t="35626" x="2033588" y="4919663"/>
          <p14:tracePt t="35642" x="2097088" y="4927600"/>
          <p14:tracePt t="35647" x="2136775" y="4935538"/>
          <p14:tracePt t="35650" x="2176463" y="4943475"/>
          <p14:tracePt t="35660" x="2232025" y="4951413"/>
          <p14:tracePt t="35676" x="2312988" y="4959350"/>
          <p14:tracePt t="35695" x="2432050" y="4967288"/>
          <p14:tracePt t="35717" x="2535238" y="4967288"/>
          <p14:tracePt t="35725" x="2559050" y="4967288"/>
          <p14:tracePt t="35742" x="2606675" y="4967288"/>
          <p14:tracePt t="35744" x="2632075" y="4967288"/>
          <p14:tracePt t="35758" x="2647950" y="4943475"/>
          <p14:tracePt t="36081" x="2711450" y="4943475"/>
          <p14:tracePt t="36088" x="2806700" y="4943475"/>
          <p14:tracePt t="36093" x="2901950" y="4943475"/>
          <p14:tracePt t="36110" x="3125788" y="4927600"/>
          <p14:tracePt t="36128" x="3365500" y="4903788"/>
          <p14:tracePt t="36131" x="3468688" y="4879975"/>
          <p14:tracePt t="36142" x="3587750" y="4872038"/>
          <p14:tracePt t="36145" x="3692525" y="4848225"/>
          <p14:tracePt t="36158" x="3906838" y="4808538"/>
          <p14:tracePt t="36185" x="4162425" y="4752975"/>
          <p14:tracePt t="36195" x="4281488" y="4721225"/>
          <p14:tracePt t="36209" x="4362450" y="4689475"/>
          <p14:tracePt t="36226" x="4394200" y="4673600"/>
          <p14:tracePt t="36242" x="4410075" y="4657725"/>
          <p14:tracePt t="36495" x="4473575" y="4600575"/>
          <p14:tracePt t="36500" x="4592638" y="4489450"/>
          <p14:tracePt t="36509" x="4729163" y="4386263"/>
          <p14:tracePt t="36526" x="5038725" y="4146550"/>
          <p14:tracePt t="36543" x="5573713" y="3756025"/>
          <p14:tracePt t="36558" x="5924550" y="3516313"/>
          <p14:tracePt t="36575" x="6259513" y="3309938"/>
          <p14:tracePt t="36591" x="6570663" y="3149600"/>
          <p14:tracePt t="36610" x="6992938" y="2967038"/>
          <p14:tracePt t="36625" x="7177088" y="2909888"/>
          <p14:tracePt t="36643" x="7383463" y="2870200"/>
          <p14:tracePt t="36658" x="7462838" y="2862263"/>
          <p14:tracePt t="36675" x="7504113" y="2862263"/>
          <p14:tracePt t="36692" x="7519988" y="2862263"/>
          <p14:tracePt t="36709" x="7512050" y="2894013"/>
          <p14:tracePt t="36724" x="7478713" y="2927350"/>
          <p14:tracePt t="38556" x="7496175" y="2838450"/>
          <p14:tracePt t="38565" x="7543800" y="2727325"/>
          <p14:tracePt t="38575" x="7646988" y="2471738"/>
          <p14:tracePt t="38593" x="7742238" y="2233613"/>
          <p14:tracePt t="38609" x="7902575" y="1930400"/>
          <p14:tracePt t="38626" x="8013700" y="1722438"/>
          <p14:tracePt t="38644" x="8116888" y="1538288"/>
          <p14:tracePt t="38660" x="8253413" y="1331913"/>
          <p14:tracePt t="38677" x="8316913" y="1236663"/>
          <p14:tracePt t="38692" x="8356600" y="1171575"/>
          <p14:tracePt t="38707" x="8380413" y="1147763"/>
          <p14:tracePt t="38724" x="8396288" y="1108075"/>
          <p14:tracePt t="38745" x="8404225" y="1108075"/>
          <p14:tracePt t="38757" x="8404225" y="1100138"/>
          <p14:tracePt t="38820" x="8388350" y="1116013"/>
          <p14:tracePt t="38825" x="8348663" y="1139825"/>
          <p14:tracePt t="39145" x="8324850" y="1131888"/>
          <p14:tracePt t="39152" x="8308975" y="1116013"/>
          <p14:tracePt t="39159" x="8293100" y="1100138"/>
          <p14:tracePt t="39176" x="8245475" y="1044575"/>
          <p14:tracePt t="39196" x="8172450" y="957263"/>
          <p14:tracePt t="39209" x="8124825" y="893763"/>
          <p14:tracePt t="39225" x="8077200" y="796925"/>
          <p14:tracePt t="39243" x="8053388" y="701675"/>
          <p14:tracePt t="39258" x="8029575" y="622300"/>
          <p14:tracePt t="39274" x="7997825" y="527050"/>
          <p14:tracePt t="39291" x="7989888" y="485775"/>
          <p14:tracePt t="39309" x="7981950" y="469900"/>
          <p14:tracePt t="39312" x="7981950" y="461963"/>
          <p14:tracePt t="39325" x="7981950" y="454025"/>
          <p14:tracePt t="39360" x="7981950" y="446088"/>
          <p14:tracePt t="39405" x="7981950" y="438150"/>
          <p14:tracePt t="39409" x="7981950" y="430213"/>
          <p14:tracePt t="39425" x="7981950" y="422275"/>
          <p14:tracePt t="39441" x="7981950" y="414338"/>
          <p14:tracePt t="39459" x="7981950" y="398463"/>
          <p14:tracePt t="39560" x="7981950" y="390525"/>
          <p14:tracePt t="39566" x="7981950" y="382588"/>
          <p14:tracePt t="39590" x="7981950" y="374650"/>
          <p14:tracePt t="39610" x="7981950" y="366713"/>
          <p14:tracePt t="39624" x="7981950" y="358775"/>
          <p14:tracePt t="46976" x="7821613" y="454025"/>
          <p14:tracePt t="46983" x="7702550" y="614363"/>
          <p14:tracePt t="46990" x="7559675" y="788988"/>
          <p14:tracePt t="47008" x="7280275" y="1204913"/>
          <p14:tracePt t="47025" x="6818313" y="1954213"/>
          <p14:tracePt t="47041" x="6530975" y="2479675"/>
          <p14:tracePt t="47058" x="6275388" y="3022600"/>
          <p14:tracePt t="47075" x="5892800" y="3795713"/>
          <p14:tracePt t="47091" x="5684838" y="4233863"/>
          <p14:tracePt t="47107" x="5486400" y="4592638"/>
          <p14:tracePt t="47124" x="5357813" y="4824413"/>
          <p14:tracePt t="47125" x="5286375" y="4927600"/>
          <p14:tracePt t="47140" x="5191125" y="5056188"/>
          <p14:tracePt t="47157" x="5119688" y="5135563"/>
          <p14:tracePt t="47175" x="5056188" y="5191125"/>
          <p14:tracePt t="47191" x="5030788" y="5183188"/>
          <p14:tracePt t="47547" x="4975225" y="5207000"/>
          <p14:tracePt t="47551" x="4911725" y="5246688"/>
          <p14:tracePt t="47558" x="4832350" y="5294313"/>
          <p14:tracePt t="47575" x="4664075" y="5383213"/>
          <p14:tracePt t="47591" x="4521200" y="5454650"/>
          <p14:tracePt t="47607" x="4386263" y="5518150"/>
          <p14:tracePt t="47624" x="4257675" y="5565775"/>
          <p14:tracePt t="47641" x="4194175" y="5589588"/>
          <p14:tracePt t="47659" x="4146550" y="5613400"/>
          <p14:tracePt t="47674" x="4138613" y="5621338"/>
          <p14:tracePt t="47675" x="4122738" y="5621338"/>
          <p14:tracePt t="47690" x="4106863" y="5629275"/>
          <p14:tracePt t="47708" x="4067175" y="5637213"/>
          <p14:tracePt t="47711" x="4051300" y="5637213"/>
          <p14:tracePt t="47724" x="4035425" y="5637213"/>
          <p14:tracePt t="47725" x="4002088" y="5637213"/>
          <p14:tracePt t="47741" x="3930650" y="5621338"/>
          <p14:tracePt t="47758" x="3771900" y="5573713"/>
          <p14:tracePt t="47774" x="3643313" y="5534025"/>
          <p14:tracePt t="47791" x="3500438" y="5502275"/>
          <p14:tracePt t="47808" x="3252788" y="5486400"/>
          <p14:tracePt t="47824" x="3094038" y="5486400"/>
          <p14:tracePt t="47841" x="2933700" y="5502275"/>
          <p14:tracePt t="47858" x="2727325" y="5541963"/>
          <p14:tracePt t="47873" x="2590800" y="5565775"/>
          <p14:tracePt t="47893" x="2487613" y="5581650"/>
          <p14:tracePt t="47895" x="2432050" y="5581650"/>
          <p14:tracePt t="47908" x="2336800" y="5581650"/>
          <p14:tracePt t="47934" x="2200275" y="5573713"/>
          <p14:tracePt t="47945" x="2120900" y="5549900"/>
          <p14:tracePt t="47952" x="2073275" y="5534025"/>
          <p14:tracePt t="47958" x="2025650" y="5518150"/>
          <p14:tracePt t="47976" x="1946275" y="5470525"/>
          <p14:tracePt t="47994" x="1833563" y="5391150"/>
          <p14:tracePt t="48009" x="1754188" y="5351463"/>
          <p14:tracePt t="48023" x="1706563" y="5319713"/>
          <p14:tracePt t="48042" x="1666875" y="5302250"/>
          <p14:tracePt t="48057" x="1635125" y="5294313"/>
          <p14:tracePt t="48076" x="1611313" y="5278438"/>
          <p14:tracePt t="48095" x="1603375" y="5278438"/>
          <p14:tracePt t="48159" x="1627188" y="5278438"/>
          <p14:tracePt t="48165" x="1666875" y="5278438"/>
          <p14:tracePt t="48176" x="1730375" y="5286375"/>
          <p14:tracePt t="48191" x="1873250" y="5327650"/>
          <p14:tracePt t="48209" x="2176463" y="5367338"/>
          <p14:tracePt t="48224" x="2416175" y="5414963"/>
          <p14:tracePt t="48241" x="2647950" y="5438775"/>
          <p14:tracePt t="48258" x="2925763" y="5470525"/>
          <p14:tracePt t="48273" x="3054350" y="5470525"/>
          <p14:tracePt t="48291" x="3133725" y="5478463"/>
          <p14:tracePt t="48307" x="3173413" y="5478463"/>
          <p14:tracePt t="48324" x="3189288" y="5478463"/>
          <p14:tracePt t="61006" x="3276600" y="5319713"/>
          <p14:tracePt t="61012" x="3421063" y="5087938"/>
          <p14:tracePt t="61023" x="3579813" y="4808538"/>
          <p14:tracePt t="61044" x="4130675" y="3956050"/>
          <p14:tracePt t="61057" x="4497388" y="3373438"/>
          <p14:tracePt t="61074" x="4879975" y="2846388"/>
          <p14:tracePt t="61091" x="5341938" y="2249488"/>
          <p14:tracePt t="61108" x="5565775" y="1985963"/>
          <p14:tracePt t="61124" x="5700713" y="1841500"/>
          <p14:tracePt t="61142" x="5805488" y="1730375"/>
          <p14:tracePt t="61158" x="5821363" y="1714500"/>
          <p14:tracePt t="61177" x="5805488" y="1738313"/>
          <p14:tracePt t="61411" x="5876925" y="1651000"/>
          <p14:tracePt t="61419" x="5964238" y="1571625"/>
          <p14:tracePt t="61426" x="6051550" y="1482725"/>
          <p14:tracePt t="61441" x="6203950" y="1355725"/>
          <p14:tracePt t="61458" x="6362700" y="1252538"/>
          <p14:tracePt t="61474" x="6491288" y="1179513"/>
          <p14:tracePt t="61492" x="6665913" y="1108075"/>
          <p14:tracePt t="61507" x="6761163" y="1084263"/>
          <p14:tracePt t="61525" x="6842125" y="1060450"/>
          <p14:tracePt t="61541" x="6945313" y="1028700"/>
          <p14:tracePt t="61557" x="7016750" y="1004888"/>
          <p14:tracePt t="61574" x="7088188" y="981075"/>
          <p14:tracePt t="61591" x="7185025" y="949325"/>
          <p14:tracePt t="61607" x="7240588" y="925513"/>
          <p14:tracePt t="61626" x="7312025" y="877888"/>
          <p14:tracePt t="61643" x="7351713" y="844550"/>
          <p14:tracePt t="61659" x="7375525" y="820738"/>
          <p14:tracePt t="61678" x="7415213" y="788988"/>
          <p14:tracePt t="61690" x="7415213" y="765175"/>
          <p14:tracePt t="61919" x="7496175" y="701675"/>
          <p14:tracePt t="61927" x="7575550" y="654050"/>
          <p14:tracePt t="61944" x="7726363" y="527050"/>
          <p14:tracePt t="61961" x="7902575" y="414338"/>
          <p14:tracePt t="61976" x="7989888" y="358775"/>
          <p14:tracePt t="62006" x="8085138" y="311150"/>
          <p14:tracePt t="62012" x="8093075" y="303213"/>
          <p14:tracePt t="62025" x="8116888" y="295275"/>
          <p14:tracePt t="62041" x="8140700" y="287338"/>
          <p14:tracePt t="62057" x="8148638" y="279400"/>
          <p14:tracePt t="62074" x="8172450" y="271463"/>
          <p14:tracePt t="62091" x="8197850" y="263525"/>
          <p14:tracePt t="62107" x="8229600" y="247650"/>
          <p14:tracePt t="62123" x="8245475" y="231775"/>
          <p14:tracePt t="62141" x="8269288" y="223838"/>
          <p14:tracePt t="62142" x="8285163" y="215900"/>
          <p14:tracePt t="62158" x="8293100" y="207963"/>
          <p14:tracePt t="62234" x="8285163" y="215900"/>
          <p14:tracePt t="62241" x="8277225" y="215900"/>
          <p14:tracePt t="62258" x="8237538" y="239713"/>
          <p14:tracePt t="62274" x="8205788" y="263525"/>
          <p14:tracePt t="62291" x="8140700" y="295275"/>
          <p14:tracePt t="62308" x="8116888" y="303213"/>
          <p14:tracePt t="62325" x="8101013" y="311150"/>
          <p14:tracePt t="62341" x="8093075" y="311150"/>
          <p14:tracePt t="62370" x="8085138" y="311150"/>
          <p14:tracePt t="62518" x="8077200" y="311150"/>
          <p14:tracePt t="66678" x="7847013" y="366713"/>
          <p14:tracePt t="66683" x="7742238" y="430213"/>
          <p14:tracePt t="66691" x="7623175" y="527050"/>
          <p14:tracePt t="66707" x="7264400" y="804863"/>
          <p14:tracePt t="66724" x="6873875" y="1171575"/>
          <p14:tracePt t="66740" x="6418263" y="1595438"/>
          <p14:tracePt t="66742" x="6203950" y="1825625"/>
          <p14:tracePt t="66757" x="5749925" y="2320925"/>
          <p14:tracePt t="66775" x="5349875" y="2774950"/>
          <p14:tracePt t="66792" x="4911725" y="3333750"/>
          <p14:tracePt t="66807" x="4664075" y="3636963"/>
          <p14:tracePt t="66828" x="4418013" y="3971925"/>
          <p14:tracePt t="66842" x="4313238" y="4075113"/>
          <p14:tracePt t="66858" x="4249738" y="4154488"/>
          <p14:tracePt t="66875" x="4225925" y="4186238"/>
          <p14:tracePt t="66893" x="4210050" y="4202113"/>
          <p14:tracePt t="67437" x="4202113" y="4202113"/>
          <p14:tracePt t="67452" x="4186238" y="4210050"/>
          <p14:tracePt t="67466" x="4170363" y="4217988"/>
          <p14:tracePt t="67474" x="4162425" y="4233863"/>
          <p14:tracePt t="67491" x="4122738" y="4265613"/>
          <p14:tracePt t="67510" x="4083050" y="4322763"/>
          <p14:tracePt t="67526" x="4051300" y="4346575"/>
          <p14:tracePt t="67547" x="4035425" y="4378325"/>
          <p14:tracePt t="67551" x="4027488" y="4386263"/>
          <p14:tracePt t="67558" x="4019550" y="4394200"/>
          <p14:tracePt t="67574" x="4011613" y="4402138"/>
          <p14:tracePt t="67590" x="4011613" y="4418013"/>
          <p14:tracePt t="67609" x="3994150" y="4441825"/>
          <p14:tracePt t="67616" x="3986213" y="4441825"/>
          <p14:tracePt t="67624" x="3986213" y="4449763"/>
          <p14:tracePt t="67641" x="3970338" y="4481513"/>
          <p14:tracePt t="67662" x="3946525" y="4552950"/>
          <p14:tracePt t="67668" x="3930650" y="4592638"/>
          <p14:tracePt t="67674" x="3914775" y="4624388"/>
          <p14:tracePt t="67694" x="3883025" y="4713288"/>
          <p14:tracePt t="67708" x="3843338" y="4784725"/>
          <p14:tracePt t="67734" x="3771900" y="4927600"/>
          <p14:tracePt t="67738" x="3756025" y="4959350"/>
          <p14:tracePt t="67745" x="3740150" y="4992688"/>
          <p14:tracePt t="67757" x="3732213" y="5024438"/>
          <p14:tracePt t="67778" x="3700463" y="5080000"/>
          <p14:tracePt t="67797" x="3684588" y="5127625"/>
          <p14:tracePt t="67807" x="3684588" y="5135563"/>
          <p14:tracePt t="67825" x="3684588" y="5159375"/>
          <p14:tracePt t="67840" x="3684588" y="5175250"/>
          <p14:tracePt t="67857" x="3684588" y="5191125"/>
          <p14:tracePt t="67875" x="3692525" y="5214938"/>
          <p14:tracePt t="67891" x="3700463" y="5238750"/>
          <p14:tracePt t="67908" x="3708400" y="5254625"/>
          <p14:tracePt t="67914" x="3716338" y="5254625"/>
          <p14:tracePt t="67927" x="3716338" y="5262563"/>
          <p14:tracePt t="67946" x="3724275" y="5262563"/>
          <p14:tracePt t="67958" x="3724275" y="5254625"/>
          <p14:tracePt t="67975" x="3724275" y="5246688"/>
          <p14:tracePt t="80646" x="3779838" y="5191125"/>
          <p14:tracePt t="80650" x="3859213" y="5135563"/>
          <p14:tracePt t="80658" x="3938588" y="5064125"/>
          <p14:tracePt t="80674" x="4114800" y="4911725"/>
          <p14:tracePt t="80691" x="4362450" y="4721225"/>
          <p14:tracePt t="80707" x="4856163" y="4418013"/>
          <p14:tracePt t="80725" x="5246688" y="4217988"/>
          <p14:tracePt t="80741" x="5668963" y="4003675"/>
          <p14:tracePt t="80758" x="6315075" y="3763963"/>
          <p14:tracePt t="80774" x="6705600" y="3636963"/>
          <p14:tracePt t="80792" x="7040563" y="3579813"/>
          <p14:tracePt t="80808" x="7407275" y="3548063"/>
          <p14:tracePt t="80824" x="7551738" y="3556000"/>
          <p14:tracePt t="80841" x="7662863" y="3587750"/>
          <p14:tracePt t="80857" x="7718425" y="3613150"/>
          <p14:tracePt t="81201" x="7870825" y="3595688"/>
          <p14:tracePt t="81207" x="8101013" y="3548063"/>
          <p14:tracePt t="81215" x="8348663" y="3516313"/>
          <p14:tracePt t="81224" x="8620125" y="3492500"/>
          <p14:tracePt t="81244" x="9409113" y="3468688"/>
          <p14:tracePt t="81257" x="9847263" y="3468688"/>
          <p14:tracePt t="81275" x="10221913" y="3492500"/>
          <p14:tracePt t="81296" x="10604500" y="3540125"/>
          <p14:tracePt t="81302" x="10693400" y="3556000"/>
          <p14:tracePt t="81308" x="10741025" y="3563938"/>
          <p14:tracePt t="81324" x="10812463" y="3579813"/>
          <p14:tracePt t="81341" x="10836275" y="3579813"/>
          <p14:tracePt t="81357" x="10796588" y="3524250"/>
          <p14:tracePt t="84464" x="10828338" y="3524250"/>
          <p14:tracePt t="84471" x="10891838" y="3516313"/>
          <p14:tracePt t="84479" x="10955338" y="3508375"/>
          <p14:tracePt t="84497" x="11115675" y="3500438"/>
          <p14:tracePt t="84508" x="11282363" y="3476625"/>
          <p14:tracePt t="84527" x="11466513" y="3452813"/>
          <p14:tracePt t="84542" x="11657013" y="3421063"/>
          <p14:tracePt t="84545" x="11761788" y="3405188"/>
          <p14:tracePt t="84558" x="11952288" y="3373438"/>
          <p14:tracePt t="84575" x="12128500" y="3341688"/>
        </p14:tracePtLst>
      </p14:laserTraceLst>
    </p:ext>
  </p:extLs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90A617-96C1-6000-8655-685CA32AE6B8}"/>
              </a:ext>
            </a:extLst>
          </p:cNvPr>
          <p:cNvSpPr>
            <a:spLocks noGrp="1"/>
          </p:cNvSpPr>
          <p:nvPr>
            <p:ph type="title"/>
          </p:nvPr>
        </p:nvSpPr>
        <p:spPr/>
        <p:txBody>
          <a:bodyPr/>
          <a:lstStyle/>
          <a:p>
            <a:pPr algn="ctr"/>
            <a:r>
              <a:rPr lang="en-US" b="1" dirty="0">
                <a:solidFill>
                  <a:srgbClr val="002060"/>
                </a:solidFill>
              </a:rPr>
              <a:t>Introducing CSM(Clean Split Model)</a:t>
            </a:r>
            <a:endParaRPr lang="en-US" dirty="0">
              <a:solidFill>
                <a:srgbClr val="002060"/>
              </a:solidFill>
            </a:endParaRPr>
          </a:p>
        </p:txBody>
      </p:sp>
      <p:sp>
        <p:nvSpPr>
          <p:cNvPr id="3" name="Content Placeholder 2">
            <a:extLst>
              <a:ext uri="{FF2B5EF4-FFF2-40B4-BE49-F238E27FC236}">
                <a16:creationId xmlns:a16="http://schemas.microsoft.com/office/drawing/2014/main" id="{99942A9C-FBE4-EF4E-44F9-7165AB724D4B}"/>
              </a:ext>
            </a:extLst>
          </p:cNvPr>
          <p:cNvSpPr>
            <a:spLocks noGrp="1"/>
          </p:cNvSpPr>
          <p:nvPr>
            <p:ph idx="1"/>
          </p:nvPr>
        </p:nvSpPr>
        <p:spPr>
          <a:xfrm>
            <a:off x="838200" y="1582557"/>
            <a:ext cx="6592747" cy="2514881"/>
          </a:xfrm>
        </p:spPr>
        <p:txBody>
          <a:bodyPr>
            <a:normAutofit fontScale="92500" lnSpcReduction="10000"/>
          </a:bodyPr>
          <a:lstStyle/>
          <a:p>
            <a:pPr marL="0" indent="0">
              <a:buNone/>
            </a:pPr>
            <a:r>
              <a:rPr lang="en-US" sz="1800" b="1" dirty="0" err="1">
                <a:solidFill>
                  <a:srgbClr val="002060"/>
                </a:solidFill>
              </a:rPr>
              <a:t>CleanSplit</a:t>
            </a:r>
            <a:r>
              <a:rPr lang="en-US" sz="1800" b="1" dirty="0">
                <a:solidFill>
                  <a:srgbClr val="002060"/>
                </a:solidFill>
              </a:rPr>
              <a:t> Model (CSM): </a:t>
            </a:r>
            <a:r>
              <a:rPr lang="en-US" sz="1800" dirty="0"/>
              <a:t>A novel privacy-preserving inference framework.</a:t>
            </a:r>
          </a:p>
          <a:p>
            <a:pPr marL="0" indent="0" algn="just">
              <a:buNone/>
            </a:pPr>
            <a:r>
              <a:rPr lang="en-US" sz="1800" b="1" dirty="0">
                <a:solidFill>
                  <a:srgbClr val="002060"/>
                </a:solidFill>
              </a:rPr>
              <a:t>Aim</a:t>
            </a:r>
            <a:r>
              <a:rPr lang="en-US" sz="1800" dirty="0">
                <a:solidFill>
                  <a:srgbClr val="002060"/>
                </a:solidFill>
              </a:rPr>
              <a:t>: </a:t>
            </a:r>
            <a:r>
              <a:rPr lang="en-US" sz="1800" dirty="0"/>
              <a:t>Develop a novel framework that helps to pick right methodology for efficiently protecting PII in Client side chatbots(LLM inference). </a:t>
            </a:r>
          </a:p>
          <a:p>
            <a:pPr marL="0" indent="0">
              <a:buNone/>
            </a:pPr>
            <a:r>
              <a:rPr lang="en-US" sz="1800" b="1" dirty="0">
                <a:solidFill>
                  <a:srgbClr val="002060"/>
                </a:solidFill>
              </a:rPr>
              <a:t>Objective:</a:t>
            </a:r>
            <a:r>
              <a:rPr lang="en-US" sz="1800" dirty="0">
                <a:solidFill>
                  <a:srgbClr val="002060"/>
                </a:solidFill>
              </a:rPr>
              <a:t> </a:t>
            </a:r>
            <a:r>
              <a:rPr lang="en-US" sz="1800" dirty="0"/>
              <a:t>Study existing methods and develop a framework to Optimize the trade-off between privacy preservation and computational utility.</a:t>
            </a:r>
          </a:p>
          <a:p>
            <a:pPr marL="0" indent="0">
              <a:buNone/>
            </a:pPr>
            <a:r>
              <a:rPr lang="en-US" sz="1800" b="1" dirty="0">
                <a:solidFill>
                  <a:srgbClr val="002060"/>
                </a:solidFill>
              </a:rPr>
              <a:t>Mechanism</a:t>
            </a:r>
            <a:r>
              <a:rPr lang="en-US" sz="1800" dirty="0">
                <a:solidFill>
                  <a:srgbClr val="002060"/>
                </a:solidFill>
              </a:rPr>
              <a:t>: </a:t>
            </a:r>
            <a:r>
              <a:rPr lang="en-US" sz="1800" dirty="0"/>
              <a:t>Deploys a lightweight token representation layer on the client side. Uses NER to detect and replace sensitive entities prior to server interaction</a:t>
            </a:r>
          </a:p>
          <a:p>
            <a:endParaRPr lang="en-US" dirty="0"/>
          </a:p>
        </p:txBody>
      </p:sp>
      <p:pic>
        <p:nvPicPr>
          <p:cNvPr id="5" name="Picture 4">
            <a:extLst>
              <a:ext uri="{FF2B5EF4-FFF2-40B4-BE49-F238E27FC236}">
                <a16:creationId xmlns:a16="http://schemas.microsoft.com/office/drawing/2014/main" id="{834E13BC-7CA3-2E6D-15DC-2CEB9345AA6E}"/>
              </a:ext>
            </a:extLst>
          </p:cNvPr>
          <p:cNvPicPr>
            <a:picLocks noChangeAspect="1"/>
          </p:cNvPicPr>
          <p:nvPr/>
        </p:nvPicPr>
        <p:blipFill>
          <a:blip r:embed="rId3"/>
          <a:stretch>
            <a:fillRect/>
          </a:stretch>
        </p:blipFill>
        <p:spPr>
          <a:xfrm>
            <a:off x="838200" y="3901459"/>
            <a:ext cx="5989700" cy="2731981"/>
          </a:xfrm>
          <a:prstGeom prst="rect">
            <a:avLst/>
          </a:prstGeom>
        </p:spPr>
      </p:pic>
      <p:pic>
        <p:nvPicPr>
          <p:cNvPr id="6" name="Picture 5">
            <a:extLst>
              <a:ext uri="{FF2B5EF4-FFF2-40B4-BE49-F238E27FC236}">
                <a16:creationId xmlns:a16="http://schemas.microsoft.com/office/drawing/2014/main" id="{AB17D7CD-CA4B-98A8-540B-14893A971B60}"/>
              </a:ext>
            </a:extLst>
          </p:cNvPr>
          <p:cNvPicPr>
            <a:picLocks noChangeAspect="1"/>
          </p:cNvPicPr>
          <p:nvPr/>
        </p:nvPicPr>
        <p:blipFill>
          <a:blip r:embed="rId4"/>
          <a:stretch>
            <a:fillRect/>
          </a:stretch>
        </p:blipFill>
        <p:spPr>
          <a:xfrm>
            <a:off x="7646691" y="1301349"/>
            <a:ext cx="4263658" cy="2600110"/>
          </a:xfrm>
          <a:prstGeom prst="rect">
            <a:avLst/>
          </a:prstGeom>
        </p:spPr>
      </p:pic>
      <p:sp>
        <p:nvSpPr>
          <p:cNvPr id="7" name="TextBox 6">
            <a:extLst>
              <a:ext uri="{FF2B5EF4-FFF2-40B4-BE49-F238E27FC236}">
                <a16:creationId xmlns:a16="http://schemas.microsoft.com/office/drawing/2014/main" id="{F2B3E7E4-919A-28DE-99EE-A05DC684AA03}"/>
              </a:ext>
            </a:extLst>
          </p:cNvPr>
          <p:cNvSpPr txBox="1"/>
          <p:nvPr/>
        </p:nvSpPr>
        <p:spPr>
          <a:xfrm>
            <a:off x="2918572" y="6308209"/>
            <a:ext cx="1030146" cy="369332"/>
          </a:xfrm>
          <a:prstGeom prst="rect">
            <a:avLst/>
          </a:prstGeom>
          <a:noFill/>
        </p:spPr>
        <p:txBody>
          <a:bodyPr wrap="square" rtlCol="0">
            <a:spAutoFit/>
          </a:bodyPr>
          <a:lstStyle/>
          <a:p>
            <a:r>
              <a:rPr lang="en-US" b="1" dirty="0"/>
              <a:t>Figure: 4</a:t>
            </a:r>
          </a:p>
        </p:txBody>
      </p:sp>
      <p:sp>
        <p:nvSpPr>
          <p:cNvPr id="8" name="TextBox 7">
            <a:extLst>
              <a:ext uri="{FF2B5EF4-FFF2-40B4-BE49-F238E27FC236}">
                <a16:creationId xmlns:a16="http://schemas.microsoft.com/office/drawing/2014/main" id="{EDD5095A-6E26-399A-5DC7-1A4B2646069D}"/>
              </a:ext>
            </a:extLst>
          </p:cNvPr>
          <p:cNvSpPr txBox="1"/>
          <p:nvPr/>
        </p:nvSpPr>
        <p:spPr>
          <a:xfrm>
            <a:off x="8565044" y="3901459"/>
            <a:ext cx="1030146" cy="369332"/>
          </a:xfrm>
          <a:prstGeom prst="rect">
            <a:avLst/>
          </a:prstGeom>
          <a:noFill/>
        </p:spPr>
        <p:txBody>
          <a:bodyPr wrap="square" rtlCol="0">
            <a:spAutoFit/>
          </a:bodyPr>
          <a:lstStyle/>
          <a:p>
            <a:r>
              <a:rPr lang="en-US" b="1" dirty="0"/>
              <a:t>Figure: 5</a:t>
            </a:r>
          </a:p>
        </p:txBody>
      </p:sp>
    </p:spTree>
    <p:extLst>
      <p:ext uri="{BB962C8B-B14F-4D97-AF65-F5344CB8AC3E}">
        <p14:creationId xmlns:p14="http://schemas.microsoft.com/office/powerpoint/2010/main" val="3321508921"/>
      </p:ext>
    </p:extLst>
  </p:cSld>
  <p:clrMapOvr>
    <a:masterClrMapping/>
  </p:clrMapOvr>
  <mc:AlternateContent xmlns:mc="http://schemas.openxmlformats.org/markup-compatibility/2006" xmlns:p14="http://schemas.microsoft.com/office/powerpoint/2010/main">
    <mc:Choice Requires="p14">
      <p:transition spd="slow" p14:dur="2000" advTm="74480"/>
    </mc:Choice>
    <mc:Fallback xmlns="">
      <p:transition spd="slow" advTm="74480"/>
    </mc:Fallback>
  </mc:AlternateContent>
  <p:extLst>
    <p:ext uri="{3A86A75C-4F4B-4683-9AE1-C65F6400EC91}">
      <p14:laserTraceLst xmlns:p14="http://schemas.microsoft.com/office/powerpoint/2010/main">
        <p14:tracePtLst>
          <p14:tracePt t="526" x="11753850" y="3357563"/>
          <p14:tracePt t="542" x="11147425" y="3278188"/>
          <p14:tracePt t="558" x="10509250" y="3125788"/>
          <p14:tracePt t="575" x="9648825" y="2782888"/>
          <p14:tracePt t="592" x="9121775" y="2511425"/>
          <p14:tracePt t="609" x="8683625" y="2216150"/>
          <p14:tracePt t="626" x="8253413" y="1930400"/>
          <p14:tracePt t="641" x="8108950" y="1817688"/>
          <p14:tracePt t="658" x="8021638" y="1746250"/>
          <p14:tracePt t="675" x="7989888" y="1674813"/>
          <p14:tracePt t="1021" x="7910513" y="1674813"/>
          <p14:tracePt t="1027" x="7821613" y="1658938"/>
          <p14:tracePt t="1045" x="7631113" y="1603375"/>
          <p14:tracePt t="1059" x="7446963" y="1538288"/>
          <p14:tracePt t="1077" x="7264400" y="1435100"/>
          <p14:tracePt t="1079" x="7161213" y="1379538"/>
          <p14:tracePt t="1092" x="6992938" y="1276350"/>
          <p14:tracePt t="1110" x="6802438" y="1155700"/>
          <p14:tracePt t="1126" x="6642100" y="1028700"/>
          <p14:tracePt t="1148" x="6410325" y="788988"/>
          <p14:tracePt t="1150" x="6323013" y="677863"/>
          <p14:tracePt t="1157" x="6243638" y="527050"/>
          <p14:tracePt t="23292" x="7127875" y="406400"/>
          <p14:tracePt t="23298" x="6977063" y="606425"/>
          <p14:tracePt t="23308" x="6818313" y="804863"/>
          <p14:tracePt t="23324" x="6467475" y="1276350"/>
          <p14:tracePt t="23342" x="5916613" y="2001838"/>
          <p14:tracePt t="23359" x="5605463" y="2360613"/>
          <p14:tracePt t="23375" x="5397500" y="2576513"/>
          <p14:tracePt t="23391" x="5262563" y="2695575"/>
          <p14:tracePt t="23395" x="5230813" y="2727325"/>
          <p14:tracePt t="23408" x="5167313" y="2767013"/>
          <p14:tracePt t="23427" x="5151438" y="2774950"/>
          <p14:tracePt t="23441" x="5151438" y="2782888"/>
          <p14:tracePt t="23505" x="5151438" y="2790825"/>
          <p14:tracePt t="23512" x="5159375" y="2790825"/>
          <p14:tracePt t="23526" x="5167313" y="2798763"/>
          <p14:tracePt t="23541" x="5191125" y="2806700"/>
          <p14:tracePt t="23559" x="5246688" y="2830513"/>
          <p14:tracePt t="23574" x="5278438" y="2846388"/>
          <p14:tracePt t="23592" x="5349875" y="2854325"/>
          <p14:tracePt t="23609" x="5397500" y="2854325"/>
          <p14:tracePt t="23632" x="5454650" y="2846388"/>
          <p14:tracePt t="23642" x="5486400" y="2830513"/>
          <p14:tracePt t="23658" x="5510213" y="2814638"/>
          <p14:tracePt t="23675" x="5541963" y="2790825"/>
          <p14:tracePt t="23692" x="5581650" y="2767013"/>
          <p14:tracePt t="23708" x="5613400" y="2751138"/>
          <p14:tracePt t="23725" x="5637213" y="2727325"/>
          <p14:tracePt t="23742" x="5732463" y="2679700"/>
          <p14:tracePt t="23759" x="5797550" y="2640013"/>
          <p14:tracePt t="23775" x="5884863" y="2592388"/>
          <p14:tracePt t="23791" x="6003925" y="2559050"/>
          <p14:tracePt t="23809" x="6083300" y="2543175"/>
          <p14:tracePt t="23825" x="6140450" y="2535238"/>
          <p14:tracePt t="23841" x="6211888" y="2535238"/>
          <p14:tracePt t="23858" x="6243638" y="2559050"/>
          <p14:tracePt t="23874" x="6259513" y="2566988"/>
          <p14:tracePt t="30318" x="6346825" y="2559050"/>
          <p14:tracePt t="30323" x="6451600" y="2519363"/>
          <p14:tracePt t="30343" x="6737350" y="2447925"/>
          <p14:tracePt t="30358" x="7288213" y="2384425"/>
          <p14:tracePt t="30375" x="7678738" y="2384425"/>
          <p14:tracePt t="30392" x="8069263" y="2432050"/>
          <p14:tracePt t="30409" x="8564563" y="2592388"/>
          <p14:tracePt t="30425" x="8739188" y="2703513"/>
          <p14:tracePt t="30441" x="8858250" y="2830513"/>
          <p14:tracePt t="30459" x="8947150" y="3070225"/>
          <p14:tracePt t="30476" x="8970963" y="3262313"/>
          <p14:tracePt t="30491" x="8947150" y="3516313"/>
          <p14:tracePt t="30509" x="8747125" y="4011613"/>
          <p14:tracePt t="30525" x="8523288" y="4378325"/>
          <p14:tracePt t="30542" x="8253413" y="4697413"/>
          <p14:tracePt t="30559" x="7742238" y="5072063"/>
          <p14:tracePt t="30575" x="7399338" y="5230813"/>
          <p14:tracePt t="30592" x="7088188" y="5310188"/>
          <p14:tracePt t="30610" x="6737350" y="5359400"/>
          <p14:tracePt t="30625" x="6562725" y="5367338"/>
          <p14:tracePt t="30645" x="6354763" y="5367338"/>
          <p14:tracePt t="30659" x="6275388" y="5367338"/>
          <p14:tracePt t="30677" x="6211888" y="5367338"/>
          <p14:tracePt t="30693" x="6156325" y="5359400"/>
          <p14:tracePt t="30710" x="6100763" y="5351463"/>
          <p14:tracePt t="30726" x="6075363" y="5335588"/>
          <p14:tracePt t="30742" x="6059488" y="5294313"/>
          <p14:tracePt t="30974" x="5884863" y="5407025"/>
          <p14:tracePt t="30980" x="5668963" y="5565775"/>
          <p14:tracePt t="30994" x="5175250" y="5876925"/>
          <p14:tracePt t="31010" x="4672013" y="6148388"/>
          <p14:tracePt t="31025" x="4194175" y="6364288"/>
          <p14:tracePt t="31041" x="3803650" y="6475413"/>
          <p14:tracePt t="31058" x="3516313" y="6515100"/>
          <p14:tracePt t="31059" x="3413125" y="6530975"/>
          <p14:tracePt t="31074" x="3228975" y="6530975"/>
          <p14:tracePt t="31092" x="3086100" y="6499225"/>
          <p14:tracePt t="31110" x="2878138" y="6403975"/>
          <p14:tracePt t="31126" x="2759075" y="6291263"/>
          <p14:tracePt t="31144" x="2551113" y="6084888"/>
          <p14:tracePt t="31160" x="2447925" y="5972175"/>
          <p14:tracePt t="31178" x="2352675" y="5876925"/>
          <p14:tracePt t="31182" x="2312988" y="5829300"/>
          <p14:tracePt t="31192" x="2273300" y="5797550"/>
          <p14:tracePt t="31209" x="2192338" y="5702300"/>
          <p14:tracePt t="31226" x="2144713" y="5637213"/>
          <p14:tracePt t="31243" x="2081213" y="5549900"/>
          <p14:tracePt t="31261" x="2065338" y="5518150"/>
          <p14:tracePt t="31277" x="2049463" y="5478463"/>
          <p14:tracePt t="31293" x="2033588" y="5430838"/>
          <p14:tracePt t="31310" x="2025650" y="5391150"/>
          <p14:tracePt t="31325" x="2025650" y="5343525"/>
          <p14:tracePt t="31342" x="2025650" y="5286375"/>
          <p14:tracePt t="31359" x="2025650" y="5199063"/>
          <p14:tracePt t="31375" x="2033588" y="5167313"/>
          <p14:tracePt t="31392" x="2041525" y="5143500"/>
          <p14:tracePt t="31408" x="2041525" y="5127625"/>
          <p14:tracePt t="31425" x="2041525" y="5119688"/>
          <p14:tracePt t="31443" x="2049463" y="5111750"/>
          <p14:tracePt t="31459" x="2057400" y="5103813"/>
          <p14:tracePt t="31475" x="2065338" y="5087938"/>
          <p14:tracePt t="31493" x="2105025" y="5056188"/>
          <p14:tracePt t="31509" x="2128838" y="5040313"/>
          <p14:tracePt t="31511" x="2152650" y="5024438"/>
          <p14:tracePt t="31524" x="2216150" y="4976813"/>
          <p14:tracePt t="31542" x="2289175" y="4943475"/>
          <p14:tracePt t="31543" x="2305050" y="4927600"/>
          <p14:tracePt t="31558" x="2352675" y="4895850"/>
          <p14:tracePt t="31574" x="2376488" y="4887913"/>
          <p14:tracePt t="31591" x="2392363" y="4879975"/>
          <p14:tracePt t="31609" x="2400300" y="4879975"/>
          <p14:tracePt t="31630" x="2408238" y="4872038"/>
          <p14:tracePt t="31643" x="2416175" y="4872038"/>
          <p14:tracePt t="31658" x="2439988" y="4856163"/>
          <p14:tracePt t="31675" x="2487613" y="4840288"/>
          <p14:tracePt t="31693" x="2551113" y="4808538"/>
          <p14:tracePt t="31708" x="2606675" y="4792663"/>
          <p14:tracePt t="31724" x="2655888" y="4776788"/>
          <p14:tracePt t="31742" x="2735263" y="4745038"/>
          <p14:tracePt t="31758" x="2774950" y="4737100"/>
          <p14:tracePt t="31775" x="2814638" y="4729163"/>
          <p14:tracePt t="31791" x="2854325" y="4729163"/>
          <p14:tracePt t="31808" x="2909888" y="4729163"/>
          <p14:tracePt t="31825" x="2949575" y="4729163"/>
          <p14:tracePt t="31842" x="2982913" y="4729163"/>
          <p14:tracePt t="31858" x="3038475" y="4737100"/>
          <p14:tracePt t="31874" x="3070225" y="4745038"/>
          <p14:tracePt t="31892" x="3125788" y="4768850"/>
          <p14:tracePt t="31909" x="3157538" y="4784725"/>
          <p14:tracePt t="31926" x="3189288" y="4792663"/>
          <p14:tracePt t="31943" x="3236913" y="4816475"/>
          <p14:tracePt t="31958" x="3276600" y="4832350"/>
          <p14:tracePt t="31975" x="3300413" y="4856163"/>
          <p14:tracePt t="31991" x="3333750" y="4864100"/>
          <p14:tracePt t="32008" x="3365500" y="4879975"/>
          <p14:tracePt t="32025" x="3389313" y="4895850"/>
          <p14:tracePt t="32042" x="3421063" y="4911725"/>
          <p14:tracePt t="32058" x="3444875" y="4927600"/>
          <p14:tracePt t="32074" x="3452813" y="4935538"/>
          <p14:tracePt t="32092" x="3468688" y="4935538"/>
          <p14:tracePt t="33025" x="3452813" y="4951413"/>
          <p14:tracePt t="33032" x="3413125" y="4976813"/>
          <p14:tracePt t="33051" x="3317875" y="5024438"/>
          <p14:tracePt t="33055" x="3276600" y="5040313"/>
          <p14:tracePt t="33060" x="3236913" y="5064125"/>
          <p14:tracePt t="33076" x="3149600" y="5111750"/>
          <p14:tracePt t="33097" x="3030538" y="5183188"/>
          <p14:tracePt t="33102" x="2982913" y="5207000"/>
          <p14:tracePt t="33109" x="2941638" y="5230813"/>
          <p14:tracePt t="33125" x="2862263" y="5254625"/>
          <p14:tracePt t="33150" x="2743200" y="5294313"/>
          <p14:tracePt t="33154" x="2719388" y="5302250"/>
          <p14:tracePt t="33161" x="2695575" y="5319713"/>
          <p14:tracePt t="33179" x="2632075" y="5343525"/>
          <p14:tracePt t="33193" x="2566988" y="5367338"/>
          <p14:tracePt t="33209" x="2487613" y="5414963"/>
          <p14:tracePt t="33225" x="2424113" y="5446713"/>
          <p14:tracePt t="33242" x="2368550" y="5478463"/>
          <p14:tracePt t="33258" x="2328863" y="5518150"/>
          <p14:tracePt t="33260" x="2305050" y="5526088"/>
          <p14:tracePt t="33275" x="2255838" y="5549900"/>
          <p14:tracePt t="33291" x="2216150" y="5581650"/>
          <p14:tracePt t="33309" x="2152650" y="5629275"/>
          <p14:tracePt t="33324" x="2089150" y="5653088"/>
          <p14:tracePt t="33341" x="2033588" y="5678488"/>
          <p14:tracePt t="33359" x="1946275" y="5718175"/>
          <p14:tracePt t="33374" x="1889125" y="5734050"/>
          <p14:tracePt t="33391" x="1841500" y="5749925"/>
          <p14:tracePt t="33409" x="1778000" y="5765800"/>
          <p14:tracePt t="33425" x="1738313" y="5765800"/>
          <p14:tracePt t="33442" x="1706563" y="5765800"/>
          <p14:tracePt t="33459" x="1658938" y="5749925"/>
          <p14:tracePt t="33476" x="1627188" y="5726113"/>
          <p14:tracePt t="33492" x="1603375" y="5710238"/>
          <p14:tracePt t="33511" x="1562100" y="5678488"/>
          <p14:tracePt t="33529" x="1554163" y="5653088"/>
          <p14:tracePt t="33542" x="1530350" y="5629275"/>
          <p14:tracePt t="33559" x="1514475" y="5589588"/>
          <p14:tracePt t="33575" x="1514475" y="5565775"/>
          <p14:tracePt t="33592" x="1514475" y="5557838"/>
          <p14:tracePt t="33610" x="1514475" y="5549900"/>
          <p14:tracePt t="33660" x="1514475" y="5541963"/>
          <p14:tracePt t="33694" x="1514475" y="5526088"/>
          <p14:tracePt t="33708" x="1514475" y="5518150"/>
          <p14:tracePt t="33716" x="1514475" y="5510213"/>
          <p14:tracePt t="33726" x="1514475" y="5502275"/>
          <p14:tracePt t="33742" x="1522413" y="5494338"/>
          <p14:tracePt t="33762" x="1530350" y="5486400"/>
          <p14:tracePt t="33845" x="1530350" y="5478463"/>
          <p14:tracePt t="33851" x="1538288" y="5470525"/>
          <p14:tracePt t="33860" x="1538288" y="5462588"/>
          <p14:tracePt t="33876" x="1546225" y="5454650"/>
          <p14:tracePt t="33892" x="1554163" y="5438775"/>
          <p14:tracePt t="39100" x="1554163" y="5422900"/>
          <p14:tracePt t="39104" x="1554163" y="5407025"/>
          <p14:tracePt t="39111" x="1554163" y="5399088"/>
          <p14:tracePt t="39127" x="1554163" y="5375275"/>
          <p14:tracePt t="39144" x="1554163" y="5351463"/>
          <p14:tracePt t="39160" x="1554163" y="5335588"/>
          <p14:tracePt t="39162" x="1554163" y="5319713"/>
          <p14:tracePt t="39176" x="1554163" y="5302250"/>
          <p14:tracePt t="39192" x="1562100" y="5262563"/>
          <p14:tracePt t="39216" x="1595438" y="5199063"/>
          <p14:tracePt t="39226" x="1627188" y="5143500"/>
          <p14:tracePt t="39246" x="1682750" y="5080000"/>
          <p14:tracePt t="39249" x="1706563" y="5048250"/>
          <p14:tracePt t="39258" x="1738313" y="5008563"/>
          <p14:tracePt t="39279" x="1849438" y="4919663"/>
          <p14:tracePt t="39292" x="1922463" y="4864100"/>
          <p14:tracePt t="39308" x="1993900" y="4824413"/>
          <p14:tracePt t="39311" x="2033588" y="4808538"/>
          <p14:tracePt t="39326" x="2105025" y="4768850"/>
          <p14:tracePt t="39348" x="2200275" y="4745038"/>
          <p14:tracePt t="39359" x="2224088" y="4745038"/>
          <p14:tracePt t="39362" x="2255838" y="4737100"/>
          <p14:tracePt t="39375" x="2281238" y="4737100"/>
          <p14:tracePt t="39394" x="2384425" y="4737100"/>
          <p14:tracePt t="39408" x="2447925" y="4745038"/>
          <p14:tracePt t="39427" x="2551113" y="4776788"/>
          <p14:tracePt t="39444" x="2640013" y="4808538"/>
          <p14:tracePt t="39460" x="2727325" y="4848225"/>
          <p14:tracePt t="39463" x="2774950" y="4864100"/>
          <p14:tracePt t="39476" x="2878138" y="4911725"/>
          <p14:tracePt t="39490" x="2925763" y="4935538"/>
          <p14:tracePt t="39508" x="3070225" y="5008563"/>
          <p14:tracePt t="39525" x="3165475" y="5048250"/>
          <p14:tracePt t="39542" x="3252788" y="5080000"/>
          <p14:tracePt t="39546" x="3308350" y="5095875"/>
          <p14:tracePt t="39559" x="3413125" y="5119688"/>
          <p14:tracePt t="39574" x="3524250" y="5143500"/>
          <p14:tracePt t="39594" x="3748088" y="5143500"/>
          <p14:tracePt t="39612" x="3898900" y="5135563"/>
          <p14:tracePt t="39615" x="3978275" y="5127625"/>
          <p14:tracePt t="39623" x="4075113" y="5119688"/>
          <p14:tracePt t="39648" x="4418013" y="5095875"/>
          <p14:tracePt t="39657" x="4481513" y="5087938"/>
          <p14:tracePt t="39678" x="4672013" y="5087938"/>
          <p14:tracePt t="39692" x="4760913" y="5087938"/>
          <p14:tracePt t="39712" x="4832350" y="5087938"/>
          <p14:tracePt t="39713" x="4856163" y="5087938"/>
          <p14:tracePt t="39726" x="4879975" y="5087938"/>
          <p14:tracePt t="39743" x="4935538" y="5056188"/>
          <p14:tracePt t="39760" x="4943475" y="4951413"/>
          <p14:tracePt t="39762" x="4943475" y="4887913"/>
          <p14:tracePt t="39950" x="4991100" y="4840288"/>
          <p14:tracePt t="39956" x="5022850" y="4808538"/>
          <p14:tracePt t="39963" x="5056188" y="4784725"/>
          <p14:tracePt t="39977" x="5064125" y="4776788"/>
          <p14:tracePt t="39992" x="5080000" y="4768850"/>
          <p14:tracePt t="40010" x="5030788" y="4792663"/>
          <p14:tracePt t="40026" x="4887913" y="4872038"/>
          <p14:tracePt t="40046" x="4473575" y="5040313"/>
          <p14:tracePt t="40060" x="4130675" y="5167313"/>
          <p14:tracePt t="40077" x="3811588" y="5254625"/>
          <p14:tracePt t="40092" x="3548063" y="5327650"/>
          <p14:tracePt t="40094" x="3444875" y="5343525"/>
          <p14:tracePt t="40109" x="3276600" y="5383213"/>
          <p14:tracePt t="40126" x="3189288" y="5383213"/>
          <p14:tracePt t="40143" x="3094038" y="5383213"/>
          <p14:tracePt t="40159" x="3030538" y="5383213"/>
          <p14:tracePt t="40176" x="2990850" y="5375275"/>
          <p14:tracePt t="40193" x="2933700" y="5367338"/>
          <p14:tracePt t="40211" x="2901950" y="5367338"/>
          <p14:tracePt t="40227" x="2878138" y="5359400"/>
          <p14:tracePt t="40243" x="2870200" y="5359400"/>
          <p14:tracePt t="40309" x="2878138" y="5359400"/>
          <p14:tracePt t="40315" x="2909888" y="5359400"/>
          <p14:tracePt t="40327" x="2967038" y="5351463"/>
          <p14:tracePt t="40348" x="3205163" y="5351463"/>
          <p14:tracePt t="40361" x="3381375" y="5351463"/>
          <p14:tracePt t="40376" x="3540125" y="5351463"/>
          <p14:tracePt t="40394" x="3724275" y="5367338"/>
          <p14:tracePt t="40410" x="3803650" y="5375275"/>
          <p14:tracePt t="40425" x="3843338" y="5383213"/>
          <p14:tracePt t="40444" x="3875088" y="5383213"/>
          <p14:tracePt t="40531" x="3843338" y="5383213"/>
          <p14:tracePt t="40537" x="3819525" y="5383213"/>
          <p14:tracePt t="40544" x="3787775" y="5383213"/>
          <p14:tracePt t="40559" x="3692525" y="5367338"/>
          <p14:tracePt t="40575" x="3595688" y="5367338"/>
          <p14:tracePt t="40592" x="3508375" y="5359400"/>
          <p14:tracePt t="40608" x="3413125" y="5351463"/>
          <p14:tracePt t="40625" x="3381375" y="5351463"/>
          <p14:tracePt t="40641" x="3373438" y="5351463"/>
          <p14:tracePt t="40660" x="3365500" y="5351463"/>
          <p14:tracePt t="40710" x="3381375" y="5335588"/>
          <p14:tracePt t="40716" x="3413125" y="5335588"/>
          <p14:tracePt t="40726" x="3468688" y="5319713"/>
          <p14:tracePt t="40746" x="3740150" y="5286375"/>
          <p14:tracePt t="40760" x="3938588" y="5270500"/>
          <p14:tracePt t="40777" x="4138613" y="5254625"/>
          <p14:tracePt t="40793" x="4313238" y="5246688"/>
          <p14:tracePt t="40810" x="4505325" y="5230813"/>
          <p14:tracePt t="40826" x="4584700" y="5230813"/>
          <p14:tracePt t="40842" x="4624388" y="5230813"/>
          <p14:tracePt t="40859" x="4648200" y="5230813"/>
          <p14:tracePt t="40888" x="4656138" y="5230813"/>
          <p14:tracePt t="40946" x="4640263" y="5230813"/>
          <p14:tracePt t="40952" x="4616450" y="5230813"/>
          <p14:tracePt t="40959" x="4576763" y="5222875"/>
          <p14:tracePt t="40976" x="4465638" y="5214938"/>
          <p14:tracePt t="40991" x="4321175" y="5214938"/>
          <p14:tracePt t="41008" x="4170363" y="5207000"/>
          <p14:tracePt t="41026" x="3978275" y="5191125"/>
          <p14:tracePt t="41042" x="3890963" y="5191125"/>
          <p14:tracePt t="41060" x="3851275" y="5191125"/>
          <p14:tracePt t="41076" x="3843338" y="5191125"/>
          <p14:tracePt t="41132" x="3867150" y="5191125"/>
          <p14:tracePt t="41138" x="3906838" y="5191125"/>
          <p14:tracePt t="41150" x="3970338" y="5191125"/>
          <p14:tracePt t="41158" x="4059238" y="5191125"/>
          <p14:tracePt t="41178" x="4378325" y="5222875"/>
          <p14:tracePt t="41192" x="4608513" y="5230813"/>
          <p14:tracePt t="41215" x="4903788" y="5230813"/>
          <p14:tracePt t="41226" x="5038725" y="5222875"/>
          <p14:tracePt t="41246" x="5135563" y="5207000"/>
          <p14:tracePt t="41262" x="5151438" y="5207000"/>
          <p14:tracePt t="41276" x="5159375" y="5207000"/>
          <p14:tracePt t="41338" x="5151438" y="5207000"/>
          <p14:tracePt t="41353" x="5103813" y="5222875"/>
          <p14:tracePt t="42681" x="5151438" y="5159375"/>
          <p14:tracePt t="42692" x="5238750" y="5080000"/>
          <p14:tracePt t="42711" x="5549900" y="4689475"/>
          <p14:tracePt t="42727" x="5797550" y="4378325"/>
          <p14:tracePt t="42750" x="6211888" y="3787775"/>
          <p14:tracePt t="42757" x="6362700" y="3587750"/>
          <p14:tracePt t="42761" x="6483350" y="3357563"/>
          <p14:tracePt t="42765" x="6618288" y="3141663"/>
          <p14:tracePt t="42772" x="6721475" y="2935288"/>
          <p14:tracePt t="42780" x="6842125" y="2727325"/>
          <p14:tracePt t="42792" x="6937375" y="2535238"/>
          <p14:tracePt t="42813" x="7192963" y="1946275"/>
          <p14:tracePt t="42827" x="7312025" y="1643063"/>
          <p14:tracePt t="42842" x="7383463" y="1443038"/>
          <p14:tracePt t="42859" x="7446963" y="1316038"/>
          <p14:tracePt t="42874" x="7454900" y="1284288"/>
          <p14:tracePt t="43088" x="7496175" y="1204913"/>
          <p14:tracePt t="43094" x="7551738" y="1116013"/>
          <p14:tracePt t="43108" x="7599363" y="1028700"/>
          <p14:tracePt t="43125" x="7742238" y="812800"/>
          <p14:tracePt t="43143" x="7797800" y="709613"/>
          <p14:tracePt t="43161" x="7839075" y="622300"/>
          <p14:tracePt t="43176" x="7847013" y="582613"/>
          <p14:tracePt t="43194" x="7862888" y="558800"/>
          <p14:tracePt t="43211" x="7878763" y="509588"/>
          <p14:tracePt t="43225" x="7902575" y="446088"/>
          <p14:tracePt t="43242" x="7918450" y="398463"/>
          <p14:tracePt t="45486" x="7742238" y="717550"/>
          <p14:tracePt t="45490" x="7575550" y="973138"/>
          <p14:tracePt t="45508" x="7208838" y="1514475"/>
          <p14:tracePt t="45526" x="6713538" y="2249488"/>
          <p14:tracePt t="45541" x="6426200" y="2687638"/>
          <p14:tracePt t="45558" x="6219825" y="2990850"/>
          <p14:tracePt t="45576" x="6091238" y="3205163"/>
          <p14:tracePt t="45577" x="6043613" y="3294063"/>
          <p14:tracePt t="45591" x="5988050" y="3429000"/>
          <p14:tracePt t="45608" x="5948363" y="3524250"/>
          <p14:tracePt t="45625" x="5932488" y="3579813"/>
          <p14:tracePt t="45626" x="5924550" y="3595688"/>
          <p14:tracePt t="45641" x="5924550" y="3629025"/>
          <p14:tracePt t="45659" x="5916613" y="3644900"/>
          <p14:tracePt t="46321" x="5908675" y="3668713"/>
          <p14:tracePt t="46328" x="5892800" y="3716338"/>
          <p14:tracePt t="46341" x="5868988" y="3756025"/>
          <p14:tracePt t="46358" x="5797550" y="3890963"/>
          <p14:tracePt t="46375" x="5765800" y="4003675"/>
          <p14:tracePt t="46392" x="5732463" y="4106863"/>
          <p14:tracePt t="46409" x="5708650" y="4225925"/>
          <p14:tracePt t="46425" x="5692775" y="4281488"/>
          <p14:tracePt t="46443" x="5684838" y="4354513"/>
          <p14:tracePt t="46460" x="5684838" y="4402138"/>
          <p14:tracePt t="46476" x="5684838" y="4449763"/>
          <p14:tracePt t="46492" x="5676900" y="4505325"/>
          <p14:tracePt t="46509" x="5676900" y="4545013"/>
          <p14:tracePt t="46525" x="5676900" y="4560888"/>
          <p14:tracePt t="46542" x="5676900" y="4584700"/>
          <p14:tracePt t="46559" x="5676900" y="4608513"/>
          <p14:tracePt t="46575" x="5676900" y="4624388"/>
          <p14:tracePt t="46593" x="5676900" y="4641850"/>
          <p14:tracePt t="46608" x="5676900" y="4657725"/>
          <p14:tracePt t="46624" x="5676900" y="4673600"/>
          <p14:tracePt t="46641" x="5676900" y="4697413"/>
          <p14:tracePt t="46658" x="5668963" y="4729163"/>
          <p14:tracePt t="46674" x="5661025" y="4752975"/>
          <p14:tracePt t="46693" x="5653088" y="4792663"/>
          <p14:tracePt t="46708" x="5637213" y="4832350"/>
          <p14:tracePt t="46725" x="5613400" y="4864100"/>
          <p14:tracePt t="46743" x="5541963" y="4935538"/>
          <p14:tracePt t="46760" x="5478463" y="4984750"/>
          <p14:tracePt t="46776" x="5381625" y="5024438"/>
          <p14:tracePt t="46792" x="5214938" y="5087938"/>
          <p14:tracePt t="46808" x="5072063" y="5119688"/>
          <p14:tracePt t="46825" x="4927600" y="5159375"/>
          <p14:tracePt t="46844" x="4687888" y="5246688"/>
          <p14:tracePt t="46860" x="4529138" y="5327650"/>
          <p14:tracePt t="46875" x="4352925" y="5407025"/>
          <p14:tracePt t="46894" x="4106863" y="5526088"/>
          <p14:tracePt t="46918" x="3883025" y="5621338"/>
          <p14:tracePt t="46927" x="3819525" y="5637213"/>
          <p14:tracePt t="46929" x="3756025" y="5662613"/>
          <p14:tracePt t="46935" x="3700463" y="5678488"/>
          <p14:tracePt t="46942" x="3627438" y="5702300"/>
          <p14:tracePt t="46961" x="3500438" y="5718175"/>
          <p14:tracePt t="46975" x="3381375" y="5726113"/>
          <p14:tracePt t="46994" x="3197225" y="5726113"/>
          <p14:tracePt t="47008" x="3062288" y="5686425"/>
          <p14:tracePt t="47025" x="2917825" y="5645150"/>
          <p14:tracePt t="47043" x="2711450" y="5549900"/>
          <p14:tracePt t="47061" x="2590800" y="5494338"/>
          <p14:tracePt t="47076" x="2487613" y="5430838"/>
          <p14:tracePt t="47093" x="2392363" y="5319713"/>
          <p14:tracePt t="47109" x="2360613" y="5222875"/>
          <p14:tracePt t="47126" x="2344738" y="5175250"/>
          <p14:tracePt t="47378" x="2305050" y="5214938"/>
          <p14:tracePt t="47384" x="2265363" y="5270500"/>
          <p14:tracePt t="47392" x="2216150" y="5319713"/>
          <p14:tracePt t="47409" x="2097088" y="5399088"/>
          <p14:tracePt t="47428" x="1954213" y="5502275"/>
          <p14:tracePt t="47442" x="1849438" y="5541963"/>
          <p14:tracePt t="47460" x="1778000" y="5573713"/>
          <p14:tracePt t="47478" x="1682750" y="5597525"/>
          <p14:tracePt t="47492" x="1643063" y="5605463"/>
          <p14:tracePt t="47509" x="1603375" y="5613400"/>
          <p14:tracePt t="47525" x="1587500" y="5621338"/>
          <p14:tracePt t="47542" x="1562100" y="5621338"/>
          <p14:tracePt t="47562" x="1546225" y="5621338"/>
          <p14:tracePt t="47566" x="1538288" y="5621338"/>
          <p14:tracePt t="47575" x="1530350" y="5621338"/>
          <p14:tracePt t="47592" x="1514475" y="5621338"/>
          <p14:tracePt t="47610" x="1506538" y="5613400"/>
          <p14:tracePt t="47625" x="1498600" y="5613400"/>
          <p14:tracePt t="47644" x="1482725" y="5605463"/>
          <p14:tracePt t="47659" x="1474788" y="5605463"/>
          <p14:tracePt t="47721" x="1474788" y="5589588"/>
          <p14:tracePt t="47727" x="1466850" y="5581650"/>
          <p14:tracePt t="47742" x="1458913" y="5549900"/>
          <p14:tracePt t="47757" x="1458913" y="5502275"/>
          <p14:tracePt t="47776" x="1474788" y="5438775"/>
          <p14:tracePt t="47792" x="1538288" y="5327650"/>
          <p14:tracePt t="47808" x="1603375" y="5262563"/>
          <p14:tracePt t="47826" x="1674813" y="5214938"/>
          <p14:tracePt t="47842" x="1762125" y="5159375"/>
          <p14:tracePt t="47858" x="1801813" y="5151438"/>
          <p14:tracePt t="47874" x="1841500" y="5151438"/>
          <p14:tracePt t="47892" x="1881188" y="5151438"/>
          <p14:tracePt t="47908" x="1912938" y="5167313"/>
          <p14:tracePt t="47925" x="1946275" y="5183188"/>
          <p14:tracePt t="47943" x="1978025" y="5214938"/>
          <p14:tracePt t="47963" x="2009775" y="5238750"/>
          <p14:tracePt t="47974" x="2017713" y="5246688"/>
          <p14:tracePt t="47991" x="2049463" y="5262563"/>
          <p14:tracePt t="48009" x="2081213" y="5302250"/>
          <p14:tracePt t="48026" x="2105025" y="5319713"/>
          <p14:tracePt t="48041" x="2120900" y="5335588"/>
          <p14:tracePt t="48043" x="2128838" y="5351463"/>
          <p14:tracePt t="48058" x="2144713" y="5367338"/>
          <p14:tracePt t="48075" x="2160588" y="5383213"/>
          <p14:tracePt t="48092" x="2168525" y="5414963"/>
          <p14:tracePt t="48107" x="2168525" y="5446713"/>
          <p14:tracePt t="48126" x="2176463" y="5478463"/>
          <p14:tracePt t="48143" x="2176463" y="5534025"/>
          <p14:tracePt t="48158" x="2160588" y="5565775"/>
          <p14:tracePt t="48176" x="2144713" y="5613400"/>
          <p14:tracePt t="48193" x="2073275" y="5694363"/>
          <p14:tracePt t="48210" x="2017713" y="5741988"/>
          <p14:tracePt t="48229" x="1905000" y="5805488"/>
          <p14:tracePt t="48245" x="1817688" y="5845175"/>
          <p14:tracePt t="48259" x="1722438" y="5868988"/>
          <p14:tracePt t="48276" x="1635125" y="5884863"/>
          <p14:tracePt t="48292" x="1490663" y="5884863"/>
          <p14:tracePt t="48308" x="1403350" y="5861050"/>
          <p14:tracePt t="48326" x="1323975" y="5829300"/>
          <p14:tracePt t="48344" x="1187450" y="5757863"/>
          <p14:tracePt t="48361" x="1123950" y="5694363"/>
          <p14:tracePt t="48375" x="1052513" y="5637213"/>
          <p14:tracePt t="48392" x="989013" y="5565775"/>
          <p14:tracePt t="48408" x="973138" y="5557838"/>
          <p14:tracePt t="48425" x="965200" y="5541963"/>
          <p14:tracePt t="48443" x="965200" y="5478463"/>
          <p14:tracePt t="48460" x="965200" y="5430838"/>
          <p14:tracePt t="48475" x="989013" y="5383213"/>
          <p14:tracePt t="48492" x="1012825" y="5343525"/>
          <p14:tracePt t="48492" x="1036638" y="5319713"/>
          <p14:tracePt t="48508" x="1100138" y="5286375"/>
          <p14:tracePt t="48527" x="1211263" y="5230813"/>
          <p14:tracePt t="48542" x="1292225" y="5214938"/>
          <p14:tracePt t="48558" x="1355725" y="5214938"/>
          <p14:tracePt t="48577" x="1466850" y="5222875"/>
          <p14:tracePt t="48592" x="1538288" y="5246688"/>
          <p14:tracePt t="48608" x="1603375" y="5278438"/>
          <p14:tracePt t="48625" x="1666875" y="5335588"/>
          <p14:tracePt t="48642" x="1778000" y="5430838"/>
          <p14:tracePt t="48660" x="1849438" y="5494338"/>
          <p14:tracePt t="48677" x="1938338" y="5557838"/>
          <p14:tracePt t="48692" x="1962150" y="5581650"/>
          <p14:tracePt t="48708" x="1978025" y="5597525"/>
          <p14:tracePt t="48727" x="1985963" y="5597525"/>
          <p14:tracePt t="48742" x="1985963" y="5605463"/>
          <p14:tracePt t="48769" x="1970088" y="5637213"/>
          <p14:tracePt t="48774" x="1954213" y="5653088"/>
          <p14:tracePt t="48778" x="1922463" y="5670550"/>
          <p14:tracePt t="48793" x="1841500" y="5686425"/>
          <p14:tracePt t="48808" x="1754188" y="5702300"/>
          <p14:tracePt t="48825" x="1658938" y="5702300"/>
          <p14:tracePt t="48842" x="1522413" y="5653088"/>
          <p14:tracePt t="48858" x="1427163" y="5565775"/>
          <p14:tracePt t="48875" x="1339850" y="5399088"/>
          <p14:tracePt t="48892" x="1252538" y="5024438"/>
          <p14:tracePt t="48908" x="1228725" y="4800600"/>
          <p14:tracePt t="48925" x="1228725" y="4616450"/>
          <p14:tracePt t="48943" x="1252538" y="4441825"/>
          <p14:tracePt t="48960" x="1292225" y="4370388"/>
          <p14:tracePt t="48980" x="1355725" y="4298950"/>
          <p14:tracePt t="48994" x="1427163" y="4291013"/>
          <p14:tracePt t="49010" x="1514475" y="4291013"/>
          <p14:tracePt t="49026" x="1635125" y="4346575"/>
          <p14:tracePt t="49042" x="1825625" y="4489450"/>
          <p14:tracePt t="49060" x="1946275" y="4624388"/>
          <p14:tracePt t="49076" x="2033588" y="4768850"/>
          <p14:tracePt t="49092" x="2097088" y="4887913"/>
          <p14:tracePt t="49108" x="2152650" y="5008563"/>
          <p14:tracePt t="49126" x="2160588" y="5072063"/>
          <p14:tracePt t="49141" x="2168525" y="5111750"/>
          <p14:tracePt t="49165" x="2176463" y="5135563"/>
          <p14:tracePt t="49345" x="2176463" y="5143500"/>
          <p14:tracePt t="49435" x="2176463" y="5151438"/>
          <p14:tracePt t="50074" x="2176463" y="5159375"/>
          <p14:tracePt t="50949" x="2184400" y="5159375"/>
          <p14:tracePt t="51021" x="2184400" y="5167313"/>
          <p14:tracePt t="51594" x="2192338" y="5167313"/>
          <p14:tracePt t="51601" x="2200275" y="5183188"/>
          <p14:tracePt t="51609" x="2200275" y="5191125"/>
          <p14:tracePt t="51626" x="2216150" y="5222875"/>
          <p14:tracePt t="51641" x="2224088" y="5262563"/>
          <p14:tracePt t="51658" x="2239963" y="5319713"/>
          <p14:tracePt t="51676" x="2255838" y="5359400"/>
          <p14:tracePt t="51692" x="2281238" y="5391150"/>
          <p14:tracePt t="51710" x="2320925" y="5446713"/>
          <p14:tracePt t="51728" x="2368550" y="5486400"/>
          <p14:tracePt t="51742" x="2432050" y="5518150"/>
          <p14:tracePt t="51760" x="2543175" y="5573713"/>
          <p14:tracePt t="51775" x="2624138" y="5597525"/>
          <p14:tracePt t="51792" x="2695575" y="5621338"/>
          <p14:tracePt t="51810" x="2798763" y="5629275"/>
          <p14:tracePt t="51825" x="2862263" y="5629275"/>
          <p14:tracePt t="51843" x="2957513" y="5621338"/>
          <p14:tracePt t="51859" x="3086100" y="5565775"/>
          <p14:tracePt t="51862" x="3165475" y="5518150"/>
          <p14:tracePt t="51877" x="3341688" y="5375275"/>
          <p14:tracePt t="51891" x="3548063" y="5167313"/>
          <p14:tracePt t="51909" x="3763963" y="4927600"/>
          <p14:tracePt t="51911" x="3859213" y="4808538"/>
          <p14:tracePt t="51927" x="4106863" y="4529138"/>
          <p14:tracePt t="51942" x="4289425" y="4298950"/>
          <p14:tracePt t="51958" x="4449763" y="4114800"/>
          <p14:tracePt t="51975" x="4632325" y="3930650"/>
          <p14:tracePt t="51992" x="4687888" y="3867150"/>
          <p14:tracePt t="52010" x="4729163" y="3835400"/>
          <p14:tracePt t="52024" x="4729163" y="3827463"/>
          <p14:tracePt t="52045" x="4729163" y="3819525"/>
          <p14:tracePt t="52058" x="4729163" y="3811588"/>
          <p14:tracePt t="52309" x="4800600" y="3732213"/>
          <p14:tracePt t="52316" x="4919663" y="3605213"/>
          <p14:tracePt t="52325" x="5207000" y="3302000"/>
          <p14:tracePt t="52345" x="5573713" y="2959100"/>
          <p14:tracePt t="52358" x="6003925" y="2566988"/>
          <p14:tracePt t="52380" x="6737350" y="1993900"/>
          <p14:tracePt t="52387" x="6977063" y="1825625"/>
          <p14:tracePt t="52392" x="7192963" y="1674813"/>
          <p14:tracePt t="52408" x="7583488" y="1427163"/>
          <p14:tracePt t="52427" x="7910513" y="1228725"/>
          <p14:tracePt t="52432" x="7981950" y="1187450"/>
          <p14:tracePt t="52442" x="8029575" y="1155700"/>
          <p14:tracePt t="52459" x="8085138" y="1116013"/>
          <p14:tracePt t="52479" x="8093075" y="1092200"/>
          <p14:tracePt t="52482" x="8069263" y="1068388"/>
          <p14:tracePt t="52700" x="8077200" y="996950"/>
          <p14:tracePt t="52706" x="8108950" y="909638"/>
          <p14:tracePt t="52715" x="8124825" y="828675"/>
          <p14:tracePt t="52725" x="8140700" y="749300"/>
          <p14:tracePt t="52749" x="8156575" y="590550"/>
          <p14:tracePt t="52751" x="8156575" y="550863"/>
          <p14:tracePt t="52758" x="8156575" y="509588"/>
          <p14:tracePt t="52777" x="8132763" y="406400"/>
          <p14:tracePt t="52793" x="8116888" y="350838"/>
          <p14:tracePt t="52809" x="8085138" y="287338"/>
          <p14:tracePt t="52826" x="8061325" y="223838"/>
          <p14:tracePt t="58464" x="7821613" y="398463"/>
          <p14:tracePt t="58469" x="7670800" y="519113"/>
          <p14:tracePt t="58476" x="7504113" y="654050"/>
          <p14:tracePt t="58491" x="7343775" y="820738"/>
          <p14:tracePt t="58493" x="7177088" y="989013"/>
          <p14:tracePt t="58508" x="6865938" y="1355725"/>
          <p14:tracePt t="58526" x="6554788" y="1754188"/>
          <p14:tracePt t="58528" x="6426200" y="1946275"/>
          <p14:tracePt t="58545" x="6203950" y="2297113"/>
          <p14:tracePt t="58559" x="6035675" y="2566988"/>
          <p14:tracePt t="58577" x="5940425" y="2751138"/>
          <p14:tracePt t="58592" x="5845175" y="2951163"/>
          <p14:tracePt t="58609" x="5821363" y="3046413"/>
          <p14:tracePt t="58626" x="5813425" y="3101975"/>
          <p14:tracePt t="58646" x="5805488" y="3165475"/>
          <p14:tracePt t="58660" x="5805488" y="3197225"/>
          <p14:tracePt t="58677" x="5805488" y="3244850"/>
          <p14:tracePt t="59715" x="5749925" y="3278188"/>
          <p14:tracePt t="59724" x="5676900" y="3341688"/>
          <p14:tracePt t="59728" x="5597525" y="3397250"/>
          <p14:tracePt t="59741" x="5510213" y="3452813"/>
          <p14:tracePt t="59758" x="5151438" y="3668713"/>
          <p14:tracePt t="59776" x="4895850" y="3819525"/>
          <p14:tracePt t="59792" x="4656138" y="3971925"/>
          <p14:tracePt t="59808" x="4378325" y="4122738"/>
          <p14:tracePt t="59824" x="4233863" y="4170363"/>
          <p14:tracePt t="59842" x="4130675" y="4194175"/>
          <p14:tracePt t="59861" x="4027488" y="4202113"/>
          <p14:tracePt t="59875" x="3970338" y="4194175"/>
          <p14:tracePt t="59893" x="3883025" y="4162425"/>
          <p14:tracePt t="59908" x="3819525" y="4122738"/>
          <p14:tracePt t="59926" x="3756025" y="4083050"/>
          <p14:tracePt t="59944" x="3643313" y="4027488"/>
          <p14:tracePt t="59960" x="3571875" y="3995738"/>
          <p14:tracePt t="59975" x="3500438" y="3979863"/>
          <p14:tracePt t="59995" x="3413125" y="3956050"/>
          <p14:tracePt t="60008" x="3365500" y="3948113"/>
          <p14:tracePt t="60025" x="3325813" y="3948113"/>
          <p14:tracePt t="60042" x="3276600" y="3948113"/>
          <p14:tracePt t="60061" x="3252788" y="3938588"/>
          <p14:tracePt t="65879" x="3189288" y="3963988"/>
          <p14:tracePt t="65887" x="3117850" y="3995738"/>
          <p14:tracePt t="65894" x="3038475" y="4027488"/>
          <p14:tracePt t="65909" x="2878138" y="4098925"/>
          <p14:tracePt t="65925" x="2735263" y="4178300"/>
          <p14:tracePt t="65942" x="2598738" y="4249738"/>
          <p14:tracePt t="65959" x="2416175" y="4378325"/>
          <p14:tracePt t="65975" x="2305050" y="4457700"/>
          <p14:tracePt t="65992" x="2208213" y="4537075"/>
          <p14:tracePt t="66010" x="2105025" y="4633913"/>
          <p14:tracePt t="66026" x="2033588" y="4681538"/>
          <p14:tracePt t="66042" x="1985963" y="4729163"/>
          <p14:tracePt t="66060" x="1938338" y="4792663"/>
          <p14:tracePt t="66074" x="1912938" y="4832350"/>
          <p14:tracePt t="66092" x="1889125" y="4856163"/>
          <p14:tracePt t="66109" x="1873250" y="4879975"/>
          <p14:tracePt t="66125" x="1873250" y="4887913"/>
          <p14:tracePt t="66141" x="1873250" y="4895850"/>
          <p14:tracePt t="66158" x="1873250" y="4911725"/>
          <p14:tracePt t="66160" x="1873250" y="4919663"/>
          <p14:tracePt t="66176" x="1881188" y="4935538"/>
          <p14:tracePt t="66193" x="1889125" y="4935538"/>
          <p14:tracePt t="66629" x="1849438" y="4935538"/>
          <p14:tracePt t="66636" x="1785938" y="4943475"/>
          <p14:tracePt t="66642" x="1714500" y="4951413"/>
          <p14:tracePt t="66659" x="1571625" y="4992688"/>
          <p14:tracePt t="66675" x="1435100" y="5040313"/>
          <p14:tracePt t="66694" x="1244600" y="5119688"/>
          <p14:tracePt t="66708" x="1187450" y="5159375"/>
          <p14:tracePt t="66710" x="1131888" y="5191125"/>
          <p14:tracePt t="66728" x="1020763" y="5254625"/>
          <p14:tracePt t="66745" x="901700" y="5367338"/>
          <p14:tracePt t="66760" x="820738" y="5462588"/>
          <p14:tracePt t="66776" x="765175" y="5557838"/>
          <p14:tracePt t="66791" x="733425" y="5645150"/>
          <p14:tracePt t="66811" x="693738" y="5765800"/>
          <p14:tracePt t="66825" x="693738" y="5845175"/>
          <p14:tracePt t="66842" x="725488" y="5980113"/>
          <p14:tracePt t="66860" x="788988" y="6076950"/>
          <p14:tracePt t="66876" x="901700" y="6172200"/>
          <p14:tracePt t="66892" x="1108075" y="6291263"/>
          <p14:tracePt t="66908" x="1284288" y="6356350"/>
          <p14:tracePt t="66925" x="1458913" y="6411913"/>
          <p14:tracePt t="66943" x="1714500" y="6427788"/>
          <p14:tracePt t="66958" x="1865313" y="6411913"/>
          <p14:tracePt t="66975" x="1993900" y="6364288"/>
          <p14:tracePt t="66991" x="2120900" y="6291263"/>
          <p14:tracePt t="67008" x="2297113" y="6132513"/>
          <p14:tracePt t="67027" x="2408238" y="5988050"/>
          <p14:tracePt t="67042" x="2559050" y="5710238"/>
          <p14:tracePt t="67059" x="2632075" y="5518150"/>
          <p14:tracePt t="67076" x="2687638" y="5310188"/>
          <p14:tracePt t="67091" x="2735263" y="5119688"/>
          <p14:tracePt t="67108" x="2735263" y="4887913"/>
          <p14:tracePt t="67126" x="2703513" y="4768850"/>
          <p14:tracePt t="67148" x="2582863" y="4584700"/>
          <p14:tracePt t="67158" x="2455863" y="4473575"/>
          <p14:tracePt t="67176" x="2281238" y="4370388"/>
          <p14:tracePt t="67192" x="2017713" y="4225925"/>
          <p14:tracePt t="67210" x="1841500" y="4170363"/>
          <p14:tracePt t="67229" x="1619250" y="4130675"/>
          <p14:tracePt t="67242" x="1562100" y="4130675"/>
          <p14:tracePt t="67259" x="1443038" y="4138613"/>
          <p14:tracePt t="67275" x="1387475" y="4146550"/>
          <p14:tracePt t="67295" x="1339850" y="4194175"/>
          <p14:tracePt t="67309" x="1308100" y="4225925"/>
          <p14:tracePt t="67325" x="1292225" y="4273550"/>
          <p14:tracePt t="67345" x="1260475" y="4330700"/>
          <p14:tracePt t="67361" x="1252538" y="4370388"/>
          <p14:tracePt t="67375" x="1244600" y="4386263"/>
          <p14:tracePt t="67393" x="1244600" y="4394200"/>
          <p14:tracePt t="70726" x="1268413" y="4386263"/>
          <p14:tracePt t="70733" x="1316038" y="4370388"/>
          <p14:tracePt t="70743" x="1363663" y="4346575"/>
          <p14:tracePt t="70758" x="1466850" y="4298950"/>
          <p14:tracePt t="70776" x="1619250" y="4233863"/>
          <p14:tracePt t="70795" x="1722438" y="4178300"/>
          <p14:tracePt t="70798" x="1770063" y="4162425"/>
          <p14:tracePt t="70809" x="1881188" y="4098925"/>
          <p14:tracePt t="70829" x="1993900" y="4043363"/>
          <p14:tracePt t="70843" x="2105025" y="3971925"/>
          <p14:tracePt t="70858" x="2232025" y="3883025"/>
          <p14:tracePt t="70878" x="2495550" y="3732213"/>
          <p14:tracePt t="70892" x="2767013" y="3595688"/>
          <p14:tracePt t="70910" x="3357563" y="3341688"/>
          <p14:tracePt t="70928" x="3914775" y="3189288"/>
          <p14:tracePt t="70941" x="4529138" y="3078163"/>
          <p14:tracePt t="70958" x="5167313" y="3030538"/>
          <p14:tracePt t="70976" x="6003925" y="3133725"/>
          <p14:tracePt t="70997" x="6354763" y="3252788"/>
          <p14:tracePt t="71009" x="6410325" y="3278188"/>
          <p14:tracePt t="71025" x="6491288" y="3317875"/>
          <p14:tracePt t="71044" x="6507163" y="3317875"/>
          <p14:tracePt t="71069" x="6467475" y="3302000"/>
          <p14:tracePt t="71348" x="6578600" y="3286125"/>
          <p14:tracePt t="71355" x="6761163" y="3262313"/>
          <p14:tracePt t="71364" x="6992938" y="3236913"/>
          <p14:tracePt t="71378" x="7478713" y="3197225"/>
          <p14:tracePt t="71394" x="8037513" y="3157538"/>
          <p14:tracePt t="71408" x="8564563" y="3125788"/>
          <p14:tracePt t="71426" x="9185275" y="3094038"/>
          <p14:tracePt t="71445" x="9385300" y="3094038"/>
          <p14:tracePt t="71458" x="9480550" y="3094038"/>
          <p14:tracePt t="71476" x="9520238" y="3094038"/>
          <p14:tracePt t="71493" x="9512300" y="3094038"/>
          <p14:tracePt t="71509" x="9472613" y="3101975"/>
          <p14:tracePt t="71836" x="9440863" y="3070225"/>
          <p14:tracePt t="71842" x="9409113" y="3022600"/>
          <p14:tracePt t="71850" x="9361488" y="2959100"/>
          <p14:tracePt t="71857" x="9329738" y="2901950"/>
          <p14:tracePt t="71875" x="9258300" y="2790825"/>
          <p14:tracePt t="71894" x="9193213" y="2608263"/>
          <p14:tracePt t="71908" x="9185275" y="2551113"/>
          <p14:tracePt t="71929" x="9201150" y="2320925"/>
          <p14:tracePt t="71943" x="9242425" y="2233613"/>
          <p14:tracePt t="71968" x="9401175" y="2128838"/>
          <p14:tracePt t="71975" x="9464675" y="2112963"/>
          <p14:tracePt t="71979" x="9536113" y="2112963"/>
          <p14:tracePt t="71986" x="9625013" y="2128838"/>
          <p14:tracePt t="71994" x="9704388" y="2160588"/>
          <p14:tracePt t="72008" x="9839325" y="2265363"/>
          <p14:tracePt t="72026" x="9952038" y="2447925"/>
          <p14:tracePt t="72045" x="10063163" y="2798763"/>
          <p14:tracePt t="72063" x="10063163" y="3022600"/>
          <p14:tracePt t="72077" x="10031413" y="3205163"/>
          <p14:tracePt t="72080" x="9983788" y="3286125"/>
          <p14:tracePt t="72091" x="9944100" y="3357563"/>
          <p14:tracePt t="72109" x="9807575" y="3492500"/>
          <p14:tracePt t="72126" x="9704388" y="3516313"/>
          <p14:tracePt t="72144" x="9496425" y="3397250"/>
          <p14:tracePt t="72158" x="9297988" y="3101975"/>
          <p14:tracePt t="72178" x="9097963" y="2632075"/>
          <p14:tracePt t="72180" x="8994775" y="2344738"/>
          <p14:tracePt t="72191" x="8923338" y="2065338"/>
          <p14:tracePt t="72211" x="8802688" y="1292225"/>
          <p14:tracePt t="72226" x="8802688" y="996950"/>
          <p14:tracePt t="72245" x="8810625" y="820738"/>
          <p14:tracePt t="72560" x="8786813" y="804863"/>
          <p14:tracePt t="72566" x="8747125" y="781050"/>
          <p14:tracePt t="72574" x="8699500" y="749300"/>
          <p14:tracePt t="72591" x="8612188" y="661988"/>
          <p14:tracePt t="72610" x="8435975" y="422275"/>
          <p14:tracePt t="72617" x="8356600" y="295275"/>
          <p14:tracePt t="72627" x="8293100" y="134938"/>
          <p14:tracePt t="72960" x="9066213" y="207963"/>
          <p14:tracePt t="72976" x="9648825" y="454025"/>
          <p14:tracePt t="72994" x="10342563" y="693738"/>
          <p14:tracePt t="72995" x="10733088" y="820738"/>
          <p14:tracePt t="73009" x="11131550" y="965200"/>
        </p14:tracePtLst>
      </p14:laserTraceLst>
    </p:ext>
  </p:extLs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D5B7AD-4141-AFA6-1BDC-B7965A6F5261}"/>
              </a:ext>
            </a:extLst>
          </p:cNvPr>
          <p:cNvSpPr>
            <a:spLocks noGrp="1"/>
          </p:cNvSpPr>
          <p:nvPr>
            <p:ph type="title"/>
          </p:nvPr>
        </p:nvSpPr>
        <p:spPr>
          <a:xfrm>
            <a:off x="838200" y="191505"/>
            <a:ext cx="10515600" cy="1325563"/>
          </a:xfrm>
        </p:spPr>
        <p:txBody>
          <a:bodyPr/>
          <a:lstStyle/>
          <a:p>
            <a:pPr algn="ctr"/>
            <a:r>
              <a:rPr lang="en-US" b="1" dirty="0">
                <a:solidFill>
                  <a:srgbClr val="002060"/>
                </a:solidFill>
              </a:rPr>
              <a:t>	</a:t>
            </a:r>
            <a:br>
              <a:rPr lang="en-US" b="1" dirty="0">
                <a:solidFill>
                  <a:srgbClr val="002060"/>
                </a:solidFill>
              </a:rPr>
            </a:br>
            <a:r>
              <a:rPr lang="en-US" b="1" dirty="0">
                <a:solidFill>
                  <a:srgbClr val="002060"/>
                </a:solidFill>
              </a:rPr>
              <a:t>Research Objectives &amp; Alignment </a:t>
            </a:r>
          </a:p>
        </p:txBody>
      </p:sp>
      <p:graphicFrame>
        <p:nvGraphicFramePr>
          <p:cNvPr id="5" name="Content Placeholder 4">
            <a:extLst>
              <a:ext uri="{FF2B5EF4-FFF2-40B4-BE49-F238E27FC236}">
                <a16:creationId xmlns:a16="http://schemas.microsoft.com/office/drawing/2014/main" id="{D0EB818F-8A29-B6F1-5EC4-7C9339D3F3C0}"/>
              </a:ext>
            </a:extLst>
          </p:cNvPr>
          <p:cNvGraphicFramePr>
            <a:graphicFrameLocks noGrp="1"/>
          </p:cNvGraphicFramePr>
          <p:nvPr>
            <p:ph idx="1"/>
            <p:extLst>
              <p:ext uri="{D42A27DB-BD31-4B8C-83A1-F6EECF244321}">
                <p14:modId xmlns:p14="http://schemas.microsoft.com/office/powerpoint/2010/main" val="1973612356"/>
              </p:ext>
            </p:extLst>
          </p:nvPr>
        </p:nvGraphicFramePr>
        <p:xfrm>
          <a:off x="999763" y="2277037"/>
          <a:ext cx="10192473" cy="2936240"/>
        </p:xfrm>
        <a:graphic>
          <a:graphicData uri="http://schemas.openxmlformats.org/drawingml/2006/table">
            <a:tbl>
              <a:tblPr firstRow="1" bandRow="1">
                <a:tableStyleId>{5C22544A-7EE6-4342-B048-85BDC9FD1C3A}</a:tableStyleId>
              </a:tblPr>
              <a:tblGrid>
                <a:gridCol w="1969873">
                  <a:extLst>
                    <a:ext uri="{9D8B030D-6E8A-4147-A177-3AD203B41FA5}">
                      <a16:colId xmlns:a16="http://schemas.microsoft.com/office/drawing/2014/main" val="14588216"/>
                    </a:ext>
                  </a:extLst>
                </a:gridCol>
                <a:gridCol w="8222600">
                  <a:extLst>
                    <a:ext uri="{9D8B030D-6E8A-4147-A177-3AD203B41FA5}">
                      <a16:colId xmlns:a16="http://schemas.microsoft.com/office/drawing/2014/main" val="3744911858"/>
                    </a:ext>
                  </a:extLst>
                </a:gridCol>
              </a:tblGrid>
              <a:tr h="370840">
                <a:tc>
                  <a:txBody>
                    <a:bodyPr/>
                    <a:lstStyle/>
                    <a:p>
                      <a:r>
                        <a:rPr lang="en-US" dirty="0"/>
                        <a:t>Research Question</a:t>
                      </a:r>
                    </a:p>
                  </a:txBody>
                  <a:tcPr/>
                </a:tc>
                <a:tc>
                  <a:txBody>
                    <a:bodyPr/>
                    <a:lstStyle/>
                    <a:p>
                      <a:r>
                        <a:rPr lang="en-US" dirty="0"/>
                        <a:t>Description</a:t>
                      </a:r>
                    </a:p>
                  </a:txBody>
                  <a:tcPr/>
                </a:tc>
                <a:extLst>
                  <a:ext uri="{0D108BD9-81ED-4DB2-BD59-A6C34878D82A}">
                    <a16:rowId xmlns:a16="http://schemas.microsoft.com/office/drawing/2014/main" val="1922354452"/>
                  </a:ext>
                </a:extLst>
              </a:tr>
              <a:tr h="370840">
                <a:tc>
                  <a:txBody>
                    <a:bodyPr/>
                    <a:lstStyle/>
                    <a:p>
                      <a:r>
                        <a:rPr lang="en-US" sz="1800" b="1" i="0" kern="1200" dirty="0">
                          <a:solidFill>
                            <a:srgbClr val="002060"/>
                          </a:solidFill>
                          <a:effectLst/>
                          <a:latin typeface="+mn-lt"/>
                          <a:ea typeface="+mn-ea"/>
                          <a:cs typeface="+mn-cs"/>
                        </a:rPr>
                        <a:t>RQ1</a:t>
                      </a:r>
                      <a:endParaRPr lang="en-US" dirty="0">
                        <a:solidFill>
                          <a:srgbClr val="002060"/>
                        </a:solidFill>
                      </a:endParaRPr>
                    </a:p>
                  </a:txBody>
                  <a:tcPr/>
                </a:tc>
                <a:tc>
                  <a:txBody>
                    <a:bodyPr/>
                    <a:lstStyle/>
                    <a:p>
                      <a:r>
                        <a:rPr lang="en-US" sz="1800" b="1" i="0" kern="1200" dirty="0">
                          <a:solidFill>
                            <a:srgbClr val="002060"/>
                          </a:solidFill>
                          <a:effectLst/>
                          <a:latin typeface="+mn-lt"/>
                          <a:ea typeface="+mn-ea"/>
                          <a:cs typeface="+mn-cs"/>
                        </a:rPr>
                        <a:t>Efficiency: </a:t>
                      </a:r>
                      <a:r>
                        <a:rPr lang="en-US" sz="1800" kern="1200" dirty="0">
                          <a:solidFill>
                            <a:schemeClr val="dk1"/>
                          </a:solidFill>
                          <a:effectLst/>
                          <a:latin typeface="+mn-lt"/>
                          <a:ea typeface="+mn-ea"/>
                          <a:cs typeface="+mn-cs"/>
                        </a:rPr>
                        <a:t>What are the problems in existing PII protection mechanisms and</a:t>
                      </a:r>
                      <a:r>
                        <a:rPr lang="en-US" sz="1800" b="1" kern="1200" dirty="0">
                          <a:solidFill>
                            <a:schemeClr val="dk1"/>
                          </a:solidFill>
                          <a:effectLst/>
                          <a:latin typeface="+mn-lt"/>
                          <a:ea typeface="+mn-ea"/>
                          <a:cs typeface="+mn-cs"/>
                        </a:rPr>
                        <a:t> </a:t>
                      </a:r>
                      <a:r>
                        <a:rPr lang="en-US" sz="1800" kern="1200" dirty="0">
                          <a:solidFill>
                            <a:schemeClr val="dk1"/>
                          </a:solidFill>
                          <a:effectLst/>
                          <a:latin typeface="+mn-lt"/>
                          <a:ea typeface="+mn-ea"/>
                          <a:cs typeface="+mn-cs"/>
                        </a:rPr>
                        <a:t>how efficiently can NER models be deployed client-side while minimizing overhead/latency?</a:t>
                      </a:r>
                      <a:endParaRPr lang="en-US" dirty="0"/>
                    </a:p>
                  </a:txBody>
                  <a:tcPr/>
                </a:tc>
                <a:extLst>
                  <a:ext uri="{0D108BD9-81ED-4DB2-BD59-A6C34878D82A}">
                    <a16:rowId xmlns:a16="http://schemas.microsoft.com/office/drawing/2014/main" val="2592955970"/>
                  </a:ext>
                </a:extLst>
              </a:tr>
              <a:tr h="370840">
                <a:tc>
                  <a:txBody>
                    <a:bodyPr/>
                    <a:lstStyle/>
                    <a:p>
                      <a:r>
                        <a:rPr lang="en-US" sz="1800" b="1" i="0" kern="1200" dirty="0">
                          <a:solidFill>
                            <a:srgbClr val="002060"/>
                          </a:solidFill>
                          <a:effectLst/>
                          <a:latin typeface="+mn-lt"/>
                          <a:ea typeface="+mn-ea"/>
                          <a:cs typeface="+mn-cs"/>
                        </a:rPr>
                        <a:t>RQ2</a:t>
                      </a:r>
                      <a:endParaRPr lang="en-US" dirty="0">
                        <a:solidFill>
                          <a:srgbClr val="002060"/>
                        </a:solidFill>
                      </a:endParaRPr>
                    </a:p>
                  </a:txBody>
                  <a:tcPr/>
                </a:tc>
                <a:tc>
                  <a:txBody>
                    <a:bodyPr/>
                    <a:lstStyle/>
                    <a:p>
                      <a:r>
                        <a:rPr lang="en-US" sz="1800" b="1" i="0" kern="1200" dirty="0">
                          <a:solidFill>
                            <a:srgbClr val="002060"/>
                          </a:solidFill>
                          <a:effectLst/>
                          <a:latin typeface="+mn-lt"/>
                          <a:ea typeface="+mn-ea"/>
                          <a:cs typeface="+mn-cs"/>
                        </a:rPr>
                        <a:t>Impact:</a:t>
                      </a:r>
                      <a:r>
                        <a:rPr lang="en-US" sz="1800" b="0" i="0" kern="1200" dirty="0">
                          <a:solidFill>
                            <a:srgbClr val="002060"/>
                          </a:solidFill>
                          <a:effectLst/>
                          <a:latin typeface="+mn-lt"/>
                          <a:ea typeface="+mn-ea"/>
                          <a:cs typeface="+mn-cs"/>
                        </a:rPr>
                        <a:t> </a:t>
                      </a:r>
                      <a:r>
                        <a:rPr lang="en-US" sz="1800" b="0" i="0" kern="1200" dirty="0">
                          <a:solidFill>
                            <a:schemeClr val="dk1"/>
                          </a:solidFill>
                          <a:effectLst/>
                          <a:latin typeface="+mn-lt"/>
                          <a:ea typeface="+mn-ea"/>
                          <a:cs typeface="+mn-cs"/>
                        </a:rPr>
                        <a:t>How does PII substitution influence the accuracy, coherence, and semantic integrity of responses?</a:t>
                      </a:r>
                      <a:endParaRPr lang="en-US" dirty="0"/>
                    </a:p>
                  </a:txBody>
                  <a:tcPr/>
                </a:tc>
                <a:extLst>
                  <a:ext uri="{0D108BD9-81ED-4DB2-BD59-A6C34878D82A}">
                    <a16:rowId xmlns:a16="http://schemas.microsoft.com/office/drawing/2014/main" val="521404795"/>
                  </a:ext>
                </a:extLst>
              </a:tr>
              <a:tr h="370840">
                <a:tc>
                  <a:txBody>
                    <a:bodyPr/>
                    <a:lstStyle/>
                    <a:p>
                      <a:r>
                        <a:rPr lang="en-US" sz="1800" b="1" i="0" kern="1200" dirty="0">
                          <a:solidFill>
                            <a:srgbClr val="002060"/>
                          </a:solidFill>
                          <a:effectLst/>
                          <a:latin typeface="+mn-lt"/>
                          <a:ea typeface="+mn-ea"/>
                          <a:cs typeface="+mn-cs"/>
                        </a:rPr>
                        <a:t>RQ3</a:t>
                      </a:r>
                      <a:endParaRPr lang="en-US" dirty="0">
                        <a:solidFill>
                          <a:srgbClr val="002060"/>
                        </a:solidFill>
                      </a:endParaRPr>
                    </a:p>
                  </a:txBody>
                  <a:tcPr/>
                </a:tc>
                <a:tc>
                  <a:txBody>
                    <a:bodyPr/>
                    <a:lstStyle/>
                    <a:p>
                      <a:pPr>
                        <a:buNone/>
                      </a:pPr>
                      <a:r>
                        <a:rPr lang="en-US" b="1" dirty="0">
                          <a:solidFill>
                            <a:srgbClr val="002060"/>
                          </a:solidFill>
                          <a:effectLst/>
                        </a:rPr>
                        <a:t>Balancing:</a:t>
                      </a:r>
                      <a:r>
                        <a:rPr lang="en-US" dirty="0">
                          <a:solidFill>
                            <a:srgbClr val="002060"/>
                          </a:solidFill>
                          <a:effectLst/>
                        </a:rPr>
                        <a:t> </a:t>
                      </a:r>
                      <a:r>
                        <a:rPr lang="en-US" dirty="0">
                          <a:effectLst/>
                        </a:rPr>
                        <a:t>How can privacy be safeguarded while retaining contextual continuity in multi-turn conversations?</a:t>
                      </a:r>
                    </a:p>
                  </a:txBody>
                  <a:tcPr anchor="ctr"/>
                </a:tc>
                <a:extLst>
                  <a:ext uri="{0D108BD9-81ED-4DB2-BD59-A6C34878D82A}">
                    <a16:rowId xmlns:a16="http://schemas.microsoft.com/office/drawing/2014/main" val="933973286"/>
                  </a:ext>
                </a:extLst>
              </a:tr>
              <a:tr h="370840">
                <a:tc>
                  <a:txBody>
                    <a:bodyPr/>
                    <a:lstStyle/>
                    <a:p>
                      <a:endParaRPr lang="en-US"/>
                    </a:p>
                  </a:txBody>
                  <a:tcPr/>
                </a:tc>
                <a:tc>
                  <a:txBody>
                    <a:bodyPr/>
                    <a:lstStyle/>
                    <a:p>
                      <a:endParaRPr lang="en-US" dirty="0"/>
                    </a:p>
                  </a:txBody>
                  <a:tcPr/>
                </a:tc>
                <a:extLst>
                  <a:ext uri="{0D108BD9-81ED-4DB2-BD59-A6C34878D82A}">
                    <a16:rowId xmlns:a16="http://schemas.microsoft.com/office/drawing/2014/main" val="661881618"/>
                  </a:ext>
                </a:extLst>
              </a:tr>
            </a:tbl>
          </a:graphicData>
        </a:graphic>
      </p:graphicFrame>
    </p:spTree>
    <p:extLst>
      <p:ext uri="{BB962C8B-B14F-4D97-AF65-F5344CB8AC3E}">
        <p14:creationId xmlns:p14="http://schemas.microsoft.com/office/powerpoint/2010/main" val="918374949"/>
      </p:ext>
    </p:extLst>
  </p:cSld>
  <p:clrMapOvr>
    <a:masterClrMapping/>
  </p:clrMapOvr>
  <mc:AlternateContent xmlns:mc="http://schemas.openxmlformats.org/markup-compatibility/2006" xmlns:p14="http://schemas.microsoft.com/office/powerpoint/2010/main">
    <mc:Choice Requires="p14">
      <p:transition spd="slow" p14:dur="2000" advTm="45819"/>
    </mc:Choice>
    <mc:Fallback xmlns="">
      <p:transition spd="slow" advTm="45819"/>
    </mc:Fallback>
  </mc:AlternateContent>
  <p:extLst>
    <p:ext uri="{3A86A75C-4F4B-4683-9AE1-C65F6400EC91}">
      <p14:laserTraceLst xmlns:p14="http://schemas.microsoft.com/office/powerpoint/2010/main">
        <p14:tracePtLst>
          <p14:tracePt t="22785" x="12049125" y="3309938"/>
          <p14:tracePt t="22795" x="11944350" y="3294063"/>
          <p14:tracePt t="22812" x="11625263" y="3228975"/>
          <p14:tracePt t="22829" x="11426825" y="3173413"/>
          <p14:tracePt t="22848" x="11250613" y="3133725"/>
          <p14:tracePt t="22850" x="11163300" y="3109913"/>
          <p14:tracePt t="22863" x="11036300" y="3086100"/>
          <p14:tracePt t="22879" x="10963275" y="3062288"/>
          <p14:tracePt t="22897" x="10915650" y="3046413"/>
          <p14:tracePt t="22912" x="10907713" y="3046413"/>
          <p14:tracePt t="22931" x="10883900" y="2982913"/>
          <p14:tracePt t="23170" x="10733088" y="3062288"/>
          <p14:tracePt t="23176" x="10541000" y="3173413"/>
          <p14:tracePt t="23183" x="10310813" y="3309938"/>
          <p14:tracePt t="23197" x="9752013" y="3652838"/>
          <p14:tracePt t="23213" x="9129713" y="4027488"/>
          <p14:tracePt t="23232" x="8523288" y="4338638"/>
          <p14:tracePt t="23246" x="7926388" y="4568825"/>
          <p14:tracePt t="23263" x="7185025" y="4800600"/>
          <p14:tracePt t="23280" x="6873875" y="4856163"/>
          <p14:tracePt t="23297" x="6665913" y="4872038"/>
          <p14:tracePt t="23299" x="6578600" y="4872038"/>
          <p14:tracePt t="23312" x="6507163" y="4872038"/>
          <p14:tracePt t="23313" x="6451600" y="4856163"/>
          <p14:tracePt t="23328" x="6370638" y="4832350"/>
          <p14:tracePt t="23345" x="6315075" y="4808538"/>
          <p14:tracePt t="23363" x="6267450" y="4752975"/>
          <p14:tracePt t="23378" x="6243638" y="4681538"/>
          <p14:tracePt t="23639" x="6140450" y="4697413"/>
          <p14:tracePt t="23646" x="6019800" y="4729163"/>
          <p14:tracePt t="23663" x="5684838" y="4784725"/>
          <p14:tracePt t="23680" x="5470525" y="4784725"/>
          <p14:tracePt t="23697" x="5278438" y="4776788"/>
          <p14:tracePt t="23713" x="5038725" y="4697413"/>
          <p14:tracePt t="23735" x="4848225" y="4608513"/>
          <p14:tracePt t="23745" x="4776788" y="4576763"/>
          <p14:tracePt t="23764" x="4616450" y="4449763"/>
          <p14:tracePt t="23778" x="4513263" y="4362450"/>
          <p14:tracePt t="23797" x="4418013" y="4291013"/>
          <p14:tracePt t="23813" x="4329113" y="4225925"/>
          <p14:tracePt t="23828" x="4273550" y="4202113"/>
          <p14:tracePt t="23845" x="4241800" y="4178300"/>
          <p14:tracePt t="23864" x="4194175" y="4162425"/>
          <p14:tracePt t="23879" x="4162425" y="4162425"/>
          <p14:tracePt t="23895" x="4138613" y="4154488"/>
          <p14:tracePt t="23913" x="4098925" y="4146550"/>
          <p14:tracePt t="23928" x="4083050" y="4146550"/>
          <p14:tracePt t="23929" x="4067175" y="4146550"/>
          <p14:tracePt t="23945" x="4059238" y="4146550"/>
          <p14:tracePt t="23962" x="4019550" y="4146550"/>
          <p14:tracePt t="23982" x="3994150" y="4138613"/>
          <p14:tracePt t="23996" x="3978275" y="4130675"/>
          <p14:tracePt t="24021" x="3970338" y="4130675"/>
          <p14:tracePt t="24078" x="4019550" y="4130675"/>
          <p14:tracePt t="24086" x="4083050" y="4130675"/>
          <p14:tracePt t="24096" x="4162425" y="4130675"/>
          <p14:tracePt t="24113" x="4513263" y="4154488"/>
          <p14:tracePt t="24129" x="4745038" y="4162425"/>
          <p14:tracePt t="24146" x="4927600" y="4162425"/>
          <p14:tracePt t="24163" x="5006975" y="4162425"/>
          <p14:tracePt t="24181" x="5038725" y="4162425"/>
          <p14:tracePt t="24200" x="5046663" y="4162425"/>
          <p14:tracePt t="24230" x="5038725" y="4162425"/>
          <p14:tracePt t="24237" x="5022850" y="4170363"/>
          <p14:tracePt t="24246" x="5006975" y="4170363"/>
          <p14:tracePt t="24263" x="4975225" y="4178300"/>
          <p14:tracePt t="24280" x="4935538" y="4178300"/>
          <p14:tracePt t="24296" x="4919663" y="4178300"/>
          <p14:tracePt t="24314" x="4911725" y="4178300"/>
          <p14:tracePt t="24330" x="4903788" y="4178300"/>
          <p14:tracePt t="24345" x="4887913" y="4178300"/>
          <p14:tracePt t="24362" x="4872038" y="4170363"/>
          <p14:tracePt t="24378" x="4856163" y="4162425"/>
          <p14:tracePt t="24396" x="4840288" y="4162425"/>
          <p14:tracePt t="25049" x="4816475" y="4162425"/>
          <p14:tracePt t="25057" x="4784725" y="4170363"/>
          <p14:tracePt t="25065" x="4752975" y="4170363"/>
          <p14:tracePt t="25080" x="4695825" y="4178300"/>
          <p14:tracePt t="25096" x="4640263" y="4178300"/>
          <p14:tracePt t="25112" x="4592638" y="4186238"/>
          <p14:tracePt t="25129" x="4513263" y="4202113"/>
          <p14:tracePt t="25145" x="4473575" y="4217988"/>
          <p14:tracePt t="25162" x="4433888" y="4233863"/>
          <p14:tracePt t="25180" x="4370388" y="4265613"/>
          <p14:tracePt t="25195" x="4329113" y="4291013"/>
          <p14:tracePt t="25212" x="4281488" y="4314825"/>
          <p14:tracePt t="25232" x="4225925" y="4346575"/>
          <p14:tracePt t="25246" x="4178300" y="4370388"/>
          <p14:tracePt t="25264" x="4114800" y="4410075"/>
          <p14:tracePt t="25280" x="4067175" y="4425950"/>
          <p14:tracePt t="25295" x="4035425" y="4441825"/>
          <p14:tracePt t="25312" x="4002088" y="4457700"/>
          <p14:tracePt t="25330" x="3970338" y="4473575"/>
          <p14:tracePt t="25346" x="3946525" y="4481513"/>
          <p14:tracePt t="25363" x="3938588" y="4489450"/>
          <p14:tracePt t="25379" x="3906838" y="4505325"/>
          <p14:tracePt t="25396" x="3890963" y="4505325"/>
          <p14:tracePt t="25413" x="3875088" y="4513263"/>
          <p14:tracePt t="25429" x="3875088" y="4521200"/>
          <p14:tracePt t="25446" x="3867150" y="4521200"/>
          <p14:tracePt t="25474" x="3875088" y="4529138"/>
          <p14:tracePt t="25482" x="3898900" y="4529138"/>
          <p14:tracePt t="25496" x="3986213" y="4545013"/>
          <p14:tracePt t="25514" x="4106863" y="4552950"/>
          <p14:tracePt t="31469" x="4178300" y="4513263"/>
          <p14:tracePt t="31475" x="4257675" y="4449763"/>
          <p14:tracePt t="31482" x="4352925" y="4378325"/>
          <p14:tracePt t="31497" x="4632325" y="4178300"/>
          <p14:tracePt t="31513" x="5006975" y="3922713"/>
          <p14:tracePt t="31530" x="5478463" y="3652838"/>
          <p14:tracePt t="31548" x="6299200" y="3221038"/>
          <p14:tracePt t="31563" x="6842125" y="2951163"/>
          <p14:tracePt t="31579" x="7296150" y="2719388"/>
          <p14:tracePt t="31602" x="7734300" y="2495550"/>
          <p14:tracePt t="31614" x="7854950" y="2439988"/>
          <p14:tracePt t="31630" x="7902575" y="2400300"/>
          <p14:tracePt t="31646" x="7894638" y="2384425"/>
          <p14:tracePt t="31869" x="7894638" y="2273300"/>
          <p14:tracePt t="31876" x="7894638" y="2152650"/>
          <p14:tracePt t="31885" x="7894638" y="2041525"/>
          <p14:tracePt t="31895" x="7894638" y="1922463"/>
          <p14:tracePt t="31919" x="7886700" y="1666875"/>
          <p14:tracePt t="31926" x="7878763" y="1538288"/>
          <p14:tracePt t="31933" x="7878763" y="1458913"/>
          <p14:tracePt t="31945" x="7878763" y="1395413"/>
          <p14:tracePt t="31964" x="7870825" y="1228725"/>
          <p14:tracePt t="31983" x="7862888" y="1092200"/>
          <p14:tracePt t="31996" x="7854950" y="1060450"/>
          <p14:tracePt t="32017" x="7854950" y="933450"/>
          <p14:tracePt t="32030" x="7854950" y="862013"/>
          <p14:tracePt t="32047" x="7854950" y="804863"/>
          <p14:tracePt t="32050" x="7854950" y="781050"/>
          <p14:tracePt t="32067" x="7854950" y="741363"/>
          <p14:tracePt t="32070" x="7854950" y="717550"/>
          <p14:tracePt t="32079" x="7854950" y="685800"/>
          <p14:tracePt t="32097" x="7854950" y="630238"/>
          <p14:tracePt t="32116" x="7854950" y="534988"/>
          <p14:tracePt t="32129" x="7854950" y="454025"/>
          <p14:tracePt t="32552" x="8077200" y="31750"/>
          <p14:tracePt t="32563" x="8077200" y="23813"/>
          <p14:tracePt t="32571" x="8085138" y="15875"/>
          <p14:tracePt t="32578" x="8093075" y="7938"/>
          <p14:tracePt t="32692" x="8077200" y="47625"/>
          <p14:tracePt t="32699" x="8053388" y="87313"/>
          <p14:tracePt t="32750" x="7950200" y="358775"/>
          <p14:tracePt t="32756" x="7950200" y="366713"/>
          <p14:tracePt t="32764" x="7950200" y="374650"/>
          <p14:tracePt t="32782" x="7942263" y="382588"/>
          <p14:tracePt t="32807" x="7942263" y="390525"/>
          <p14:tracePt t="32973" x="7950200" y="390525"/>
          <p14:tracePt t="32985" x="7958138" y="390525"/>
          <p14:tracePt t="32996" x="7966075" y="390525"/>
          <p14:tracePt t="33012" x="7981950" y="390525"/>
          <p14:tracePt t="33031" x="7997825" y="374650"/>
          <p14:tracePt t="33051" x="8005763" y="374650"/>
          <p14:tracePt t="33062" x="8005763" y="366713"/>
          <p14:tracePt t="33079" x="8013700" y="366713"/>
          <p14:tracePt t="33201" x="8021638" y="366713"/>
          <p14:tracePt t="33215" x="8021638" y="358775"/>
          <p14:tracePt t="36748" x="7910513" y="493713"/>
          <p14:tracePt t="36753" x="7862888" y="582613"/>
          <p14:tracePt t="36763" x="7821613" y="669925"/>
          <p14:tracePt t="36780" x="7742238" y="852488"/>
          <p14:tracePt t="36782" x="7686675" y="981075"/>
          <p14:tracePt t="36802" x="7615238" y="1212850"/>
          <p14:tracePt t="36817" x="7535863" y="1474788"/>
          <p14:tracePt t="36823" x="7504113" y="1603375"/>
          <p14:tracePt t="36833" x="7446963" y="1833563"/>
          <p14:tracePt t="36847" x="7415213" y="2057400"/>
          <p14:tracePt t="36863" x="7383463" y="2265363"/>
          <p14:tracePt t="36882" x="7375525" y="2495550"/>
          <p14:tracePt t="36897" x="7375525" y="2624138"/>
          <p14:tracePt t="36923" x="7375525" y="2711450"/>
          <p14:tracePt t="36925" x="7375525" y="2727325"/>
          <p14:tracePt t="36932" x="7375525" y="2751138"/>
          <p14:tracePt t="36946" x="7375525" y="2767013"/>
          <p14:tracePt t="36967" x="7375525" y="2774950"/>
          <p14:tracePt t="37480" x="7367588" y="2814638"/>
          <p14:tracePt t="37488" x="7351713" y="2894013"/>
          <p14:tracePt t="37497" x="7335838" y="2959100"/>
          <p14:tracePt t="37512" x="7296150" y="3133725"/>
          <p14:tracePt t="37530" x="7248525" y="3349625"/>
          <p14:tracePt t="37547" x="7177088" y="3756025"/>
          <p14:tracePt t="37564" x="7135813" y="4059238"/>
          <p14:tracePt t="37579" x="7112000" y="4306888"/>
          <p14:tracePt t="37600" x="7096125" y="4624388"/>
          <p14:tracePt t="37618" x="7088188" y="4840288"/>
          <p14:tracePt t="37631" x="7088188" y="4935538"/>
          <p14:tracePt t="37646" x="7088188" y="4976813"/>
          <p14:tracePt t="37663" x="7088188" y="5000625"/>
          <p14:tracePt t="37680" x="7088188" y="5008563"/>
          <p14:tracePt t="37697" x="7088188" y="5016500"/>
          <p14:tracePt t="37725" x="7080250" y="5016500"/>
          <p14:tracePt t="44352" x="7145338" y="5000625"/>
          <p14:tracePt t="44358" x="7256463" y="4951413"/>
          <p14:tracePt t="44363" x="7391400" y="4895850"/>
          <p14:tracePt t="44378" x="7766050" y="4776788"/>
          <p14:tracePt t="44396" x="8229600" y="4689475"/>
          <p14:tracePt t="44412" x="8834438" y="4616450"/>
          <p14:tracePt t="44429" x="9871075" y="4624388"/>
          <p14:tracePt t="44446" x="10588625" y="4729163"/>
          <p14:tracePt t="44463" x="11442700" y="4919663"/>
          <p14:tracePt t="44479" x="11730038" y="5008563"/>
          <p14:tracePt t="44496" x="11833225" y="5048250"/>
          <p14:tracePt t="44512" x="11849100" y="5048250"/>
          <p14:tracePt t="44530" x="11841163" y="5048250"/>
          <p14:tracePt t="44736" x="11896725" y="5008563"/>
          <p14:tracePt t="44742" x="11976100" y="4959350"/>
          <p14:tracePt t="44748" x="12057063" y="4903788"/>
        </p14:tracePtLst>
      </p14:laserTraceLst>
    </p:ext>
  </p:extLs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A403CF-5CB1-E858-39E1-F3B669FAD0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6AE0D6-4A1D-51C7-4F3F-4CE6C6557C3C}"/>
              </a:ext>
            </a:extLst>
          </p:cNvPr>
          <p:cNvSpPr>
            <a:spLocks noGrp="1"/>
          </p:cNvSpPr>
          <p:nvPr>
            <p:ph type="title"/>
          </p:nvPr>
        </p:nvSpPr>
        <p:spPr/>
        <p:txBody>
          <a:bodyPr/>
          <a:lstStyle/>
          <a:p>
            <a:pPr algn="ctr"/>
            <a:r>
              <a:rPr lang="en-US" b="1" dirty="0">
                <a:solidFill>
                  <a:srgbClr val="002060"/>
                </a:solidFill>
              </a:rPr>
              <a:t>Methodology: Experimental Conditions</a:t>
            </a:r>
          </a:p>
        </p:txBody>
      </p:sp>
      <p:graphicFrame>
        <p:nvGraphicFramePr>
          <p:cNvPr id="4" name="Content Placeholder 3">
            <a:extLst>
              <a:ext uri="{FF2B5EF4-FFF2-40B4-BE49-F238E27FC236}">
                <a16:creationId xmlns:a16="http://schemas.microsoft.com/office/drawing/2014/main" id="{3F468217-DF05-F0C9-F17F-C4B2EC02423B}"/>
              </a:ext>
            </a:extLst>
          </p:cNvPr>
          <p:cNvGraphicFramePr>
            <a:graphicFrameLocks noGrp="1"/>
          </p:cNvGraphicFramePr>
          <p:nvPr>
            <p:ph idx="1"/>
            <p:extLst>
              <p:ext uri="{D42A27DB-BD31-4B8C-83A1-F6EECF244321}">
                <p14:modId xmlns:p14="http://schemas.microsoft.com/office/powerpoint/2010/main" val="7754727"/>
              </p:ext>
            </p:extLst>
          </p:nvPr>
        </p:nvGraphicFramePr>
        <p:xfrm>
          <a:off x="838198" y="1825625"/>
          <a:ext cx="10308222" cy="1854200"/>
        </p:xfrm>
        <a:graphic>
          <a:graphicData uri="http://schemas.openxmlformats.org/drawingml/2006/table">
            <a:tbl>
              <a:tblPr firstRow="1" bandRow="1">
                <a:tableStyleId>{5C22544A-7EE6-4342-B048-85BDC9FD1C3A}</a:tableStyleId>
              </a:tblPr>
              <a:tblGrid>
                <a:gridCol w="3212941">
                  <a:extLst>
                    <a:ext uri="{9D8B030D-6E8A-4147-A177-3AD203B41FA5}">
                      <a16:colId xmlns:a16="http://schemas.microsoft.com/office/drawing/2014/main" val="3503971987"/>
                    </a:ext>
                  </a:extLst>
                </a:gridCol>
                <a:gridCol w="7095281">
                  <a:extLst>
                    <a:ext uri="{9D8B030D-6E8A-4147-A177-3AD203B41FA5}">
                      <a16:colId xmlns:a16="http://schemas.microsoft.com/office/drawing/2014/main" val="3443803916"/>
                    </a:ext>
                  </a:extLst>
                </a:gridCol>
              </a:tblGrid>
              <a:tr h="370840">
                <a:tc>
                  <a:txBody>
                    <a:bodyPr/>
                    <a:lstStyle/>
                    <a:p>
                      <a:r>
                        <a:rPr lang="en-US" dirty="0"/>
                        <a:t>Experiments</a:t>
                      </a:r>
                    </a:p>
                  </a:txBody>
                  <a:tcPr/>
                </a:tc>
                <a:tc>
                  <a:txBody>
                    <a:bodyPr/>
                    <a:lstStyle/>
                    <a:p>
                      <a:r>
                        <a:rPr lang="en-US" dirty="0"/>
                        <a:t>Description</a:t>
                      </a:r>
                    </a:p>
                  </a:txBody>
                  <a:tcPr/>
                </a:tc>
                <a:extLst>
                  <a:ext uri="{0D108BD9-81ED-4DB2-BD59-A6C34878D82A}">
                    <a16:rowId xmlns:a16="http://schemas.microsoft.com/office/drawing/2014/main" val="2935206536"/>
                  </a:ext>
                </a:extLst>
              </a:tr>
              <a:tr h="370840">
                <a:tc>
                  <a:txBody>
                    <a:bodyPr/>
                    <a:lstStyle/>
                    <a:p>
                      <a:r>
                        <a:rPr lang="en-US" sz="1800" b="1" i="0" kern="1200" dirty="0">
                          <a:solidFill>
                            <a:srgbClr val="002060"/>
                          </a:solidFill>
                          <a:effectLst/>
                          <a:latin typeface="+mn-lt"/>
                          <a:ea typeface="+mn-ea"/>
                          <a:cs typeface="+mn-cs"/>
                        </a:rPr>
                        <a:t>E1 (Baseline)</a:t>
                      </a:r>
                      <a:endParaRPr lang="en-US" dirty="0">
                        <a:solidFill>
                          <a:srgbClr val="002060"/>
                        </a:solidFill>
                      </a:endParaRPr>
                    </a:p>
                  </a:txBody>
                  <a:tcPr/>
                </a:tc>
                <a:tc>
                  <a:txBody>
                    <a:bodyPr/>
                    <a:lstStyle/>
                    <a:p>
                      <a:r>
                        <a:rPr lang="en-US" sz="1800" b="0" i="0" kern="1200" dirty="0">
                          <a:solidFill>
                            <a:schemeClr val="dk1"/>
                          </a:solidFill>
                          <a:effectLst/>
                          <a:latin typeface="+mn-lt"/>
                          <a:ea typeface="+mn-ea"/>
                          <a:cs typeface="+mn-cs"/>
                        </a:rPr>
                        <a:t>Raw input, PII sent as is (</a:t>
                      </a:r>
                      <a:r>
                        <a:rPr lang="en-US" sz="1800" b="0" i="1" kern="1200" dirty="0" err="1">
                          <a:solidFill>
                            <a:schemeClr val="dk1"/>
                          </a:solidFill>
                          <a:effectLst/>
                          <a:latin typeface="+mn-lt"/>
                          <a:ea typeface="+mn-ea"/>
                          <a:cs typeface="+mn-cs"/>
                        </a:rPr>
                        <a:t>Iraw</a:t>
                      </a:r>
                      <a:r>
                        <a:rPr lang="en-US" sz="1800" b="0" i="0" kern="1200" dirty="0">
                          <a:solidFill>
                            <a:schemeClr val="dk1"/>
                          </a:solidFill>
                          <a:effectLst/>
                          <a:latin typeface="+mn-lt"/>
                          <a:ea typeface="+mn-ea"/>
                          <a:cs typeface="+mn-cs"/>
                        </a:rPr>
                        <a:t>​).</a:t>
                      </a:r>
                      <a:endParaRPr lang="en-US" dirty="0"/>
                    </a:p>
                  </a:txBody>
                  <a:tcPr/>
                </a:tc>
                <a:extLst>
                  <a:ext uri="{0D108BD9-81ED-4DB2-BD59-A6C34878D82A}">
                    <a16:rowId xmlns:a16="http://schemas.microsoft.com/office/drawing/2014/main" val="4266217642"/>
                  </a:ext>
                </a:extLst>
              </a:tr>
              <a:tr h="370840">
                <a:tc>
                  <a:txBody>
                    <a:bodyPr/>
                    <a:lstStyle/>
                    <a:p>
                      <a:r>
                        <a:rPr lang="en-US" sz="1800" b="1" i="0" kern="1200" dirty="0">
                          <a:solidFill>
                            <a:srgbClr val="002060"/>
                          </a:solidFill>
                          <a:effectLst/>
                          <a:latin typeface="+mn-lt"/>
                          <a:ea typeface="+mn-ea"/>
                          <a:cs typeface="+mn-cs"/>
                        </a:rPr>
                        <a:t>E2 (Masking)</a:t>
                      </a:r>
                      <a:endParaRPr lang="en-US" dirty="0">
                        <a:solidFill>
                          <a:srgbClr val="002060"/>
                        </a:solidFill>
                      </a:endParaRPr>
                    </a:p>
                  </a:txBody>
                  <a:tcPr/>
                </a:tc>
                <a:tc>
                  <a:txBody>
                    <a:bodyPr/>
                    <a:lstStyle/>
                    <a:p>
                      <a:r>
                        <a:rPr lang="en-US" sz="1800" b="0" i="0" kern="1200" dirty="0">
                          <a:solidFill>
                            <a:schemeClr val="dk1"/>
                          </a:solidFill>
                          <a:effectLst/>
                          <a:latin typeface="+mn-lt"/>
                          <a:ea typeface="+mn-ea"/>
                          <a:cs typeface="+mn-cs"/>
                        </a:rPr>
                        <a:t>NER, PII replaced with </a:t>
                      </a:r>
                      <a:r>
                        <a:rPr lang="en-US" sz="1800" b="1" i="0" kern="1200" dirty="0">
                          <a:solidFill>
                            <a:schemeClr val="dk1"/>
                          </a:solidFill>
                          <a:effectLst/>
                          <a:latin typeface="+mn-lt"/>
                          <a:ea typeface="+mn-ea"/>
                          <a:cs typeface="+mn-cs"/>
                        </a:rPr>
                        <a:t>"XXXX"</a:t>
                      </a:r>
                      <a:r>
                        <a:rPr lang="en-US" sz="1800" b="0" i="0" kern="1200" dirty="0">
                          <a:solidFill>
                            <a:schemeClr val="dk1"/>
                          </a:solidFill>
                          <a:effectLst/>
                          <a:latin typeface="+mn-lt"/>
                          <a:ea typeface="+mn-ea"/>
                          <a:cs typeface="+mn-cs"/>
                        </a:rPr>
                        <a:t> (</a:t>
                      </a:r>
                      <a:r>
                        <a:rPr lang="en-US" sz="1800" b="0" i="1" kern="1200" dirty="0" err="1">
                          <a:solidFill>
                            <a:schemeClr val="dk1"/>
                          </a:solidFill>
                          <a:effectLst/>
                          <a:latin typeface="+mn-lt"/>
                          <a:ea typeface="+mn-ea"/>
                          <a:cs typeface="+mn-cs"/>
                        </a:rPr>
                        <a:t>Imasked</a:t>
                      </a:r>
                      <a:r>
                        <a:rPr lang="en-US" sz="1800" b="0" i="0" kern="1200" dirty="0">
                          <a:solidFill>
                            <a:schemeClr val="dk1"/>
                          </a:solidFill>
                          <a:effectLst/>
                          <a:latin typeface="+mn-lt"/>
                          <a:ea typeface="+mn-ea"/>
                          <a:cs typeface="+mn-cs"/>
                        </a:rPr>
                        <a:t>​).</a:t>
                      </a:r>
                      <a:endParaRPr lang="en-US" dirty="0"/>
                    </a:p>
                  </a:txBody>
                  <a:tcPr/>
                </a:tc>
                <a:extLst>
                  <a:ext uri="{0D108BD9-81ED-4DB2-BD59-A6C34878D82A}">
                    <a16:rowId xmlns:a16="http://schemas.microsoft.com/office/drawing/2014/main" val="1223994580"/>
                  </a:ext>
                </a:extLst>
              </a:tr>
              <a:tr h="370840">
                <a:tc>
                  <a:txBody>
                    <a:bodyPr/>
                    <a:lstStyle/>
                    <a:p>
                      <a:r>
                        <a:rPr lang="en-US" sz="1800" b="1" i="0" kern="1200" dirty="0">
                          <a:solidFill>
                            <a:srgbClr val="002060"/>
                          </a:solidFill>
                          <a:effectLst/>
                          <a:latin typeface="+mn-lt"/>
                          <a:ea typeface="+mn-ea"/>
                          <a:cs typeface="+mn-cs"/>
                        </a:rPr>
                        <a:t>E3 (Faking)</a:t>
                      </a:r>
                      <a:endParaRPr lang="en-US" dirty="0">
                        <a:solidFill>
                          <a:srgbClr val="002060"/>
                        </a:solidFill>
                      </a:endParaRPr>
                    </a:p>
                  </a:txBody>
                  <a:tcPr/>
                </a:tc>
                <a:tc>
                  <a:txBody>
                    <a:bodyPr/>
                    <a:lstStyle/>
                    <a:p>
                      <a:r>
                        <a:rPr lang="en-US" sz="1800" b="0" i="0" kern="1200" dirty="0">
                          <a:solidFill>
                            <a:schemeClr val="dk1"/>
                          </a:solidFill>
                          <a:effectLst/>
                          <a:latin typeface="+mn-lt"/>
                          <a:ea typeface="+mn-ea"/>
                          <a:cs typeface="+mn-cs"/>
                        </a:rPr>
                        <a:t>NER, PII replaced with </a:t>
                      </a:r>
                      <a:r>
                        <a:rPr lang="en-US" sz="1800" b="1" i="0" kern="1200" dirty="0">
                          <a:solidFill>
                            <a:schemeClr val="dk1"/>
                          </a:solidFill>
                          <a:effectLst/>
                          <a:latin typeface="+mn-lt"/>
                          <a:ea typeface="+mn-ea"/>
                          <a:cs typeface="+mn-cs"/>
                        </a:rPr>
                        <a:t>Synthetic/Fake Data</a:t>
                      </a:r>
                      <a:r>
                        <a:rPr lang="en-US" sz="1800" b="0" i="0" kern="1200" dirty="0">
                          <a:solidFill>
                            <a:schemeClr val="dk1"/>
                          </a:solidFill>
                          <a:effectLst/>
                          <a:latin typeface="+mn-lt"/>
                          <a:ea typeface="+mn-ea"/>
                          <a:cs typeface="+mn-cs"/>
                        </a:rPr>
                        <a:t> (</a:t>
                      </a:r>
                      <a:r>
                        <a:rPr lang="en-US" sz="1800" b="0" i="1" kern="1200" dirty="0" err="1">
                          <a:solidFill>
                            <a:schemeClr val="dk1"/>
                          </a:solidFill>
                          <a:effectLst/>
                          <a:latin typeface="+mn-lt"/>
                          <a:ea typeface="+mn-ea"/>
                          <a:cs typeface="+mn-cs"/>
                        </a:rPr>
                        <a:t>Ifaked</a:t>
                      </a:r>
                      <a:r>
                        <a:rPr lang="en-US" sz="1800" b="0" i="0" kern="1200" dirty="0">
                          <a:solidFill>
                            <a:schemeClr val="dk1"/>
                          </a:solidFill>
                          <a:effectLst/>
                          <a:latin typeface="+mn-lt"/>
                          <a:ea typeface="+mn-ea"/>
                          <a:cs typeface="+mn-cs"/>
                        </a:rPr>
                        <a:t>​)</a:t>
                      </a:r>
                      <a:endParaRPr lang="en-US" dirty="0"/>
                    </a:p>
                  </a:txBody>
                  <a:tcPr/>
                </a:tc>
                <a:extLst>
                  <a:ext uri="{0D108BD9-81ED-4DB2-BD59-A6C34878D82A}">
                    <a16:rowId xmlns:a16="http://schemas.microsoft.com/office/drawing/2014/main" val="3288561012"/>
                  </a:ext>
                </a:extLst>
              </a:tr>
              <a:tr h="370840">
                <a:tc>
                  <a:txBody>
                    <a:bodyPr/>
                    <a:lstStyle/>
                    <a:p>
                      <a:r>
                        <a:rPr lang="en-US" sz="1800" b="1" i="0" kern="1200" dirty="0">
                          <a:solidFill>
                            <a:srgbClr val="002060"/>
                          </a:solidFill>
                          <a:effectLst/>
                          <a:latin typeface="+mn-lt"/>
                          <a:ea typeface="+mn-ea"/>
                          <a:cs typeface="+mn-cs"/>
                        </a:rPr>
                        <a:t>E4 (CSM/LLM)</a:t>
                      </a:r>
                      <a:endParaRPr lang="en-US" dirty="0">
                        <a:solidFill>
                          <a:srgbClr val="002060"/>
                        </a:solidFill>
                      </a:endParaRPr>
                    </a:p>
                  </a:txBody>
                  <a:tcPr/>
                </a:tc>
                <a:tc>
                  <a:txBody>
                    <a:bodyPr/>
                    <a:lstStyle/>
                    <a:p>
                      <a:r>
                        <a:rPr lang="en-US" sz="1800" b="0" i="0" kern="1200" dirty="0">
                          <a:solidFill>
                            <a:schemeClr val="dk1"/>
                          </a:solidFill>
                          <a:effectLst/>
                          <a:latin typeface="+mn-lt"/>
                          <a:ea typeface="+mn-ea"/>
                          <a:cs typeface="+mn-cs"/>
                        </a:rPr>
                        <a:t>Local LLM (Ollama) for </a:t>
                      </a:r>
                      <a:r>
                        <a:rPr lang="en-US" sz="1800" b="1" i="0" kern="1200" dirty="0">
                          <a:solidFill>
                            <a:schemeClr val="dk1"/>
                          </a:solidFill>
                          <a:effectLst/>
                          <a:latin typeface="+mn-lt"/>
                          <a:ea typeface="+mn-ea"/>
                          <a:cs typeface="+mn-cs"/>
                        </a:rPr>
                        <a:t>Context-Aware Abstraction</a:t>
                      </a:r>
                      <a:r>
                        <a:rPr lang="en-US" sz="1800" b="0" i="0" kern="1200" dirty="0">
                          <a:solidFill>
                            <a:schemeClr val="dk1"/>
                          </a:solidFill>
                          <a:effectLst/>
                          <a:latin typeface="+mn-lt"/>
                          <a:ea typeface="+mn-ea"/>
                          <a:cs typeface="+mn-cs"/>
                        </a:rPr>
                        <a:t> (</a:t>
                      </a:r>
                      <a:r>
                        <a:rPr lang="en-US" sz="1800" b="0" i="1" kern="1200" dirty="0" err="1">
                          <a:solidFill>
                            <a:schemeClr val="dk1"/>
                          </a:solidFill>
                          <a:effectLst/>
                          <a:latin typeface="+mn-lt"/>
                          <a:ea typeface="+mn-ea"/>
                          <a:cs typeface="+mn-cs"/>
                        </a:rPr>
                        <a:t>Iabstracted</a:t>
                      </a:r>
                      <a:r>
                        <a:rPr lang="en-US" sz="1800" b="0" i="0" kern="1200" dirty="0">
                          <a:solidFill>
                            <a:schemeClr val="dk1"/>
                          </a:solidFill>
                          <a:effectLst/>
                          <a:latin typeface="+mn-lt"/>
                          <a:ea typeface="+mn-ea"/>
                          <a:cs typeface="+mn-cs"/>
                        </a:rPr>
                        <a:t>​)</a:t>
                      </a:r>
                      <a:endParaRPr lang="en-US" dirty="0"/>
                    </a:p>
                  </a:txBody>
                  <a:tcPr/>
                </a:tc>
                <a:extLst>
                  <a:ext uri="{0D108BD9-81ED-4DB2-BD59-A6C34878D82A}">
                    <a16:rowId xmlns:a16="http://schemas.microsoft.com/office/drawing/2014/main" val="2968731250"/>
                  </a:ext>
                </a:extLst>
              </a:tr>
            </a:tbl>
          </a:graphicData>
        </a:graphic>
      </p:graphicFrame>
      <p:pic>
        <p:nvPicPr>
          <p:cNvPr id="6" name="Picture 5">
            <a:extLst>
              <a:ext uri="{FF2B5EF4-FFF2-40B4-BE49-F238E27FC236}">
                <a16:creationId xmlns:a16="http://schemas.microsoft.com/office/drawing/2014/main" id="{F92D0EBE-172E-107C-18FB-5F5FB16AB2B6}"/>
              </a:ext>
            </a:extLst>
          </p:cNvPr>
          <p:cNvPicPr>
            <a:picLocks noChangeAspect="1"/>
          </p:cNvPicPr>
          <p:nvPr/>
        </p:nvPicPr>
        <p:blipFill>
          <a:blip r:embed="rId3"/>
          <a:stretch>
            <a:fillRect/>
          </a:stretch>
        </p:blipFill>
        <p:spPr>
          <a:xfrm>
            <a:off x="745602" y="4084002"/>
            <a:ext cx="10400818" cy="2408873"/>
          </a:xfrm>
          <a:prstGeom prst="rect">
            <a:avLst/>
          </a:prstGeom>
        </p:spPr>
      </p:pic>
      <p:sp>
        <p:nvSpPr>
          <p:cNvPr id="7" name="TextBox 6">
            <a:extLst>
              <a:ext uri="{FF2B5EF4-FFF2-40B4-BE49-F238E27FC236}">
                <a16:creationId xmlns:a16="http://schemas.microsoft.com/office/drawing/2014/main" id="{DA00A730-780C-C942-52CF-478D43FBFA35}"/>
              </a:ext>
            </a:extLst>
          </p:cNvPr>
          <p:cNvSpPr txBox="1"/>
          <p:nvPr/>
        </p:nvSpPr>
        <p:spPr>
          <a:xfrm>
            <a:off x="5310891" y="6488668"/>
            <a:ext cx="1030146" cy="369332"/>
          </a:xfrm>
          <a:prstGeom prst="rect">
            <a:avLst/>
          </a:prstGeom>
          <a:noFill/>
        </p:spPr>
        <p:txBody>
          <a:bodyPr wrap="square" rtlCol="0">
            <a:spAutoFit/>
          </a:bodyPr>
          <a:lstStyle/>
          <a:p>
            <a:r>
              <a:rPr lang="en-US" b="1" dirty="0"/>
              <a:t>Figure: 6</a:t>
            </a:r>
          </a:p>
        </p:txBody>
      </p:sp>
    </p:spTree>
    <p:extLst>
      <p:ext uri="{BB962C8B-B14F-4D97-AF65-F5344CB8AC3E}">
        <p14:creationId xmlns:p14="http://schemas.microsoft.com/office/powerpoint/2010/main" val="1503891009"/>
      </p:ext>
    </p:extLst>
  </p:cSld>
  <p:clrMapOvr>
    <a:masterClrMapping/>
  </p:clrMapOvr>
  <mc:AlternateContent xmlns:mc="http://schemas.openxmlformats.org/markup-compatibility/2006" xmlns:p14="http://schemas.microsoft.com/office/powerpoint/2010/main">
    <mc:Choice Requires="p14">
      <p:transition spd="slow" p14:dur="2000" advTm="43200"/>
    </mc:Choice>
    <mc:Fallback xmlns="">
      <p:transition spd="slow" advTm="43200"/>
    </mc:Fallback>
  </mc:AlternateContent>
  <p:extLst>
    <p:ext uri="{3A86A75C-4F4B-4683-9AE1-C65F6400EC91}">
      <p14:laserTraceLst xmlns:p14="http://schemas.microsoft.com/office/powerpoint/2010/main">
        <p14:tracePtLst>
          <p14:tracePt t="570" x="11833225" y="3563938"/>
          <p14:tracePt t="582" x="11155363" y="3613150"/>
          <p14:tracePt t="598" x="10406063" y="3652838"/>
          <p14:tracePt t="621" x="9274175" y="3716338"/>
          <p14:tracePt t="632" x="8970963" y="3732213"/>
          <p14:tracePt t="633" x="8683625" y="3740150"/>
          <p14:tracePt t="650" x="8245475" y="3756025"/>
          <p14:tracePt t="666" x="7981950" y="3756025"/>
          <p14:tracePt t="685" x="7766050" y="3716338"/>
          <p14:tracePt t="700" x="7718425" y="3676650"/>
          <p14:tracePt t="716" x="7678738" y="3613150"/>
          <p14:tracePt t="733" x="7670800" y="3548063"/>
          <p14:tracePt t="1163" x="7623175" y="3476625"/>
          <p14:tracePt t="1166" x="7567613" y="3397250"/>
          <p14:tracePt t="1184" x="7470775" y="3228975"/>
          <p14:tracePt t="1199" x="7407275" y="3078163"/>
          <p14:tracePt t="1220" x="7351713" y="2822575"/>
          <p14:tracePt t="1235" x="7335838" y="2655888"/>
          <p14:tracePt t="1253" x="7327900" y="2416175"/>
          <p14:tracePt t="1265" x="7335838" y="2344738"/>
          <p14:tracePt t="1283" x="7383463" y="2152650"/>
          <p14:tracePt t="1300" x="7407275" y="2065338"/>
          <p14:tracePt t="1317" x="7446963" y="1993900"/>
          <p14:tracePt t="1335" x="7462838" y="1962150"/>
          <p14:tracePt t="1348" x="7470775" y="1954213"/>
          <p14:tracePt t="1380" x="7470775" y="1946275"/>
          <p14:tracePt t="1388" x="7478713" y="1946275"/>
          <p14:tracePt t="1398" x="7486650" y="1946275"/>
          <p14:tracePt t="1417" x="7519988" y="1993900"/>
          <p14:tracePt t="1434" x="7551738" y="2065338"/>
          <p14:tracePt t="1449" x="7575550" y="2136775"/>
          <p14:tracePt t="1469" x="7615238" y="2273300"/>
          <p14:tracePt t="1484" x="7662863" y="2400300"/>
          <p14:tracePt t="1502" x="7758113" y="2647950"/>
          <p14:tracePt t="1516" x="7829550" y="2814638"/>
          <p14:tracePt t="1532" x="7902575" y="2951163"/>
          <p14:tracePt t="1550" x="7958138" y="3070225"/>
          <p14:tracePt t="1569" x="8013700" y="3165475"/>
          <p14:tracePt t="1582" x="8029575" y="3197225"/>
          <p14:tracePt t="1599" x="8037513" y="3213100"/>
          <p14:tracePt t="1617" x="8053388" y="3221038"/>
          <p14:tracePt t="1682" x="8045450" y="3213100"/>
          <p14:tracePt t="6538" x="7886700" y="3213100"/>
          <p14:tracePt t="6545" x="7646988" y="3213100"/>
          <p14:tracePt t="6552" x="7367588" y="3213100"/>
          <p14:tracePt t="6567" x="6761163" y="3197225"/>
          <p14:tracePt t="6582" x="6116638" y="3125788"/>
          <p14:tracePt t="6601" x="5486400" y="3030538"/>
          <p14:tracePt t="6603" x="5167313" y="2967038"/>
          <p14:tracePt t="6615" x="4887913" y="2909888"/>
          <p14:tracePt t="6634" x="4225925" y="2751138"/>
          <p14:tracePt t="6649" x="3883025" y="2671763"/>
          <p14:tracePt t="6668" x="3603625" y="2592388"/>
          <p14:tracePt t="6685" x="3468688" y="2543175"/>
          <p14:tracePt t="6688" x="3421063" y="2527300"/>
          <p14:tracePt t="6703" x="3349625" y="2511425"/>
          <p14:tracePt t="6718" x="3292475" y="2495550"/>
          <p14:tracePt t="6732" x="3244850" y="2487613"/>
          <p14:tracePt t="6753" x="3205163" y="2479675"/>
          <p14:tracePt t="6756" x="3181350" y="2471738"/>
          <p14:tracePt t="6767" x="3165475" y="2471738"/>
          <p14:tracePt t="6787" x="3141663" y="2471738"/>
          <p14:tracePt t="6788" x="3141663" y="2455863"/>
          <p14:tracePt t="7020" x="3062288" y="2455863"/>
          <p14:tracePt t="7028" x="2957513" y="2455863"/>
          <p14:tracePt t="7033" x="2846388" y="2447925"/>
          <p14:tracePt t="7050" x="2624138" y="2416175"/>
          <p14:tracePt t="7067" x="2416175" y="2376488"/>
          <p14:tracePt t="7070" x="2320925" y="2352675"/>
          <p14:tracePt t="7082" x="2232025" y="2336800"/>
          <p14:tracePt t="7086" x="2160588" y="2328863"/>
          <p14:tracePt t="7100" x="2041525" y="2312988"/>
          <p14:tracePt t="7115" x="1970088" y="2297113"/>
          <p14:tracePt t="7133" x="1938338" y="2297113"/>
          <p14:tracePt t="7197" x="1970088" y="2297113"/>
          <p14:tracePt t="7203" x="2017713" y="2305050"/>
          <p14:tracePt t="7219" x="2073275" y="2320925"/>
          <p14:tracePt t="7223" x="2136775" y="2328863"/>
          <p14:tracePt t="7226" x="2224088" y="2336800"/>
          <p14:tracePt t="7237" x="2312988" y="2352675"/>
          <p14:tracePt t="7249" x="2503488" y="2368550"/>
          <p14:tracePt t="7271" x="2838450" y="2416175"/>
          <p14:tracePt t="7283" x="2957513" y="2432050"/>
          <p14:tracePt t="7303" x="3300413" y="2447925"/>
          <p14:tracePt t="7305" x="3397250" y="2447925"/>
          <p14:tracePt t="7319" x="3508375" y="2447925"/>
          <p14:tracePt t="7325" x="3587750" y="2447925"/>
          <p14:tracePt t="7336" x="3756025" y="2447925"/>
          <p14:tracePt t="7340" x="3819525" y="2447925"/>
          <p14:tracePt t="7349" x="3883025" y="2447925"/>
          <p14:tracePt t="7366" x="3978275" y="2447925"/>
          <p14:tracePt t="7391" x="4043363" y="2447925"/>
          <p14:tracePt t="7395" x="4051300" y="2447925"/>
          <p14:tracePt t="7399" x="4059238" y="2439988"/>
          <p14:tracePt t="7416" x="4067175" y="2439988"/>
          <p14:tracePt t="7435" x="4075113" y="2439988"/>
          <p14:tracePt t="7935" x="4138613" y="2439988"/>
          <p14:tracePt t="7941" x="4233863" y="2424113"/>
          <p14:tracePt t="7950" x="4337050" y="2416175"/>
          <p14:tracePt t="7970" x="4672013" y="2368550"/>
          <p14:tracePt t="7983" x="4911725" y="2328863"/>
          <p14:tracePt t="8001" x="5111750" y="2305050"/>
          <p14:tracePt t="8017" x="5286375" y="2289175"/>
          <p14:tracePt t="8020" x="5357813" y="2281238"/>
          <p14:tracePt t="8034" x="5446713" y="2273300"/>
          <p14:tracePt t="8050" x="5510213" y="2273300"/>
          <p14:tracePt t="8066" x="5534025" y="2273300"/>
          <p14:tracePt t="8084" x="5549900" y="2273300"/>
          <p14:tracePt t="8101" x="5557838" y="2273300"/>
          <p14:tracePt t="8123" x="5557838" y="2289175"/>
          <p14:tracePt t="9129" x="5589588" y="2297113"/>
          <p14:tracePt t="9135" x="5645150" y="2312988"/>
          <p14:tracePt t="9149" x="5757863" y="2344738"/>
          <p14:tracePt t="9166" x="5861050" y="2376488"/>
          <p14:tracePt t="9184" x="5940425" y="2392363"/>
          <p14:tracePt t="9201" x="6011863" y="2424113"/>
          <p14:tracePt t="9217" x="6027738" y="2424113"/>
          <p14:tracePt t="9232" x="6043613" y="2432050"/>
          <p14:tracePt t="9250" x="6043613" y="2439988"/>
          <p14:tracePt t="9270" x="6051550" y="2439988"/>
          <p14:tracePt t="9414" x="6059488" y="2439988"/>
          <p14:tracePt t="9434" x="6067425" y="2439988"/>
          <p14:tracePt t="9442" x="6075363" y="2439988"/>
          <p14:tracePt t="9449" x="6091238" y="2439988"/>
          <p14:tracePt t="9466" x="6108700" y="2439988"/>
          <p14:tracePt t="9482" x="6140450" y="2447925"/>
          <p14:tracePt t="9499" x="6188075" y="2455863"/>
          <p14:tracePt t="9517" x="6211888" y="2471738"/>
          <p14:tracePt t="9533" x="6243638" y="2471738"/>
          <p14:tracePt t="9550" x="6251575" y="2479675"/>
          <p14:tracePt t="9591" x="6251575" y="2487613"/>
          <p14:tracePt t="11586" x="6259513" y="2487613"/>
          <p14:tracePt t="11593" x="6291263" y="2487613"/>
          <p14:tracePt t="11600" x="6330950" y="2495550"/>
          <p14:tracePt t="11617" x="6402388" y="2503488"/>
          <p14:tracePt t="11633" x="6483350" y="2519363"/>
          <p14:tracePt t="11650" x="6618288" y="2535238"/>
          <p14:tracePt t="11667" x="6697663" y="2543175"/>
          <p14:tracePt t="11683" x="6761163" y="2551113"/>
          <p14:tracePt t="11702" x="6850063" y="2559050"/>
          <p14:tracePt t="11717" x="6881813" y="2559050"/>
          <p14:tracePt t="11734" x="6921500" y="2576513"/>
          <p14:tracePt t="11750" x="6977063" y="2584450"/>
          <p14:tracePt t="11766" x="7000875" y="2592388"/>
          <p14:tracePt t="11781" x="7024688" y="2592388"/>
          <p14:tracePt t="11805" x="7040563" y="2592388"/>
          <p14:tracePt t="11817" x="7048500" y="2592388"/>
          <p14:tracePt t="11833" x="7056438" y="2592388"/>
          <p14:tracePt t="14433" x="7040563" y="2592388"/>
          <p14:tracePt t="14438" x="7008813" y="2600325"/>
          <p14:tracePt t="14450" x="6977063" y="2600325"/>
          <p14:tracePt t="14468" x="6802438" y="2632075"/>
          <p14:tracePt t="14484" x="6642100" y="2640013"/>
          <p14:tracePt t="14499" x="6434138" y="2663825"/>
          <p14:tracePt t="14516" x="6059488" y="2703513"/>
          <p14:tracePt t="14535" x="5765800" y="2735263"/>
          <p14:tracePt t="14548" x="5422900" y="2767013"/>
          <p14:tracePt t="14566" x="4935538" y="2822575"/>
          <p14:tracePt t="14582" x="4648200" y="2862263"/>
          <p14:tracePt t="14599" x="4410075" y="2919413"/>
          <p14:tracePt t="14618" x="4162425" y="2990850"/>
          <p14:tracePt t="14634" x="4051300" y="3022600"/>
          <p14:tracePt t="14649" x="3978275" y="3038475"/>
          <p14:tracePt t="14666" x="3914775" y="3038475"/>
          <p14:tracePt t="15579" x="3954463" y="3038475"/>
          <p14:tracePt t="15585" x="4011613" y="3038475"/>
          <p14:tracePt t="15598" x="4067175" y="3030538"/>
          <p14:tracePt t="15615" x="4194175" y="3014663"/>
          <p14:tracePt t="15632" x="4265613" y="3006725"/>
          <p14:tracePt t="15649" x="4313238" y="2990850"/>
          <p14:tracePt t="15665" x="4362450" y="2982913"/>
          <p14:tracePt t="15683" x="4394200" y="2982913"/>
          <p14:tracePt t="15701" x="4418013" y="2982913"/>
          <p14:tracePt t="15715" x="4425950" y="2982913"/>
          <p14:tracePt t="15733" x="4433888" y="2982913"/>
          <p14:tracePt t="15847" x="4441825" y="2974975"/>
          <p14:tracePt t="15861" x="4441825" y="2951163"/>
          <p14:tracePt t="18318" x="4489450" y="2951163"/>
          <p14:tracePt t="18325" x="4545013" y="2943225"/>
          <p14:tracePt t="18331" x="4600575" y="2943225"/>
          <p14:tracePt t="18349" x="4721225" y="2935288"/>
          <p14:tracePt t="18365" x="4848225" y="2935288"/>
          <p14:tracePt t="18384" x="5014913" y="2935288"/>
          <p14:tracePt t="18398" x="5127625" y="2943225"/>
          <p14:tracePt t="18416" x="5262563" y="2967038"/>
          <p14:tracePt t="18433" x="5341938" y="2982913"/>
          <p14:tracePt t="18450" x="5454650" y="3006725"/>
          <p14:tracePt t="18466" x="5534025" y="3030538"/>
          <p14:tracePt t="18485" x="5613400" y="3046413"/>
          <p14:tracePt t="18499" x="5692775" y="3062288"/>
          <p14:tracePt t="18516" x="5837238" y="3086100"/>
          <p14:tracePt t="18533" x="5924550" y="3094038"/>
          <p14:tracePt t="18551" x="6059488" y="3101975"/>
          <p14:tracePt t="18569" x="6124575" y="3101975"/>
          <p14:tracePt t="18582" x="6180138" y="3101975"/>
          <p14:tracePt t="18601" x="6235700" y="3101975"/>
          <p14:tracePt t="18615" x="6251575" y="3101975"/>
          <p14:tracePt t="18633" x="6259513" y="3101975"/>
          <p14:tracePt t="19706" x="6267450" y="3101975"/>
          <p14:tracePt t="19710" x="6275388" y="3101975"/>
          <p14:tracePt t="19718" x="6283325" y="3101975"/>
          <p14:tracePt t="19733" x="6315075" y="3101975"/>
          <p14:tracePt t="19750" x="6338888" y="3086100"/>
          <p14:tracePt t="19766" x="6386513" y="3078163"/>
          <p14:tracePt t="19784" x="6451600" y="3078163"/>
          <p14:tracePt t="19801" x="6499225" y="3070225"/>
          <p14:tracePt t="19816" x="6554788" y="3062288"/>
          <p14:tracePt t="19835" x="6642100" y="3062288"/>
          <p14:tracePt t="19851" x="6713538" y="3054350"/>
          <p14:tracePt t="19866" x="6784975" y="3046413"/>
          <p14:tracePt t="19883" x="6897688" y="3046413"/>
          <p14:tracePt t="19898" x="6969125" y="3046413"/>
          <p14:tracePt t="19917" x="7104063" y="3046413"/>
          <p14:tracePt t="19933" x="7169150" y="3046413"/>
          <p14:tracePt t="19954" x="7272338" y="3046413"/>
          <p14:tracePt t="19967" x="7319963" y="3046413"/>
          <p14:tracePt t="19986" x="7351713" y="3046413"/>
          <p14:tracePt t="19990" x="7359650" y="3054350"/>
          <p14:tracePt t="19999" x="7375525" y="3054350"/>
          <p14:tracePt t="20018" x="7399338" y="3054350"/>
          <p14:tracePt t="20033" x="7415213" y="3054350"/>
          <p14:tracePt t="20061" x="7423150" y="3054350"/>
          <p14:tracePt t="20075" x="7423150" y="3038475"/>
          <p14:tracePt t="20083" x="7431088" y="3030538"/>
          <p14:tracePt t="20707" x="7343775" y="3038475"/>
          <p14:tracePt t="20715" x="7224713" y="3070225"/>
          <p14:tracePt t="20722" x="7032625" y="3101975"/>
          <p14:tracePt t="20732" x="6826250" y="3141663"/>
          <p14:tracePt t="20750" x="6003925" y="3294063"/>
          <p14:tracePt t="20766" x="5389563" y="3389313"/>
          <p14:tracePt t="20782" x="4776788" y="3532188"/>
          <p14:tracePt t="20800" x="3890963" y="3763963"/>
          <p14:tracePt t="20817" x="3460750" y="3890963"/>
          <p14:tracePt t="20834" x="3181350" y="3963988"/>
          <p14:tracePt t="20850" x="2998788" y="4003675"/>
          <p14:tracePt t="20866" x="2854325" y="4011613"/>
          <p14:tracePt t="20882" x="2806700" y="3995738"/>
          <p14:tracePt t="20899" x="2782888" y="3948113"/>
          <p14:tracePt t="20919" x="2782888" y="3930650"/>
          <p14:tracePt t="21295" x="2854325" y="3898900"/>
          <p14:tracePt t="21303" x="2967038" y="3859213"/>
          <p14:tracePt t="21316" x="3221038" y="3787775"/>
          <p14:tracePt t="21332" x="3476625" y="3732213"/>
          <p14:tracePt t="21349" x="3692525" y="3708400"/>
          <p14:tracePt t="21367" x="3946525" y="3700463"/>
          <p14:tracePt t="21383" x="4067175" y="3700463"/>
          <p14:tracePt t="21398" x="4130675" y="3700463"/>
          <p14:tracePt t="21417" x="4170363" y="3700463"/>
          <p14:tracePt t="21418" x="4186238" y="3700463"/>
          <p14:tracePt t="21432" x="4194175" y="3708400"/>
          <p14:tracePt t="21449" x="4202113" y="3708400"/>
          <p14:tracePt t="21469" x="4210050" y="3708400"/>
          <p14:tracePt t="21482" x="4202113" y="3700463"/>
          <p14:tracePt t="21905" x="4217988" y="3676650"/>
          <p14:tracePt t="21912" x="4249738" y="3652838"/>
          <p14:tracePt t="21919" x="4297363" y="3621088"/>
          <p14:tracePt t="21934" x="4362450" y="3571875"/>
          <p14:tracePt t="21949" x="4433888" y="3524250"/>
          <p14:tracePt t="21967" x="4489450" y="3484563"/>
          <p14:tracePt t="21984" x="4560888" y="3444875"/>
          <p14:tracePt t="22000" x="4584700" y="3429000"/>
          <p14:tracePt t="22019" x="4608513" y="3429000"/>
          <p14:tracePt t="22036" x="4632325" y="3413125"/>
          <p14:tracePt t="22049" x="4648200" y="3413125"/>
          <p14:tracePt t="22067" x="4664075" y="3405188"/>
          <p14:tracePt t="22082" x="4687888" y="3397250"/>
          <p14:tracePt t="22098" x="4705350" y="3397250"/>
          <p14:tracePt t="22100" x="4721225" y="3389313"/>
          <p14:tracePt t="22115" x="4737100" y="3381375"/>
          <p14:tracePt t="22132" x="4768850" y="3373438"/>
          <p14:tracePt t="22149" x="4784725" y="3365500"/>
          <p14:tracePt t="22150" x="4792663" y="3365500"/>
          <p14:tracePt t="22171" x="4808538" y="3357563"/>
          <p14:tracePt t="22200" x="4816475" y="3357563"/>
          <p14:tracePt t="22220" x="4816475" y="3349625"/>
          <p14:tracePt t="22222" x="4824413" y="3341688"/>
          <p14:tracePt t="22228" x="4832350" y="3325813"/>
          <p14:tracePt t="22236" x="4832350" y="3309938"/>
          <p14:tracePt t="22249" x="4832350" y="3294063"/>
          <p14:tracePt t="22892" x="4864100" y="3286125"/>
          <p14:tracePt t="22899" x="4911725" y="3270250"/>
          <p14:tracePt t="22916" x="4999038" y="3252788"/>
          <p14:tracePt t="22932" x="5087938" y="3236913"/>
          <p14:tracePt t="22950" x="5191125" y="3213100"/>
          <p14:tracePt t="22967" x="5246688" y="3213100"/>
          <p14:tracePt t="22969" x="5262563" y="3213100"/>
          <p14:tracePt t="22982" x="5286375" y="3213100"/>
          <p14:tracePt t="22999" x="5334000" y="3213100"/>
          <p14:tracePt t="23017" x="5357813" y="3213100"/>
          <p14:tracePt t="23032" x="5365750" y="3213100"/>
          <p14:tracePt t="23052" x="5373688" y="3213100"/>
          <p14:tracePt t="23078" x="5373688" y="3205163"/>
          <p14:tracePt t="23456" x="5389563" y="3205163"/>
          <p14:tracePt t="23466" x="5397500" y="3205163"/>
          <p14:tracePt t="23471" x="5422900" y="3205163"/>
          <p14:tracePt t="23482" x="5438775" y="3213100"/>
          <p14:tracePt t="23499" x="5462588" y="3221038"/>
          <p14:tracePt t="23516" x="5494338" y="3228975"/>
          <p14:tracePt t="23521" x="5502275" y="3228975"/>
          <p14:tracePt t="23533" x="5510213" y="3228975"/>
          <p14:tracePt t="23550" x="5526088" y="3236913"/>
          <p14:tracePt t="23552" x="5534025" y="3236913"/>
          <p14:tracePt t="23565" x="5541963" y="3236913"/>
          <p14:tracePt t="23586" x="5557838" y="3236913"/>
          <p14:tracePt t="23599" x="5565775" y="3244850"/>
          <p14:tracePt t="23644" x="5573713" y="3244850"/>
          <p14:tracePt t="24109" x="5581650" y="3244850"/>
          <p14:tracePt t="24145" x="5597525" y="3244850"/>
          <p14:tracePt t="24152" x="5605463" y="3244850"/>
          <p14:tracePt t="24167" x="5637213" y="3252788"/>
          <p14:tracePt t="24183" x="5692775" y="3252788"/>
          <p14:tracePt t="24200" x="5749925" y="3252788"/>
          <p14:tracePt t="24202" x="5781675" y="3252788"/>
          <p14:tracePt t="24216" x="5853113" y="3252788"/>
          <p14:tracePt t="24232" x="5908675" y="3252788"/>
          <p14:tracePt t="24250" x="5964238" y="3252788"/>
          <p14:tracePt t="24251" x="5995988" y="3252788"/>
          <p14:tracePt t="24268" x="6043613" y="3262313"/>
          <p14:tracePt t="24284" x="6083300" y="3270250"/>
          <p14:tracePt t="24300" x="6116638" y="3278188"/>
          <p14:tracePt t="24302" x="6132513" y="3278188"/>
          <p14:tracePt t="24315" x="6148388" y="3286125"/>
          <p14:tracePt t="24334" x="6180138" y="3294063"/>
          <p14:tracePt t="24353" x="6188075" y="3294063"/>
          <p14:tracePt t="24404" x="6196013" y="3294063"/>
          <p14:tracePt t="24518" x="6196013" y="3286125"/>
          <p14:tracePt t="29796" x="6235700" y="3205163"/>
          <p14:tracePt t="29804" x="6299200" y="3086100"/>
          <p14:tracePt t="29815" x="6491288" y="2790825"/>
          <p14:tracePt t="29834" x="6721475" y="2400300"/>
          <p14:tracePt t="29851" x="7169150" y="1754188"/>
          <p14:tracePt t="29866" x="7496175" y="1331913"/>
          <p14:tracePt t="29883" x="7758113" y="973138"/>
          <p14:tracePt t="29899" x="7966075" y="685800"/>
          <p14:tracePt t="29915" x="8085138" y="519113"/>
          <p14:tracePt t="29916" x="8124825" y="461963"/>
          <p14:tracePt t="29932" x="8164513" y="406400"/>
          <p14:tracePt t="29952" x="8180388" y="374650"/>
          <p14:tracePt t="29989" x="8164513" y="390525"/>
          <p14:tracePt t="30258" x="8148638" y="390525"/>
          <p14:tracePt t="30265" x="8132763" y="390525"/>
          <p14:tracePt t="30283" x="8101013" y="390525"/>
          <p14:tracePt t="30300" x="8061325" y="390525"/>
          <p14:tracePt t="30319" x="8045450" y="390525"/>
          <p14:tracePt t="30321" x="8029575" y="390525"/>
          <p14:tracePt t="30336" x="8013700" y="382588"/>
          <p14:tracePt t="30358" x="8005763" y="382588"/>
          <p14:tracePt t="30372" x="7997825" y="382588"/>
          <p14:tracePt t="30386" x="7997825" y="374650"/>
          <p14:tracePt t="30398" x="7989888" y="374650"/>
          <p14:tracePt t="30417" x="7981950" y="366713"/>
          <p14:tracePt t="30432" x="7974013" y="366713"/>
          <p14:tracePt t="30451" x="7974013" y="358775"/>
          <p14:tracePt t="32488" x="7407275" y="749300"/>
          <p14:tracePt t="32499" x="7056438" y="1068388"/>
          <p14:tracePt t="32522" x="5924550" y="2049463"/>
          <p14:tracePt t="32532" x="5262563" y="2616200"/>
          <p14:tracePt t="32548" x="4729163" y="3062288"/>
          <p14:tracePt t="32567" x="4249738" y="3405188"/>
          <p14:tracePt t="32582" x="4114800" y="3476625"/>
          <p14:tracePt t="32599" x="4043363" y="3492500"/>
          <p14:tracePt t="32617" x="4011613" y="3476625"/>
          <p14:tracePt t="32874" x="3883025" y="3516313"/>
          <p14:tracePt t="32880" x="3716338" y="3563938"/>
          <p14:tracePt t="32889" x="3556000" y="3621088"/>
          <p14:tracePt t="32900" x="3405188" y="3652838"/>
          <p14:tracePt t="32918" x="3006725" y="3716338"/>
          <p14:tracePt t="32933" x="2806700" y="3740150"/>
          <p14:tracePt t="32949" x="2647950" y="3748088"/>
          <p14:tracePt t="32967" x="2479675" y="3748088"/>
          <p14:tracePt t="32986" x="2416175" y="3756025"/>
          <p14:tracePt t="32989" x="2392363" y="3756025"/>
          <p14:tracePt t="32998" x="2376488" y="3756025"/>
          <p14:tracePt t="33016" x="2344738" y="3756025"/>
          <p14:tracePt t="33031" x="2328863" y="3756025"/>
          <p14:tracePt t="33061" x="2320925" y="3756025"/>
          <p14:tracePt t="33118" x="2328863" y="3756025"/>
          <p14:tracePt t="33124" x="2352675" y="3756025"/>
          <p14:tracePt t="33133" x="2400300" y="3748088"/>
          <p14:tracePt t="33148" x="2543175" y="3724275"/>
          <p14:tracePt t="33168" x="2838450" y="3684588"/>
          <p14:tracePt t="33183" x="3125788" y="3668713"/>
          <p14:tracePt t="33199" x="3492500" y="3636963"/>
          <p14:tracePt t="33217" x="4067175" y="3613150"/>
          <p14:tracePt t="33237" x="4378325" y="3613150"/>
          <p14:tracePt t="33240" x="4481513" y="3613150"/>
          <p14:tracePt t="33250" x="4576763" y="3621088"/>
          <p14:tracePt t="33267" x="4808538" y="3652838"/>
          <p14:tracePt t="33284" x="4872038" y="3668713"/>
          <p14:tracePt t="33299" x="4903788" y="3676650"/>
          <p14:tracePt t="33316" x="4911725" y="3684588"/>
          <p14:tracePt t="33333" x="4919663" y="3684588"/>
          <p14:tracePt t="33348" x="4911725" y="3676650"/>
          <p14:tracePt t="33366" x="4872038" y="3621088"/>
          <p14:tracePt t="34101" x="4895850" y="3621088"/>
          <p14:tracePt t="34106" x="4935538" y="3621088"/>
          <p14:tracePt t="34118" x="4967288" y="3621088"/>
          <p14:tracePt t="34133" x="5072063" y="3621088"/>
          <p14:tracePt t="34151" x="5159375" y="3621088"/>
          <p14:tracePt t="34166" x="5254625" y="3621088"/>
          <p14:tracePt t="34183" x="5407025" y="3621088"/>
          <p14:tracePt t="34199" x="5510213" y="3613150"/>
          <p14:tracePt t="34218" x="5668963" y="3605213"/>
          <p14:tracePt t="34233" x="5757863" y="3605213"/>
          <p14:tracePt t="34249" x="5821363" y="3605213"/>
          <p14:tracePt t="34270" x="5908675" y="3605213"/>
          <p14:tracePt t="34277" x="5924550" y="3605213"/>
          <p14:tracePt t="34282" x="5948363" y="3613150"/>
          <p14:tracePt t="34290" x="5964238" y="3613150"/>
          <p14:tracePt t="34298" x="5980113" y="3613150"/>
          <p14:tracePt t="34316" x="6003925" y="3621088"/>
          <p14:tracePt t="34333" x="6027738" y="3621088"/>
          <p14:tracePt t="34348" x="6035675" y="3621088"/>
          <p14:tracePt t="34366" x="6043613" y="3621088"/>
          <p14:tracePt t="34382" x="6059488" y="3621088"/>
          <p14:tracePt t="34399" x="6059488" y="3613150"/>
          <p14:tracePt t="35770" x="6075363" y="3613150"/>
          <p14:tracePt t="35776" x="6116638" y="3613150"/>
          <p14:tracePt t="35783" x="6156325" y="3613150"/>
          <p14:tracePt t="35799" x="6243638" y="3621088"/>
          <p14:tracePt t="35818" x="6362700" y="3636963"/>
          <p14:tracePt t="35832" x="6491288" y="3652838"/>
          <p14:tracePt t="35850" x="6689725" y="3676650"/>
          <p14:tracePt t="35865" x="6826250" y="3684588"/>
          <p14:tracePt t="35882" x="6945313" y="3700463"/>
          <p14:tracePt t="35898" x="7056438" y="3716338"/>
          <p14:tracePt t="35900" x="7119938" y="3732213"/>
          <p14:tracePt t="35916" x="7200900" y="3748088"/>
          <p14:tracePt t="35932" x="7280275" y="3756025"/>
          <p14:tracePt t="35949" x="7343775" y="3771900"/>
          <p14:tracePt t="35966" x="7359650" y="3771900"/>
          <p14:tracePt t="35982" x="7375525" y="3771900"/>
          <p14:tracePt t="36003" x="7383463" y="3771900"/>
          <p14:tracePt t="40114" x="7224713" y="3819525"/>
          <p14:tracePt t="40119" x="6937375" y="3948113"/>
          <p14:tracePt t="40131" x="6578600" y="4106863"/>
          <p14:tracePt t="40149" x="5454650" y="4624388"/>
          <p14:tracePt t="40165" x="4664075" y="5072063"/>
          <p14:tracePt t="40185" x="3587750" y="5749925"/>
          <p14:tracePt t="40200" x="3094038" y="6076950"/>
          <p14:tracePt t="40214" x="2790825" y="6275388"/>
          <p14:tracePt t="40234" x="2590800" y="6403975"/>
          <p14:tracePt t="40249" x="2551113" y="6435725"/>
          <p14:tracePt t="40266" x="2543175" y="6443663"/>
          <p14:tracePt t="40282" x="2527300" y="6451600"/>
          <p14:tracePt t="40312" x="2527300" y="6459538"/>
          <p14:tracePt t="40319" x="2527300" y="6475413"/>
          <p14:tracePt t="40332" x="2543175" y="6491288"/>
          <p14:tracePt t="40333" x="2551113" y="6523038"/>
          <p14:tracePt t="40349" x="2598738" y="6586538"/>
          <p14:tracePt t="40368" x="2632075" y="6673850"/>
          <p14:tracePt t="40372" x="2663825" y="6707188"/>
          <p14:tracePt t="40382" x="2719388" y="6786563"/>
          <p14:tracePt t="40399" x="2759075" y="6834188"/>
          <p14:tracePt t="40496" x="3054350" y="6794500"/>
          <p14:tracePt t="40503" x="3157538" y="6746875"/>
          <p14:tracePt t="40515" x="3284538" y="6699250"/>
          <p14:tracePt t="40537" x="3954463" y="6507163"/>
          <p14:tracePt t="40540" x="4233863" y="6435725"/>
          <p14:tracePt t="40548" x="4529138" y="6380163"/>
          <p14:tracePt t="40568" x="5438775" y="6291263"/>
          <p14:tracePt t="40582" x="6027738" y="6275388"/>
          <p14:tracePt t="40601" x="6507163" y="6275388"/>
          <p14:tracePt t="40620" x="6826250" y="6299200"/>
          <p14:tracePt t="40625" x="7024688" y="6330950"/>
          <p14:tracePt t="40633" x="7088188" y="6338888"/>
          <p14:tracePt t="40649" x="7153275" y="6348413"/>
          <p14:tracePt t="40665" x="7185025" y="6356350"/>
          <p14:tracePt t="40696" x="7161213" y="6356350"/>
          <p14:tracePt t="40704" x="7119938" y="6330950"/>
          <p14:tracePt t="40961" x="7288213" y="6283325"/>
          <p14:tracePt t="40968" x="7519988" y="6235700"/>
          <p14:tracePt t="40983" x="8021638" y="6156325"/>
          <p14:tracePt t="41000" x="8564563" y="6076950"/>
          <p14:tracePt t="41018" x="9282113" y="6021388"/>
          <p14:tracePt t="41033" x="9632950" y="6013450"/>
          <p14:tracePt t="41050" x="9839325" y="6013450"/>
          <p14:tracePt t="41469" x="10709275" y="4967288"/>
          <p14:tracePt t="41477" x="10891838" y="4832350"/>
          <p14:tracePt t="41484" x="11107738" y="4665663"/>
          <p14:tracePt t="41501" x="11498263" y="4418013"/>
          <p14:tracePt t="41517" x="11984038" y="4194175"/>
          <p14:tracePt t="41918" x="69850" y="3359150"/>
          <p14:tracePt t="41935" x="171450" y="3314700"/>
          <p14:tracePt t="41948" x="234950" y="3282950"/>
          <p14:tracePt t="41968" x="279400" y="3263900"/>
          <p14:tracePt t="41983" x="292100" y="3257550"/>
          <p14:tracePt t="42002" x="298450" y="3257550"/>
          <p14:tracePt t="42067" x="304800" y="3257550"/>
          <p14:tracePt t="42158" x="298450" y="3257550"/>
          <p14:tracePt t="42164" x="285750" y="3263900"/>
          <p14:tracePt t="42169" x="266700" y="3282950"/>
          <p14:tracePt t="42185" x="196850" y="3346450"/>
          <p14:tracePt t="42198" x="88900" y="3409950"/>
        </p14:tracePtLst>
      </p14:laserTraceLst>
    </p:ext>
  </p:extLs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AC3933-FAD1-45A2-E776-931757522ADB}"/>
              </a:ext>
            </a:extLst>
          </p:cNvPr>
          <p:cNvSpPr>
            <a:spLocks noGrp="1"/>
          </p:cNvSpPr>
          <p:nvPr>
            <p:ph type="title"/>
          </p:nvPr>
        </p:nvSpPr>
        <p:spPr/>
        <p:txBody>
          <a:bodyPr/>
          <a:lstStyle/>
          <a:p>
            <a:pPr algn="ctr"/>
            <a:r>
              <a:rPr lang="en-US" b="1" dirty="0">
                <a:solidFill>
                  <a:srgbClr val="002060"/>
                </a:solidFill>
              </a:rPr>
              <a:t>Methodology: Justification of Tools and Metrics</a:t>
            </a:r>
          </a:p>
        </p:txBody>
      </p:sp>
      <p:graphicFrame>
        <p:nvGraphicFramePr>
          <p:cNvPr id="4" name="Content Placeholder 3">
            <a:extLst>
              <a:ext uri="{FF2B5EF4-FFF2-40B4-BE49-F238E27FC236}">
                <a16:creationId xmlns:a16="http://schemas.microsoft.com/office/drawing/2014/main" id="{FD05DF3A-C7C5-2C74-1DA8-CA1633BC050C}"/>
              </a:ext>
            </a:extLst>
          </p:cNvPr>
          <p:cNvGraphicFramePr>
            <a:graphicFrameLocks noGrp="1"/>
          </p:cNvGraphicFramePr>
          <p:nvPr>
            <p:ph idx="1"/>
            <p:extLst>
              <p:ext uri="{D42A27DB-BD31-4B8C-83A1-F6EECF244321}">
                <p14:modId xmlns:p14="http://schemas.microsoft.com/office/powerpoint/2010/main" val="1361973553"/>
              </p:ext>
            </p:extLst>
          </p:nvPr>
        </p:nvGraphicFramePr>
        <p:xfrm>
          <a:off x="930797" y="2329180"/>
          <a:ext cx="10515600" cy="2199640"/>
        </p:xfrm>
        <a:graphic>
          <a:graphicData uri="http://schemas.openxmlformats.org/drawingml/2006/table">
            <a:tbl>
              <a:tblPr firstRow="1" bandRow="1">
                <a:tableStyleId>{5C22544A-7EE6-4342-B048-85BDC9FD1C3A}</a:tableStyleId>
              </a:tblPr>
              <a:tblGrid>
                <a:gridCol w="2229091">
                  <a:extLst>
                    <a:ext uri="{9D8B030D-6E8A-4147-A177-3AD203B41FA5}">
                      <a16:colId xmlns:a16="http://schemas.microsoft.com/office/drawing/2014/main" val="2308084230"/>
                    </a:ext>
                  </a:extLst>
                </a:gridCol>
                <a:gridCol w="8286509">
                  <a:extLst>
                    <a:ext uri="{9D8B030D-6E8A-4147-A177-3AD203B41FA5}">
                      <a16:colId xmlns:a16="http://schemas.microsoft.com/office/drawing/2014/main" val="4219724373"/>
                    </a:ext>
                  </a:extLst>
                </a:gridCol>
              </a:tblGrid>
              <a:tr h="370840">
                <a:tc>
                  <a:txBody>
                    <a:bodyPr/>
                    <a:lstStyle/>
                    <a:p>
                      <a:r>
                        <a:rPr lang="en-US" dirty="0"/>
                        <a:t>Section</a:t>
                      </a:r>
                    </a:p>
                  </a:txBody>
                  <a:tcPr/>
                </a:tc>
                <a:tc>
                  <a:txBody>
                    <a:bodyPr/>
                    <a:lstStyle/>
                    <a:p>
                      <a:r>
                        <a:rPr lang="en-US" dirty="0"/>
                        <a:t>Description</a:t>
                      </a:r>
                    </a:p>
                  </a:txBody>
                  <a:tcPr/>
                </a:tc>
                <a:extLst>
                  <a:ext uri="{0D108BD9-81ED-4DB2-BD59-A6C34878D82A}">
                    <a16:rowId xmlns:a16="http://schemas.microsoft.com/office/drawing/2014/main" val="1493897519"/>
                  </a:ext>
                </a:extLst>
              </a:tr>
              <a:tr h="370840">
                <a:tc>
                  <a:txBody>
                    <a:bodyPr/>
                    <a:lstStyle/>
                    <a:p>
                      <a:r>
                        <a:rPr lang="en-US" sz="1800" b="1" i="0" kern="1200" dirty="0">
                          <a:solidFill>
                            <a:srgbClr val="002060"/>
                          </a:solidFill>
                          <a:effectLst/>
                          <a:latin typeface="+mn-lt"/>
                          <a:ea typeface="+mn-ea"/>
                          <a:cs typeface="+mn-cs"/>
                        </a:rPr>
                        <a:t>Tool Choice</a:t>
                      </a:r>
                      <a:endParaRPr lang="en-US" dirty="0">
                        <a:solidFill>
                          <a:srgbClr val="002060"/>
                        </a:solidFill>
                      </a:endParaRPr>
                    </a:p>
                  </a:txBody>
                  <a:tcPr/>
                </a:tc>
                <a:tc>
                  <a:txBody>
                    <a:bodyPr/>
                    <a:lstStyle/>
                    <a:p>
                      <a:r>
                        <a:rPr lang="en-US" sz="1800" b="1" i="0" kern="1200" dirty="0">
                          <a:solidFill>
                            <a:srgbClr val="002060"/>
                          </a:solidFill>
                          <a:effectLst/>
                          <a:latin typeface="+mn-lt"/>
                          <a:ea typeface="+mn-ea"/>
                          <a:cs typeface="+mn-cs"/>
                        </a:rPr>
                        <a:t>NER:</a:t>
                      </a:r>
                      <a:r>
                        <a:rPr lang="en-US" sz="1800" b="0" i="0" kern="1200" dirty="0">
                          <a:solidFill>
                            <a:srgbClr val="002060"/>
                          </a:solidFill>
                          <a:effectLst/>
                          <a:latin typeface="+mn-lt"/>
                          <a:ea typeface="+mn-ea"/>
                          <a:cs typeface="+mn-cs"/>
                        </a:rPr>
                        <a:t> </a:t>
                      </a:r>
                      <a:r>
                        <a:rPr lang="en-US" sz="1800" b="1" i="0" kern="1200" dirty="0" err="1">
                          <a:solidFill>
                            <a:schemeClr val="dk1"/>
                          </a:solidFill>
                          <a:effectLst/>
                          <a:latin typeface="+mn-lt"/>
                          <a:ea typeface="+mn-ea"/>
                          <a:cs typeface="+mn-cs"/>
                        </a:rPr>
                        <a:t>spaCy</a:t>
                      </a:r>
                      <a:r>
                        <a:rPr lang="en-US" sz="1800" b="0" i="0" kern="1200" dirty="0">
                          <a:solidFill>
                            <a:schemeClr val="dk1"/>
                          </a:solidFill>
                          <a:effectLst/>
                          <a:latin typeface="+mn-lt"/>
                          <a:ea typeface="+mn-ea"/>
                          <a:cs typeface="+mn-cs"/>
                        </a:rPr>
                        <a:t> (lightweight, CPU-optimized, fully offline).</a:t>
                      </a:r>
                    </a:p>
                    <a:p>
                      <a:r>
                        <a:rPr lang="en-US" sz="1800" b="1" i="0" kern="1200" dirty="0">
                          <a:solidFill>
                            <a:srgbClr val="002060"/>
                          </a:solidFill>
                          <a:effectLst/>
                          <a:latin typeface="+mn-lt"/>
                          <a:ea typeface="+mn-ea"/>
                          <a:cs typeface="+mn-cs"/>
                        </a:rPr>
                        <a:t>Local LLM:</a:t>
                      </a:r>
                      <a:r>
                        <a:rPr lang="en-US" sz="1800" b="0" i="0" kern="1200" dirty="0">
                          <a:solidFill>
                            <a:srgbClr val="002060"/>
                          </a:solidFill>
                          <a:effectLst/>
                          <a:latin typeface="+mn-lt"/>
                          <a:ea typeface="+mn-ea"/>
                          <a:cs typeface="+mn-cs"/>
                        </a:rPr>
                        <a:t> </a:t>
                      </a:r>
                      <a:r>
                        <a:rPr lang="en-US" sz="1800" b="1" i="0" kern="1200" dirty="0">
                          <a:solidFill>
                            <a:schemeClr val="dk1"/>
                          </a:solidFill>
                          <a:effectLst/>
                          <a:latin typeface="+mn-lt"/>
                          <a:ea typeface="+mn-ea"/>
                          <a:cs typeface="+mn-cs"/>
                        </a:rPr>
                        <a:t>Ollama</a:t>
                      </a:r>
                      <a:r>
                        <a:rPr lang="en-US" sz="1800" b="0" i="0" kern="1200" dirty="0">
                          <a:solidFill>
                            <a:schemeClr val="dk1"/>
                          </a:solidFill>
                          <a:effectLst/>
                          <a:latin typeface="+mn-lt"/>
                          <a:ea typeface="+mn-ea"/>
                          <a:cs typeface="+mn-cs"/>
                        </a:rPr>
                        <a:t> (on-device execution, low memory overhead, supports quantized models)</a:t>
                      </a:r>
                      <a:endParaRPr lang="en-US" dirty="0"/>
                    </a:p>
                  </a:txBody>
                  <a:tcPr/>
                </a:tc>
                <a:extLst>
                  <a:ext uri="{0D108BD9-81ED-4DB2-BD59-A6C34878D82A}">
                    <a16:rowId xmlns:a16="http://schemas.microsoft.com/office/drawing/2014/main" val="2115764947"/>
                  </a:ext>
                </a:extLst>
              </a:tr>
              <a:tr h="370840">
                <a:tc>
                  <a:txBody>
                    <a:bodyPr/>
                    <a:lstStyle/>
                    <a:p>
                      <a:r>
                        <a:rPr lang="en-US" sz="1800" b="1" i="0" kern="1200" dirty="0">
                          <a:solidFill>
                            <a:srgbClr val="002060"/>
                          </a:solidFill>
                          <a:effectLst/>
                          <a:latin typeface="+mn-lt"/>
                          <a:ea typeface="+mn-ea"/>
                          <a:cs typeface="+mn-cs"/>
                        </a:rPr>
                        <a:t>Metrics</a:t>
                      </a:r>
                      <a:endParaRPr lang="en-US" dirty="0">
                        <a:solidFill>
                          <a:srgbClr val="002060"/>
                        </a:solidFill>
                      </a:endParaRPr>
                    </a:p>
                  </a:txBody>
                  <a:tcPr/>
                </a:tc>
                <a:tc>
                  <a:txBody>
                    <a:bodyPr/>
                    <a:lstStyle/>
                    <a:p>
                      <a:r>
                        <a:rPr lang="en-US" sz="1800" b="1" i="0" kern="1200" dirty="0">
                          <a:solidFill>
                            <a:srgbClr val="002060"/>
                          </a:solidFill>
                          <a:effectLst/>
                          <a:latin typeface="+mn-lt"/>
                          <a:ea typeface="+mn-ea"/>
                          <a:cs typeface="+mn-cs"/>
                        </a:rPr>
                        <a:t>Privacy:</a:t>
                      </a:r>
                      <a:r>
                        <a:rPr lang="en-US" sz="1800" b="0" i="0" kern="1200" dirty="0">
                          <a:solidFill>
                            <a:srgbClr val="002060"/>
                          </a:solidFill>
                          <a:effectLst/>
                          <a:latin typeface="+mn-lt"/>
                          <a:ea typeface="+mn-ea"/>
                          <a:cs typeface="+mn-cs"/>
                        </a:rPr>
                        <a:t> </a:t>
                      </a:r>
                      <a:r>
                        <a:rPr lang="en-US" sz="1800" b="0" i="0" kern="1200" dirty="0">
                          <a:solidFill>
                            <a:schemeClr val="dk1"/>
                          </a:solidFill>
                          <a:effectLst/>
                          <a:latin typeface="+mn-lt"/>
                          <a:ea typeface="+mn-ea"/>
                          <a:cs typeface="+mn-cs"/>
                        </a:rPr>
                        <a:t>PII Leakage Rate (PLR), Entropy.</a:t>
                      </a:r>
                    </a:p>
                    <a:p>
                      <a:r>
                        <a:rPr lang="en-US" sz="1800" b="1" i="0" kern="1200" dirty="0">
                          <a:solidFill>
                            <a:srgbClr val="002060"/>
                          </a:solidFill>
                          <a:effectLst/>
                          <a:latin typeface="+mn-lt"/>
                          <a:ea typeface="+mn-ea"/>
                          <a:cs typeface="+mn-cs"/>
                        </a:rPr>
                        <a:t>Utility/Quality:</a:t>
                      </a:r>
                      <a:r>
                        <a:rPr lang="en-US" sz="1800" b="0" i="0" kern="1200" dirty="0">
                          <a:solidFill>
                            <a:srgbClr val="002060"/>
                          </a:solidFill>
                          <a:effectLst/>
                          <a:latin typeface="+mn-lt"/>
                          <a:ea typeface="+mn-ea"/>
                          <a:cs typeface="+mn-cs"/>
                        </a:rPr>
                        <a:t> </a:t>
                      </a:r>
                      <a:r>
                        <a:rPr lang="en-US" sz="1800" b="0" i="0" kern="1200" dirty="0">
                          <a:solidFill>
                            <a:schemeClr val="dk1"/>
                          </a:solidFill>
                          <a:effectLst/>
                          <a:latin typeface="+mn-lt"/>
                          <a:ea typeface="+mn-ea"/>
                          <a:cs typeface="+mn-cs"/>
                        </a:rPr>
                        <a:t>BLEU, ROUGE, Coherence Score, Semantic Similarity.</a:t>
                      </a:r>
                    </a:p>
                    <a:p>
                      <a:r>
                        <a:rPr lang="en-US" sz="1800" b="1" i="0" kern="1200" dirty="0">
                          <a:solidFill>
                            <a:srgbClr val="002060"/>
                          </a:solidFill>
                          <a:effectLst/>
                          <a:latin typeface="+mn-lt"/>
                          <a:ea typeface="+mn-ea"/>
                          <a:cs typeface="+mn-cs"/>
                        </a:rPr>
                        <a:t>Efficiency:</a:t>
                      </a:r>
                      <a:r>
                        <a:rPr lang="en-US" sz="1800" b="0" i="0" kern="1200" dirty="0">
                          <a:solidFill>
                            <a:srgbClr val="002060"/>
                          </a:solidFill>
                          <a:effectLst/>
                          <a:latin typeface="+mn-lt"/>
                          <a:ea typeface="+mn-ea"/>
                          <a:cs typeface="+mn-cs"/>
                        </a:rPr>
                        <a:t> </a:t>
                      </a:r>
                      <a:r>
                        <a:rPr lang="en-US" sz="1800" b="0" i="0" kern="1200" dirty="0">
                          <a:solidFill>
                            <a:schemeClr val="dk1"/>
                          </a:solidFill>
                          <a:effectLst/>
                          <a:latin typeface="+mn-lt"/>
                          <a:ea typeface="+mn-ea"/>
                          <a:cs typeface="+mn-cs"/>
                        </a:rPr>
                        <a:t>Average Processing Time.</a:t>
                      </a:r>
                      <a:endParaRPr lang="en-US" dirty="0"/>
                    </a:p>
                  </a:txBody>
                  <a:tcPr/>
                </a:tc>
                <a:extLst>
                  <a:ext uri="{0D108BD9-81ED-4DB2-BD59-A6C34878D82A}">
                    <a16:rowId xmlns:a16="http://schemas.microsoft.com/office/drawing/2014/main" val="1400429883"/>
                  </a:ext>
                </a:extLst>
              </a:tr>
            </a:tbl>
          </a:graphicData>
        </a:graphic>
      </p:graphicFrame>
    </p:spTree>
    <p:extLst>
      <p:ext uri="{BB962C8B-B14F-4D97-AF65-F5344CB8AC3E}">
        <p14:creationId xmlns:p14="http://schemas.microsoft.com/office/powerpoint/2010/main" val="3411667268"/>
      </p:ext>
    </p:extLst>
  </p:cSld>
  <p:clrMapOvr>
    <a:masterClrMapping/>
  </p:clrMapOvr>
  <mc:AlternateContent xmlns:mc="http://schemas.openxmlformats.org/markup-compatibility/2006" xmlns:p14="http://schemas.microsoft.com/office/powerpoint/2010/main">
    <mc:Choice Requires="p14">
      <p:transition spd="slow" p14:dur="2000" advTm="61855"/>
    </mc:Choice>
    <mc:Fallback xmlns="">
      <p:transition spd="slow" advTm="61855"/>
    </mc:Fallback>
  </mc:AlternateContent>
  <p:extLst>
    <p:ext uri="{3A86A75C-4F4B-4683-9AE1-C65F6400EC91}">
      <p14:laserTraceLst xmlns:p14="http://schemas.microsoft.com/office/powerpoint/2010/main">
        <p14:tracePtLst>
          <p14:tracePt t="31786" x="11641138" y="3094038"/>
          <p14:tracePt t="31790" x="11371263" y="2967038"/>
          <p14:tracePt t="31807" x="10955338" y="2759075"/>
          <p14:tracePt t="31828" x="10629900" y="2559050"/>
          <p14:tracePt t="31832" x="10572750" y="2519363"/>
          <p14:tracePt t="31840" x="10533063" y="2495550"/>
          <p14:tracePt t="31861" x="10493375" y="2439988"/>
          <p14:tracePt t="31873" x="10493375" y="2336800"/>
          <p14:tracePt t="31889" x="10556875" y="2216150"/>
          <p14:tracePt t="31907" x="10612438" y="2144713"/>
          <p14:tracePt t="32225" x="10541000" y="2081213"/>
          <p14:tracePt t="32232" x="10429875" y="2001838"/>
          <p14:tracePt t="32239" x="10342563" y="1930400"/>
          <p14:tracePt t="32256" x="10166350" y="1778000"/>
          <p14:tracePt t="32272" x="10007600" y="1619250"/>
          <p14:tracePt t="32289" x="9839325" y="1466850"/>
          <p14:tracePt t="32306" x="9664700" y="1284288"/>
          <p14:tracePt t="32323" x="9559925" y="1171575"/>
          <p14:tracePt t="32344" x="9448800" y="1052513"/>
          <p14:tracePt t="32357" x="9401175" y="996950"/>
          <p14:tracePt t="32373" x="9361488" y="957263"/>
          <p14:tracePt t="32390" x="9337675" y="925513"/>
          <p14:tracePt t="32406" x="9329738" y="917575"/>
          <p14:tracePt t="32449" x="9321800" y="917575"/>
          <p14:tracePt t="32469" x="9313863" y="909638"/>
          <p14:tracePt t="32483" x="9305925" y="909638"/>
          <p14:tracePt t="32490" x="9297988" y="909638"/>
          <p14:tracePt t="32506" x="9258300" y="901700"/>
          <p14:tracePt t="32522" x="9193213" y="877888"/>
          <p14:tracePt t="32542" x="9058275" y="852488"/>
          <p14:tracePt t="32557" x="8955088" y="836613"/>
          <p14:tracePt t="32574" x="8826500" y="812800"/>
          <p14:tracePt t="32591" x="8651875" y="773113"/>
          <p14:tracePt t="32607" x="8548688" y="749300"/>
          <p14:tracePt t="32627" x="8420100" y="685800"/>
          <p14:tracePt t="32633" x="8380413" y="661988"/>
          <p14:tracePt t="32641" x="8348663" y="630238"/>
          <p14:tracePt t="32658" x="8285163" y="582613"/>
          <p14:tracePt t="32677" x="8229600" y="534988"/>
          <p14:tracePt t="32689" x="8213725" y="509588"/>
          <p14:tracePt t="32693" x="8205788" y="501650"/>
          <p14:tracePt t="32705" x="8197850" y="469900"/>
          <p14:tracePt t="33003" x="8180388" y="446088"/>
          <p14:tracePt t="33008" x="8164513" y="430213"/>
          <p14:tracePt t="33023" x="8140700" y="374650"/>
          <p14:tracePt t="33043" x="8101013" y="303213"/>
          <p14:tracePt t="33057" x="8077200" y="255588"/>
          <p14:tracePt t="59855" x="7383463" y="469900"/>
          <p14:tracePt t="59872" x="7040563" y="614363"/>
          <p14:tracePt t="59891" x="6538913" y="836613"/>
          <p14:tracePt t="59905" x="6196013" y="1028700"/>
          <p14:tracePt t="59923" x="5908675" y="1236663"/>
          <p14:tracePt t="59939" x="5661025" y="1466850"/>
          <p14:tracePt t="59955" x="5381625" y="1770063"/>
          <p14:tracePt t="59972" x="5246688" y="1938338"/>
          <p14:tracePt t="59990" x="5151438" y="2041525"/>
          <p14:tracePt t="59991" x="5119688" y="2089150"/>
          <p14:tracePt t="60005" x="5087938" y="2120900"/>
          <p14:tracePt t="60008" x="5064125" y="2152650"/>
          <p14:tracePt t="60022" x="5030788" y="2176463"/>
          <p14:tracePt t="60306" x="4816475" y="2176463"/>
          <p14:tracePt t="60312" x="4481513" y="2144713"/>
          <p14:tracePt t="60322" x="4122738" y="2065338"/>
          <p14:tracePt t="60340" x="2909888" y="1690688"/>
          <p14:tracePt t="60356" x="2136775" y="1355725"/>
          <p14:tracePt t="60377" x="1443038" y="1036638"/>
          <p14:tracePt t="60381" x="1147763" y="877888"/>
          <p14:tracePt t="60390" x="917575" y="733425"/>
          <p14:tracePt t="60391" x="701675" y="606425"/>
          <p14:tracePt t="60406" x="406400" y="382588"/>
          <p14:tracePt t="60422" x="239713" y="215900"/>
          <p14:tracePt t="61855" x="11625263" y="119063"/>
          <p14:tracePt t="61855" x="11984038" y="207963"/>
        </p14:tracePtLst>
      </p14:laserTraceLst>
    </p:ext>
  </p:extLs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98D737-D48F-0C9D-4133-79C6DE5915EC}"/>
              </a:ext>
            </a:extLst>
          </p:cNvPr>
          <p:cNvSpPr>
            <a:spLocks noGrp="1"/>
          </p:cNvSpPr>
          <p:nvPr>
            <p:ph type="title"/>
          </p:nvPr>
        </p:nvSpPr>
        <p:spPr/>
        <p:txBody>
          <a:bodyPr/>
          <a:lstStyle/>
          <a:p>
            <a:pPr algn="ctr"/>
            <a:r>
              <a:rPr lang="en-US" b="1" dirty="0">
                <a:solidFill>
                  <a:srgbClr val="002060"/>
                </a:solidFill>
              </a:rPr>
              <a:t>Quick Demo</a:t>
            </a:r>
          </a:p>
        </p:txBody>
      </p:sp>
      <p:sp>
        <p:nvSpPr>
          <p:cNvPr id="3" name="Content Placeholder 2">
            <a:extLst>
              <a:ext uri="{FF2B5EF4-FFF2-40B4-BE49-F238E27FC236}">
                <a16:creationId xmlns:a16="http://schemas.microsoft.com/office/drawing/2014/main" id="{A1711C42-E8BA-C08C-39E2-64C37C45B1F7}"/>
              </a:ext>
            </a:extLst>
          </p:cNvPr>
          <p:cNvSpPr>
            <a:spLocks noGrp="1"/>
          </p:cNvSpPr>
          <p:nvPr>
            <p:ph idx="1"/>
          </p:nvPr>
        </p:nvSpPr>
        <p:spPr/>
        <p:txBody>
          <a:bodyPr/>
          <a:lstStyle/>
          <a:p>
            <a:r>
              <a:rPr lang="en-US" dirty="0"/>
              <a:t>Short Video showing the various techniques used.(Covered in Video presentation)</a:t>
            </a:r>
          </a:p>
        </p:txBody>
      </p:sp>
    </p:spTree>
    <p:extLst>
      <p:ext uri="{BB962C8B-B14F-4D97-AF65-F5344CB8AC3E}">
        <p14:creationId xmlns:p14="http://schemas.microsoft.com/office/powerpoint/2010/main" val="3438515421"/>
      </p:ext>
    </p:extLst>
  </p:cSld>
  <p:clrMapOvr>
    <a:masterClrMapping/>
  </p:clrMapOvr>
  <mc:AlternateContent xmlns:mc="http://schemas.openxmlformats.org/markup-compatibility/2006" xmlns:p14="http://schemas.microsoft.com/office/powerpoint/2010/main">
    <mc:Choice Requires="p14">
      <p:transition spd="slow" p14:dur="2000" advTm="112334"/>
    </mc:Choice>
    <mc:Fallback xmlns="">
      <p:transition spd="slow" advTm="112334"/>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FAB95F-6F02-7C8A-047F-93C4314F42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E6EC1F-ED2C-C424-9691-B52B7178DCED}"/>
              </a:ext>
            </a:extLst>
          </p:cNvPr>
          <p:cNvSpPr>
            <a:spLocks noGrp="1"/>
          </p:cNvSpPr>
          <p:nvPr>
            <p:ph type="title"/>
          </p:nvPr>
        </p:nvSpPr>
        <p:spPr/>
        <p:txBody>
          <a:bodyPr/>
          <a:lstStyle/>
          <a:p>
            <a:pPr algn="ctr"/>
            <a:r>
              <a:rPr lang="en-US" b="1" dirty="0">
                <a:solidFill>
                  <a:srgbClr val="002060"/>
                </a:solidFill>
              </a:rPr>
              <a:t>Results and Evaluation : Privacy Effectiveness</a:t>
            </a:r>
          </a:p>
        </p:txBody>
      </p:sp>
      <p:graphicFrame>
        <p:nvGraphicFramePr>
          <p:cNvPr id="4" name="Content Placeholder 3">
            <a:extLst>
              <a:ext uri="{FF2B5EF4-FFF2-40B4-BE49-F238E27FC236}">
                <a16:creationId xmlns:a16="http://schemas.microsoft.com/office/drawing/2014/main" id="{B40ECAC9-D3D1-FA00-62F2-D24223281FF9}"/>
              </a:ext>
            </a:extLst>
          </p:cNvPr>
          <p:cNvGraphicFramePr>
            <a:graphicFrameLocks noGrp="1"/>
          </p:cNvGraphicFramePr>
          <p:nvPr>
            <p:ph idx="1"/>
            <p:extLst>
              <p:ext uri="{D42A27DB-BD31-4B8C-83A1-F6EECF244321}">
                <p14:modId xmlns:p14="http://schemas.microsoft.com/office/powerpoint/2010/main" val="3584113751"/>
              </p:ext>
            </p:extLst>
          </p:nvPr>
        </p:nvGraphicFramePr>
        <p:xfrm>
          <a:off x="838200" y="1513109"/>
          <a:ext cx="10515599" cy="2443480"/>
        </p:xfrm>
        <a:graphic>
          <a:graphicData uri="http://schemas.openxmlformats.org/drawingml/2006/table">
            <a:tbl>
              <a:tblPr firstRow="1" bandRow="1">
                <a:tableStyleId>{5C22544A-7EE6-4342-B048-85BDC9FD1C3A}</a:tableStyleId>
              </a:tblPr>
              <a:tblGrid>
                <a:gridCol w="2575542">
                  <a:extLst>
                    <a:ext uri="{9D8B030D-6E8A-4147-A177-3AD203B41FA5}">
                      <a16:colId xmlns:a16="http://schemas.microsoft.com/office/drawing/2014/main" val="2308084230"/>
                    </a:ext>
                  </a:extLst>
                </a:gridCol>
                <a:gridCol w="1382683">
                  <a:extLst>
                    <a:ext uri="{9D8B030D-6E8A-4147-A177-3AD203B41FA5}">
                      <a16:colId xmlns:a16="http://schemas.microsoft.com/office/drawing/2014/main" val="4219724373"/>
                    </a:ext>
                  </a:extLst>
                </a:gridCol>
                <a:gridCol w="1630884">
                  <a:extLst>
                    <a:ext uri="{9D8B030D-6E8A-4147-A177-3AD203B41FA5}">
                      <a16:colId xmlns:a16="http://schemas.microsoft.com/office/drawing/2014/main" val="820851509"/>
                    </a:ext>
                  </a:extLst>
                </a:gridCol>
                <a:gridCol w="1339304">
                  <a:extLst>
                    <a:ext uri="{9D8B030D-6E8A-4147-A177-3AD203B41FA5}">
                      <a16:colId xmlns:a16="http://schemas.microsoft.com/office/drawing/2014/main" val="4291241600"/>
                    </a:ext>
                  </a:extLst>
                </a:gridCol>
                <a:gridCol w="3587186">
                  <a:extLst>
                    <a:ext uri="{9D8B030D-6E8A-4147-A177-3AD203B41FA5}">
                      <a16:colId xmlns:a16="http://schemas.microsoft.com/office/drawing/2014/main" val="2713779313"/>
                    </a:ext>
                  </a:extLst>
                </a:gridCol>
              </a:tblGrid>
              <a:tr h="370840">
                <a:tc>
                  <a:txBody>
                    <a:bodyPr/>
                    <a:lstStyle/>
                    <a:p>
                      <a:r>
                        <a:rPr lang="en-US" sz="1400" b="1" kern="1200" dirty="0">
                          <a:solidFill>
                            <a:schemeClr val="lt1"/>
                          </a:solidFill>
                          <a:effectLst/>
                          <a:latin typeface="+mn-lt"/>
                          <a:ea typeface="+mn-ea"/>
                          <a:cs typeface="+mn-cs"/>
                        </a:rPr>
                        <a:t>Experiment Conditions</a:t>
                      </a:r>
                      <a:endParaRPr lang="en-US" sz="1400" dirty="0"/>
                    </a:p>
                  </a:txBody>
                  <a:tcPr/>
                </a:tc>
                <a:tc>
                  <a:txBody>
                    <a:bodyPr/>
                    <a:lstStyle/>
                    <a:p>
                      <a:r>
                        <a:rPr lang="en-US" sz="1400" b="1" kern="1200" dirty="0">
                          <a:solidFill>
                            <a:schemeClr val="lt1"/>
                          </a:solidFill>
                          <a:effectLst/>
                          <a:latin typeface="+mn-lt"/>
                          <a:ea typeface="+mn-ea"/>
                          <a:cs typeface="+mn-cs"/>
                        </a:rPr>
                        <a:t>PII Leakage Rate</a:t>
                      </a:r>
                      <a:endParaRPr lang="en-US" sz="1400" dirty="0"/>
                    </a:p>
                  </a:txBody>
                  <a:tcPr/>
                </a:tc>
                <a:tc>
                  <a:txBody>
                    <a:bodyPr/>
                    <a:lstStyle/>
                    <a:p>
                      <a:r>
                        <a:rPr lang="en-US" sz="1400" b="1" kern="1200" dirty="0">
                          <a:solidFill>
                            <a:schemeClr val="lt1"/>
                          </a:solidFill>
                          <a:effectLst/>
                          <a:latin typeface="+mn-lt"/>
                          <a:ea typeface="+mn-ea"/>
                          <a:cs typeface="+mn-cs"/>
                        </a:rPr>
                        <a:t>Re-identification Risk</a:t>
                      </a:r>
                      <a:endParaRPr lang="en-US" sz="1400" dirty="0"/>
                    </a:p>
                  </a:txBody>
                  <a:tcPr/>
                </a:tc>
                <a:tc>
                  <a:txBody>
                    <a:bodyPr/>
                    <a:lstStyle/>
                    <a:p>
                      <a:r>
                        <a:rPr lang="en-US" sz="1400" b="1" kern="1200" dirty="0">
                          <a:solidFill>
                            <a:schemeClr val="lt1"/>
                          </a:solidFill>
                          <a:effectLst/>
                          <a:latin typeface="+mn-lt"/>
                          <a:ea typeface="+mn-ea"/>
                          <a:cs typeface="+mn-cs"/>
                        </a:rPr>
                        <a:t>Entropy Score</a:t>
                      </a:r>
                      <a:endParaRPr lang="en-US" sz="1400" dirty="0"/>
                    </a:p>
                  </a:txBody>
                  <a:tcPr/>
                </a:tc>
                <a:tc>
                  <a:txBody>
                    <a:bodyPr/>
                    <a:lstStyle/>
                    <a:p>
                      <a:r>
                        <a:rPr lang="en-US" sz="1400" dirty="0"/>
                        <a:t>Outcome</a:t>
                      </a:r>
                    </a:p>
                  </a:txBody>
                  <a:tcPr/>
                </a:tc>
                <a:extLst>
                  <a:ext uri="{0D108BD9-81ED-4DB2-BD59-A6C34878D82A}">
                    <a16:rowId xmlns:a16="http://schemas.microsoft.com/office/drawing/2014/main" val="1493897519"/>
                  </a:ext>
                </a:extLst>
              </a:tr>
              <a:tr h="370840">
                <a:tc>
                  <a:txBody>
                    <a:bodyPr/>
                    <a:lstStyle/>
                    <a:p>
                      <a:r>
                        <a:rPr lang="en-US" sz="1400" kern="1200" dirty="0">
                          <a:solidFill>
                            <a:schemeClr val="dk1"/>
                          </a:solidFill>
                          <a:effectLst/>
                          <a:latin typeface="+mn-lt"/>
                          <a:ea typeface="+mn-ea"/>
                          <a:cs typeface="+mn-cs"/>
                        </a:rPr>
                        <a:t>Exp 1: Real Names (Baseline)</a:t>
                      </a:r>
                      <a:endParaRPr lang="en-US" sz="1400" dirty="0"/>
                    </a:p>
                  </a:txBody>
                  <a:tcPr/>
                </a:tc>
                <a:tc>
                  <a:txBody>
                    <a:bodyPr/>
                    <a:lstStyle/>
                    <a:p>
                      <a:pPr marL="0" algn="l" defTabSz="914400" rtl="0" eaLnBrk="1" latinLnBrk="0" hangingPunct="1"/>
                      <a:r>
                        <a:rPr lang="en-US" sz="1400" kern="1200" dirty="0">
                          <a:solidFill>
                            <a:schemeClr val="dk1"/>
                          </a:solidFill>
                          <a:latin typeface="+mn-lt"/>
                          <a:ea typeface="+mn-ea"/>
                          <a:cs typeface="+mn-cs"/>
                        </a:rPr>
                        <a:t>87.3%</a:t>
                      </a:r>
                    </a:p>
                  </a:txBody>
                  <a:tcPr/>
                </a:tc>
                <a:tc>
                  <a:txBody>
                    <a:bodyPr/>
                    <a:lstStyle/>
                    <a:p>
                      <a:pPr marL="0" marR="0" algn="l" defTabSz="914400" rtl="0" eaLnBrk="1" latinLnBrk="0" hangingPunct="1">
                        <a:lnSpc>
                          <a:spcPct val="107000"/>
                        </a:lnSpc>
                        <a:spcAft>
                          <a:spcPts val="800"/>
                        </a:spcAft>
                        <a:buNone/>
                      </a:pPr>
                      <a:r>
                        <a:rPr lang="en-US" sz="1400" kern="1200" dirty="0">
                          <a:solidFill>
                            <a:schemeClr val="dk1"/>
                          </a:solidFill>
                          <a:latin typeface="+mn-lt"/>
                          <a:ea typeface="+mn-ea"/>
                          <a:cs typeface="+mn-cs"/>
                        </a:rPr>
                        <a:t>0.92</a:t>
                      </a:r>
                    </a:p>
                  </a:txBody>
                  <a:tcPr marL="9525" marR="9525" marT="9525" marB="9525" anchor="ctr"/>
                </a:tc>
                <a:tc>
                  <a:txBody>
                    <a:bodyPr/>
                    <a:lstStyle/>
                    <a:p>
                      <a:r>
                        <a:rPr lang="en-US" sz="1400" dirty="0"/>
                        <a:t>1.2</a:t>
                      </a:r>
                    </a:p>
                  </a:txBody>
                  <a:tcPr/>
                </a:tc>
                <a:tc>
                  <a:txBody>
                    <a:bodyPr/>
                    <a:lstStyle/>
                    <a:p>
                      <a:r>
                        <a:rPr lang="en-US" sz="1400" kern="1200" dirty="0">
                          <a:solidFill>
                            <a:schemeClr val="dk1"/>
                          </a:solidFill>
                          <a:effectLst/>
                          <a:latin typeface="+mn-lt"/>
                          <a:ea typeface="+mn-ea"/>
                          <a:cs typeface="+mn-cs"/>
                        </a:rPr>
                        <a:t>PII entities reappearing verbatim in model outputs</a:t>
                      </a:r>
                      <a:endParaRPr lang="en-US" sz="1400" dirty="0"/>
                    </a:p>
                  </a:txBody>
                  <a:tcPr/>
                </a:tc>
                <a:extLst>
                  <a:ext uri="{0D108BD9-81ED-4DB2-BD59-A6C34878D82A}">
                    <a16:rowId xmlns:a16="http://schemas.microsoft.com/office/drawing/2014/main" val="2115764947"/>
                  </a:ext>
                </a:extLst>
              </a:tr>
              <a:tr h="370840">
                <a:tc>
                  <a:txBody>
                    <a:bodyPr/>
                    <a:lstStyle/>
                    <a:p>
                      <a:r>
                        <a:rPr lang="en-US" sz="1400" kern="1200" dirty="0">
                          <a:solidFill>
                            <a:schemeClr val="dk1"/>
                          </a:solidFill>
                          <a:effectLst/>
                          <a:latin typeface="+mn-lt"/>
                          <a:ea typeface="+mn-ea"/>
                          <a:cs typeface="+mn-cs"/>
                        </a:rPr>
                        <a:t>Exp 2: Fake Names Replacement</a:t>
                      </a:r>
                      <a:endParaRPr lang="en-US" sz="1400" dirty="0"/>
                    </a:p>
                  </a:txBody>
                  <a:tcPr/>
                </a:tc>
                <a:tc>
                  <a:txBody>
                    <a:bodyPr/>
                    <a:lstStyle/>
                    <a:p>
                      <a:r>
                        <a:rPr lang="en-US" sz="1400" kern="1200" dirty="0">
                          <a:solidFill>
                            <a:schemeClr val="dk1"/>
                          </a:solidFill>
                          <a:effectLst/>
                          <a:latin typeface="+mn-lt"/>
                          <a:ea typeface="+mn-ea"/>
                          <a:cs typeface="+mn-cs"/>
                        </a:rPr>
                        <a:t>12.4%</a:t>
                      </a:r>
                      <a:endParaRPr lang="en-US" sz="1400" dirty="0"/>
                    </a:p>
                  </a:txBody>
                  <a:tcPr/>
                </a:tc>
                <a:tc>
                  <a:txBody>
                    <a:bodyPr/>
                    <a:lstStyle/>
                    <a:p>
                      <a:r>
                        <a:rPr lang="en-US" sz="1400" kern="1200" dirty="0">
                          <a:solidFill>
                            <a:schemeClr val="dk1"/>
                          </a:solidFill>
                          <a:effectLst/>
                          <a:latin typeface="+mn-lt"/>
                          <a:ea typeface="+mn-ea"/>
                          <a:cs typeface="+mn-cs"/>
                        </a:rPr>
                        <a:t>0.18</a:t>
                      </a:r>
                      <a:endParaRPr lang="en-US" sz="1400" dirty="0"/>
                    </a:p>
                  </a:txBody>
                  <a:tcPr/>
                </a:tc>
                <a:tc>
                  <a:txBody>
                    <a:bodyPr/>
                    <a:lstStyle/>
                    <a:p>
                      <a:r>
                        <a:rPr lang="en-US" sz="1400" dirty="0"/>
                        <a:t>4.8</a:t>
                      </a:r>
                    </a:p>
                  </a:txBody>
                  <a:tcPr/>
                </a:tc>
                <a:tc>
                  <a:txBody>
                    <a:bodyPr/>
                    <a:lstStyle/>
                    <a:p>
                      <a:r>
                        <a:rPr lang="en-US" sz="1400" dirty="0"/>
                        <a:t>Better than Baseline</a:t>
                      </a:r>
                    </a:p>
                  </a:txBody>
                  <a:tcPr/>
                </a:tc>
                <a:extLst>
                  <a:ext uri="{0D108BD9-81ED-4DB2-BD59-A6C34878D82A}">
                    <a16:rowId xmlns:a16="http://schemas.microsoft.com/office/drawing/2014/main" val="1400429883"/>
                  </a:ext>
                </a:extLst>
              </a:tr>
              <a:tr h="370840">
                <a:tc>
                  <a:txBody>
                    <a:bodyPr/>
                    <a:lstStyle/>
                    <a:p>
                      <a:r>
                        <a:rPr lang="en-US" sz="1400" kern="1200" dirty="0">
                          <a:solidFill>
                            <a:schemeClr val="dk1"/>
                          </a:solidFill>
                          <a:effectLst/>
                          <a:latin typeface="+mn-lt"/>
                          <a:ea typeface="+mn-ea"/>
                          <a:cs typeface="+mn-cs"/>
                        </a:rPr>
                        <a:t>Exp 3: XXXX Masking</a:t>
                      </a:r>
                      <a:endParaRPr lang="en-US" sz="1400" dirty="0"/>
                    </a:p>
                  </a:txBody>
                  <a:tcPr/>
                </a:tc>
                <a:tc>
                  <a:txBody>
                    <a:bodyPr/>
                    <a:lstStyle/>
                    <a:p>
                      <a:r>
                        <a:rPr lang="en-US" sz="1400" kern="1200" dirty="0">
                          <a:solidFill>
                            <a:schemeClr val="dk1"/>
                          </a:solidFill>
                          <a:effectLst/>
                          <a:latin typeface="+mn-lt"/>
                          <a:ea typeface="+mn-ea"/>
                          <a:cs typeface="+mn-cs"/>
                        </a:rPr>
                        <a:t>3.2%</a:t>
                      </a:r>
                      <a:endParaRPr lang="en-US" sz="1400" dirty="0"/>
                    </a:p>
                  </a:txBody>
                  <a:tcPr/>
                </a:tc>
                <a:tc>
                  <a:txBody>
                    <a:bodyPr/>
                    <a:lstStyle/>
                    <a:p>
                      <a:r>
                        <a:rPr lang="en-US" sz="1400" kern="1200" dirty="0">
                          <a:solidFill>
                            <a:schemeClr val="dk1"/>
                          </a:solidFill>
                          <a:effectLst/>
                          <a:latin typeface="+mn-lt"/>
                          <a:ea typeface="+mn-ea"/>
                          <a:cs typeface="+mn-cs"/>
                        </a:rPr>
                        <a:t>0.05</a:t>
                      </a:r>
                      <a:endParaRPr lang="en-US" sz="1400" dirty="0"/>
                    </a:p>
                  </a:txBody>
                  <a:tcPr/>
                </a:tc>
                <a:tc>
                  <a:txBody>
                    <a:bodyPr/>
                    <a:lstStyle/>
                    <a:p>
                      <a:r>
                        <a:rPr lang="en-US" sz="1400" dirty="0"/>
                        <a:t>6.1</a:t>
                      </a:r>
                    </a:p>
                  </a:txBody>
                  <a:tcPr/>
                </a:tc>
                <a:tc>
                  <a:txBody>
                    <a:bodyPr/>
                    <a:lstStyle/>
                    <a:p>
                      <a:r>
                        <a:rPr lang="en-US" sz="1400" dirty="0"/>
                        <a:t>Achieves highest privacy,</a:t>
                      </a:r>
                      <a:r>
                        <a:rPr lang="en-US" sz="1400" kern="1200" dirty="0">
                          <a:solidFill>
                            <a:schemeClr val="dk1"/>
                          </a:solidFill>
                          <a:effectLst/>
                          <a:latin typeface="+mn-lt"/>
                          <a:ea typeface="+mn-ea"/>
                          <a:cs typeface="+mn-cs"/>
                        </a:rPr>
                        <a:t> imposed significant linguistic disruption</a:t>
                      </a:r>
                      <a:endParaRPr lang="en-US" sz="1400" dirty="0"/>
                    </a:p>
                  </a:txBody>
                  <a:tcPr/>
                </a:tc>
                <a:extLst>
                  <a:ext uri="{0D108BD9-81ED-4DB2-BD59-A6C34878D82A}">
                    <a16:rowId xmlns:a16="http://schemas.microsoft.com/office/drawing/2014/main" val="1913307555"/>
                  </a:ext>
                </a:extLst>
              </a:tr>
              <a:tr h="370840">
                <a:tc>
                  <a:txBody>
                    <a:bodyPr/>
                    <a:lstStyle/>
                    <a:p>
                      <a:r>
                        <a:rPr lang="en-US" sz="1400" kern="1200" dirty="0">
                          <a:solidFill>
                            <a:schemeClr val="dk1"/>
                          </a:solidFill>
                          <a:effectLst/>
                          <a:latin typeface="+mn-lt"/>
                          <a:ea typeface="+mn-ea"/>
                          <a:cs typeface="+mn-cs"/>
                        </a:rPr>
                        <a:t>Exp 4: LLM-based PII Removal(</a:t>
                      </a:r>
                      <a:r>
                        <a:rPr lang="en-US" sz="1400" kern="1200" dirty="0" err="1">
                          <a:solidFill>
                            <a:schemeClr val="dk1"/>
                          </a:solidFill>
                          <a:effectLst/>
                          <a:latin typeface="+mn-lt"/>
                          <a:ea typeface="+mn-ea"/>
                          <a:cs typeface="+mn-cs"/>
                        </a:rPr>
                        <a:t>ollMA</a:t>
                      </a:r>
                      <a:r>
                        <a:rPr lang="en-US" sz="1400" kern="1200" dirty="0">
                          <a:solidFill>
                            <a:schemeClr val="dk1"/>
                          </a:solidFill>
                          <a:effectLst/>
                          <a:latin typeface="+mn-lt"/>
                          <a:ea typeface="+mn-ea"/>
                          <a:cs typeface="+mn-cs"/>
                        </a:rPr>
                        <a:t>)</a:t>
                      </a:r>
                      <a:endParaRPr lang="en-US" sz="1400" dirty="0"/>
                    </a:p>
                  </a:txBody>
                  <a:tcPr/>
                </a:tc>
                <a:tc>
                  <a:txBody>
                    <a:bodyPr/>
                    <a:lstStyle/>
                    <a:p>
                      <a:r>
                        <a:rPr lang="en-US" sz="1400" kern="1200" dirty="0">
                          <a:solidFill>
                            <a:schemeClr val="dk1"/>
                          </a:solidFill>
                          <a:effectLst/>
                          <a:latin typeface="+mn-lt"/>
                          <a:ea typeface="+mn-ea"/>
                          <a:cs typeface="+mn-cs"/>
                        </a:rPr>
                        <a:t>5.8%</a:t>
                      </a:r>
                      <a:endParaRPr lang="en-US" sz="1400" dirty="0"/>
                    </a:p>
                  </a:txBody>
                  <a:tcPr/>
                </a:tc>
                <a:tc>
                  <a:txBody>
                    <a:bodyPr/>
                    <a:lstStyle/>
                    <a:p>
                      <a:r>
                        <a:rPr lang="en-US" sz="1400" kern="1200" dirty="0">
                          <a:solidFill>
                            <a:schemeClr val="dk1"/>
                          </a:solidFill>
                          <a:effectLst/>
                          <a:latin typeface="+mn-lt"/>
                          <a:ea typeface="+mn-ea"/>
                          <a:cs typeface="+mn-cs"/>
                        </a:rPr>
                        <a:t>0.08</a:t>
                      </a:r>
                      <a:endParaRPr lang="en-US" sz="1400" dirty="0"/>
                    </a:p>
                  </a:txBody>
                  <a:tcPr/>
                </a:tc>
                <a:tc>
                  <a:txBody>
                    <a:bodyPr/>
                    <a:lstStyle/>
                    <a:p>
                      <a:r>
                        <a:rPr lang="en-US" sz="1400" dirty="0"/>
                        <a:t>5.7</a:t>
                      </a:r>
                    </a:p>
                  </a:txBody>
                  <a:tcPr/>
                </a:tc>
                <a:tc>
                  <a:txBody>
                    <a:bodyPr/>
                    <a:lstStyle/>
                    <a:p>
                      <a:r>
                        <a:rPr lang="en-US" sz="1400" kern="1200" dirty="0">
                          <a:solidFill>
                            <a:schemeClr val="dk1"/>
                          </a:solidFill>
                          <a:effectLst/>
                          <a:latin typeface="+mn-lt"/>
                          <a:ea typeface="+mn-ea"/>
                          <a:cs typeface="+mn-cs"/>
                        </a:rPr>
                        <a:t>Balanced trade-off between privacy and linguistic quality</a:t>
                      </a:r>
                      <a:endParaRPr lang="en-US" sz="1400" dirty="0"/>
                    </a:p>
                  </a:txBody>
                  <a:tcPr/>
                </a:tc>
                <a:extLst>
                  <a:ext uri="{0D108BD9-81ED-4DB2-BD59-A6C34878D82A}">
                    <a16:rowId xmlns:a16="http://schemas.microsoft.com/office/drawing/2014/main" val="4028880374"/>
                  </a:ext>
                </a:extLst>
              </a:tr>
            </a:tbl>
          </a:graphicData>
        </a:graphic>
      </p:graphicFrame>
      <p:pic>
        <p:nvPicPr>
          <p:cNvPr id="3" name="Picture 2">
            <a:extLst>
              <a:ext uri="{FF2B5EF4-FFF2-40B4-BE49-F238E27FC236}">
                <a16:creationId xmlns:a16="http://schemas.microsoft.com/office/drawing/2014/main" id="{72DE2F38-F03D-5D98-2AA5-EE7844348F98}"/>
              </a:ext>
            </a:extLst>
          </p:cNvPr>
          <p:cNvPicPr>
            <a:picLocks noChangeAspect="1"/>
          </p:cNvPicPr>
          <p:nvPr/>
        </p:nvPicPr>
        <p:blipFill>
          <a:blip r:embed="rId3"/>
          <a:stretch>
            <a:fillRect/>
          </a:stretch>
        </p:blipFill>
        <p:spPr>
          <a:xfrm>
            <a:off x="838199" y="3956589"/>
            <a:ext cx="10515599" cy="3004527"/>
          </a:xfrm>
          <a:prstGeom prst="rect">
            <a:avLst/>
          </a:prstGeom>
        </p:spPr>
      </p:pic>
    </p:spTree>
    <p:extLst>
      <p:ext uri="{BB962C8B-B14F-4D97-AF65-F5344CB8AC3E}">
        <p14:creationId xmlns:p14="http://schemas.microsoft.com/office/powerpoint/2010/main" val="1343375557"/>
      </p:ext>
    </p:extLst>
  </p:cSld>
  <p:clrMapOvr>
    <a:masterClrMapping/>
  </p:clrMapOvr>
  <mc:AlternateContent xmlns:mc="http://schemas.openxmlformats.org/markup-compatibility/2006" xmlns:p14="http://schemas.microsoft.com/office/powerpoint/2010/main">
    <mc:Choice Requires="p14">
      <p:transition spd="slow" p14:dur="2000" advTm="72239"/>
    </mc:Choice>
    <mc:Fallback xmlns="">
      <p:transition spd="slow" advTm="72239"/>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60EAF1-6C68-8D84-B3AC-27BB70D767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4164F6-F379-26D8-A036-F0E3682A2D4F}"/>
              </a:ext>
            </a:extLst>
          </p:cNvPr>
          <p:cNvSpPr>
            <a:spLocks noGrp="1"/>
          </p:cNvSpPr>
          <p:nvPr>
            <p:ph type="title"/>
          </p:nvPr>
        </p:nvSpPr>
        <p:spPr/>
        <p:txBody>
          <a:bodyPr/>
          <a:lstStyle/>
          <a:p>
            <a:pPr algn="ctr"/>
            <a:r>
              <a:rPr lang="en-US" b="1" dirty="0">
                <a:solidFill>
                  <a:srgbClr val="002060"/>
                </a:solidFill>
              </a:rPr>
              <a:t>Results and Evaluation : Utility and Quality Preservation</a:t>
            </a:r>
          </a:p>
        </p:txBody>
      </p:sp>
      <p:graphicFrame>
        <p:nvGraphicFramePr>
          <p:cNvPr id="4" name="Content Placeholder 3">
            <a:extLst>
              <a:ext uri="{FF2B5EF4-FFF2-40B4-BE49-F238E27FC236}">
                <a16:creationId xmlns:a16="http://schemas.microsoft.com/office/drawing/2014/main" id="{A3E2E404-52D3-7B19-9DAB-DCE0036FF501}"/>
              </a:ext>
            </a:extLst>
          </p:cNvPr>
          <p:cNvGraphicFramePr>
            <a:graphicFrameLocks noGrp="1"/>
          </p:cNvGraphicFramePr>
          <p:nvPr>
            <p:ph idx="1"/>
            <p:extLst>
              <p:ext uri="{D42A27DB-BD31-4B8C-83A1-F6EECF244321}">
                <p14:modId xmlns:p14="http://schemas.microsoft.com/office/powerpoint/2010/main" val="774088135"/>
              </p:ext>
            </p:extLst>
          </p:nvPr>
        </p:nvGraphicFramePr>
        <p:xfrm>
          <a:off x="838199" y="1595120"/>
          <a:ext cx="10515599" cy="2362200"/>
        </p:xfrm>
        <a:graphic>
          <a:graphicData uri="http://schemas.openxmlformats.org/drawingml/2006/table">
            <a:tbl>
              <a:tblPr firstRow="1" bandRow="1">
                <a:tableStyleId>{5C22544A-7EE6-4342-B048-85BDC9FD1C3A}</a:tableStyleId>
              </a:tblPr>
              <a:tblGrid>
                <a:gridCol w="2575542">
                  <a:extLst>
                    <a:ext uri="{9D8B030D-6E8A-4147-A177-3AD203B41FA5}">
                      <a16:colId xmlns:a16="http://schemas.microsoft.com/office/drawing/2014/main" val="2308084230"/>
                    </a:ext>
                  </a:extLst>
                </a:gridCol>
                <a:gridCol w="1382683">
                  <a:extLst>
                    <a:ext uri="{9D8B030D-6E8A-4147-A177-3AD203B41FA5}">
                      <a16:colId xmlns:a16="http://schemas.microsoft.com/office/drawing/2014/main" val="4219724373"/>
                    </a:ext>
                  </a:extLst>
                </a:gridCol>
                <a:gridCol w="1630884">
                  <a:extLst>
                    <a:ext uri="{9D8B030D-6E8A-4147-A177-3AD203B41FA5}">
                      <a16:colId xmlns:a16="http://schemas.microsoft.com/office/drawing/2014/main" val="820851509"/>
                    </a:ext>
                  </a:extLst>
                </a:gridCol>
                <a:gridCol w="1339304">
                  <a:extLst>
                    <a:ext uri="{9D8B030D-6E8A-4147-A177-3AD203B41FA5}">
                      <a16:colId xmlns:a16="http://schemas.microsoft.com/office/drawing/2014/main" val="4291241600"/>
                    </a:ext>
                  </a:extLst>
                </a:gridCol>
                <a:gridCol w="3587186">
                  <a:extLst>
                    <a:ext uri="{9D8B030D-6E8A-4147-A177-3AD203B41FA5}">
                      <a16:colId xmlns:a16="http://schemas.microsoft.com/office/drawing/2014/main" val="2713779313"/>
                    </a:ext>
                  </a:extLst>
                </a:gridCol>
              </a:tblGrid>
              <a:tr h="370840">
                <a:tc>
                  <a:txBody>
                    <a:bodyPr/>
                    <a:lstStyle/>
                    <a:p>
                      <a:r>
                        <a:rPr lang="en-US" sz="1400" b="1" kern="1200" dirty="0">
                          <a:solidFill>
                            <a:schemeClr val="lt1"/>
                          </a:solidFill>
                          <a:effectLst/>
                          <a:latin typeface="+mn-lt"/>
                          <a:ea typeface="+mn-ea"/>
                          <a:cs typeface="+mn-cs"/>
                        </a:rPr>
                        <a:t>Experiment Conditions</a:t>
                      </a:r>
                      <a:endParaRPr lang="en-US" sz="1400" dirty="0"/>
                    </a:p>
                  </a:txBody>
                  <a:tcPr/>
                </a:tc>
                <a:tc>
                  <a:txBody>
                    <a:bodyPr/>
                    <a:lstStyle/>
                    <a:p>
                      <a:pPr marL="0" marR="0" algn="l" defTabSz="914400" rtl="0" eaLnBrk="1" latinLnBrk="0" hangingPunct="1">
                        <a:lnSpc>
                          <a:spcPct val="107000"/>
                        </a:lnSpc>
                        <a:spcAft>
                          <a:spcPts val="800"/>
                        </a:spcAft>
                        <a:buNone/>
                      </a:pPr>
                      <a:r>
                        <a:rPr lang="en-US" sz="1400" b="1" kern="1200">
                          <a:solidFill>
                            <a:schemeClr val="lt1"/>
                          </a:solidFill>
                          <a:effectLst/>
                          <a:latin typeface="+mn-lt"/>
                          <a:ea typeface="+mn-ea"/>
                          <a:cs typeface="+mn-cs"/>
                        </a:rPr>
                        <a:t>BLEU Score</a:t>
                      </a:r>
                    </a:p>
                  </a:txBody>
                  <a:tcPr marL="9525" marR="9525" marT="9525" marB="9525" anchor="ctr"/>
                </a:tc>
                <a:tc>
                  <a:txBody>
                    <a:bodyPr/>
                    <a:lstStyle/>
                    <a:p>
                      <a:pPr marL="0" marR="0" algn="l" defTabSz="914400" rtl="0" eaLnBrk="1" latinLnBrk="0" hangingPunct="1">
                        <a:lnSpc>
                          <a:spcPct val="107000"/>
                        </a:lnSpc>
                        <a:spcAft>
                          <a:spcPts val="800"/>
                        </a:spcAft>
                        <a:buNone/>
                      </a:pPr>
                      <a:r>
                        <a:rPr lang="en-US" sz="1400" b="1" kern="1200" dirty="0">
                          <a:solidFill>
                            <a:schemeClr val="lt1"/>
                          </a:solidFill>
                          <a:effectLst/>
                          <a:latin typeface="+mn-lt"/>
                          <a:ea typeface="+mn-ea"/>
                          <a:cs typeface="+mn-cs"/>
                        </a:rPr>
                        <a:t>ROUGE-1</a:t>
                      </a:r>
                    </a:p>
                  </a:txBody>
                  <a:tcPr marL="9525" marR="9525" marT="9525" marB="9525" anchor="ctr"/>
                </a:tc>
                <a:tc>
                  <a:txBody>
                    <a:bodyPr/>
                    <a:lstStyle/>
                    <a:p>
                      <a:r>
                        <a:rPr lang="en-US" sz="1400" b="1" kern="1200" dirty="0">
                          <a:solidFill>
                            <a:schemeClr val="lt1"/>
                          </a:solidFill>
                          <a:effectLst/>
                          <a:latin typeface="+mn-lt"/>
                          <a:ea typeface="+mn-ea"/>
                          <a:cs typeface="+mn-cs"/>
                        </a:rPr>
                        <a:t>Coherence(1-5)</a:t>
                      </a:r>
                      <a:endParaRPr lang="en-US" sz="1400" dirty="0"/>
                    </a:p>
                  </a:txBody>
                  <a:tcPr/>
                </a:tc>
                <a:tc>
                  <a:txBody>
                    <a:bodyPr/>
                    <a:lstStyle/>
                    <a:p>
                      <a:r>
                        <a:rPr lang="en-US" sz="1400" dirty="0"/>
                        <a:t>Outcome</a:t>
                      </a:r>
                    </a:p>
                  </a:txBody>
                  <a:tcPr/>
                </a:tc>
                <a:extLst>
                  <a:ext uri="{0D108BD9-81ED-4DB2-BD59-A6C34878D82A}">
                    <a16:rowId xmlns:a16="http://schemas.microsoft.com/office/drawing/2014/main" val="1493897519"/>
                  </a:ext>
                </a:extLst>
              </a:tr>
              <a:tr h="370840">
                <a:tc>
                  <a:txBody>
                    <a:bodyPr/>
                    <a:lstStyle/>
                    <a:p>
                      <a:r>
                        <a:rPr lang="en-US" sz="1400" kern="1200" dirty="0">
                          <a:solidFill>
                            <a:schemeClr val="dk1"/>
                          </a:solidFill>
                          <a:effectLst/>
                          <a:latin typeface="+mn-lt"/>
                          <a:ea typeface="+mn-ea"/>
                          <a:cs typeface="+mn-cs"/>
                        </a:rPr>
                        <a:t>Exp 1: Real Names (Baseline)</a:t>
                      </a:r>
                      <a:endParaRPr lang="en-US" sz="1400" dirty="0"/>
                    </a:p>
                  </a:txBody>
                  <a:tcPr/>
                </a:tc>
                <a:tc>
                  <a:txBody>
                    <a:bodyPr/>
                    <a:lstStyle/>
                    <a:p>
                      <a:pPr marL="0" marR="0" algn="l" defTabSz="914400" rtl="0" eaLnBrk="1" latinLnBrk="0" hangingPunct="1">
                        <a:lnSpc>
                          <a:spcPct val="107000"/>
                        </a:lnSpc>
                        <a:spcAft>
                          <a:spcPts val="800"/>
                        </a:spcAft>
                        <a:buNone/>
                      </a:pPr>
                      <a:r>
                        <a:rPr lang="en-US" sz="1400" kern="1200">
                          <a:solidFill>
                            <a:schemeClr val="dk1"/>
                          </a:solidFill>
                          <a:latin typeface="+mn-lt"/>
                          <a:ea typeface="+mn-ea"/>
                          <a:cs typeface="+mn-cs"/>
                        </a:rPr>
                        <a:t>1.000</a:t>
                      </a:r>
                    </a:p>
                  </a:txBody>
                  <a:tcPr marL="9525" marR="9525" marT="9525" marB="9525" anchor="ctr"/>
                </a:tc>
                <a:tc>
                  <a:txBody>
                    <a:bodyPr/>
                    <a:lstStyle/>
                    <a:p>
                      <a:pPr marL="0" marR="0" algn="l" defTabSz="914400" rtl="0" eaLnBrk="1" latinLnBrk="0" hangingPunct="1">
                        <a:lnSpc>
                          <a:spcPct val="107000"/>
                        </a:lnSpc>
                        <a:spcAft>
                          <a:spcPts val="800"/>
                        </a:spcAft>
                        <a:buNone/>
                      </a:pPr>
                      <a:r>
                        <a:rPr lang="en-US" sz="1400" kern="1200" dirty="0">
                          <a:solidFill>
                            <a:schemeClr val="dk1"/>
                          </a:solidFill>
                          <a:latin typeface="+mn-lt"/>
                          <a:ea typeface="+mn-ea"/>
                          <a:cs typeface="+mn-cs"/>
                        </a:rPr>
                        <a:t>1.000</a:t>
                      </a:r>
                    </a:p>
                  </a:txBody>
                  <a:tcPr marL="9525" marR="9525" marT="9525" marB="9525" anchor="ctr"/>
                </a:tc>
                <a:tc>
                  <a:txBody>
                    <a:bodyPr/>
                    <a:lstStyle/>
                    <a:p>
                      <a:pPr marL="0" marR="0" algn="l" defTabSz="914400" rtl="0" eaLnBrk="1" latinLnBrk="0" hangingPunct="1">
                        <a:lnSpc>
                          <a:spcPct val="107000"/>
                        </a:lnSpc>
                        <a:spcAft>
                          <a:spcPts val="800"/>
                        </a:spcAft>
                        <a:buNone/>
                      </a:pPr>
                      <a:r>
                        <a:rPr lang="en-US" sz="1400" kern="1200">
                          <a:solidFill>
                            <a:schemeClr val="dk1"/>
                          </a:solidFill>
                          <a:latin typeface="+mn-lt"/>
                          <a:ea typeface="+mn-ea"/>
                          <a:cs typeface="+mn-cs"/>
                        </a:rPr>
                        <a:t>4.8</a:t>
                      </a:r>
                    </a:p>
                  </a:txBody>
                  <a:tcPr marL="9525" marR="9525" marT="9525" marB="9525" anchor="ctr"/>
                </a:tc>
                <a:tc>
                  <a:txBody>
                    <a:bodyPr/>
                    <a:lstStyle/>
                    <a:p>
                      <a:r>
                        <a:rPr lang="en-US" sz="1400" kern="1200" dirty="0">
                          <a:solidFill>
                            <a:schemeClr val="dk1"/>
                          </a:solidFill>
                          <a:effectLst/>
                          <a:latin typeface="+mn-lt"/>
                          <a:ea typeface="+mn-ea"/>
                          <a:cs typeface="+mn-cs"/>
                        </a:rPr>
                        <a:t>PII entities reappearing verbatim in model outputs</a:t>
                      </a:r>
                      <a:endParaRPr lang="en-US" sz="1400" dirty="0"/>
                    </a:p>
                  </a:txBody>
                  <a:tcPr/>
                </a:tc>
                <a:extLst>
                  <a:ext uri="{0D108BD9-81ED-4DB2-BD59-A6C34878D82A}">
                    <a16:rowId xmlns:a16="http://schemas.microsoft.com/office/drawing/2014/main" val="2115764947"/>
                  </a:ext>
                </a:extLst>
              </a:tr>
              <a:tr h="370840">
                <a:tc>
                  <a:txBody>
                    <a:bodyPr/>
                    <a:lstStyle/>
                    <a:p>
                      <a:r>
                        <a:rPr lang="en-US" sz="1400" kern="1200" dirty="0">
                          <a:solidFill>
                            <a:schemeClr val="dk1"/>
                          </a:solidFill>
                          <a:effectLst/>
                          <a:latin typeface="+mn-lt"/>
                          <a:ea typeface="+mn-ea"/>
                          <a:cs typeface="+mn-cs"/>
                        </a:rPr>
                        <a:t>Exp 2: Fake Names Replacement</a:t>
                      </a:r>
                      <a:endParaRPr lang="en-US" sz="1400" dirty="0"/>
                    </a:p>
                  </a:txBody>
                  <a:tcPr/>
                </a:tc>
                <a:tc>
                  <a:txBody>
                    <a:bodyPr/>
                    <a:lstStyle/>
                    <a:p>
                      <a:pPr marL="0" marR="0" algn="l" defTabSz="914400" rtl="0" eaLnBrk="1" latinLnBrk="0" hangingPunct="1">
                        <a:lnSpc>
                          <a:spcPct val="107000"/>
                        </a:lnSpc>
                        <a:spcAft>
                          <a:spcPts val="800"/>
                        </a:spcAft>
                        <a:buNone/>
                      </a:pPr>
                      <a:r>
                        <a:rPr lang="en-US" sz="1400" kern="1200">
                          <a:solidFill>
                            <a:schemeClr val="dk1"/>
                          </a:solidFill>
                          <a:latin typeface="+mn-lt"/>
                          <a:ea typeface="+mn-ea"/>
                          <a:cs typeface="+mn-cs"/>
                        </a:rPr>
                        <a:t>0.876</a:t>
                      </a:r>
                    </a:p>
                  </a:txBody>
                  <a:tcPr marL="9525" marR="9525" marT="9525" marB="9525" anchor="ctr"/>
                </a:tc>
                <a:tc>
                  <a:txBody>
                    <a:bodyPr/>
                    <a:lstStyle/>
                    <a:p>
                      <a:pPr marL="0" marR="0" algn="l" defTabSz="914400" rtl="0" eaLnBrk="1" latinLnBrk="0" hangingPunct="1">
                        <a:lnSpc>
                          <a:spcPct val="107000"/>
                        </a:lnSpc>
                        <a:spcAft>
                          <a:spcPts val="800"/>
                        </a:spcAft>
                        <a:buNone/>
                      </a:pPr>
                      <a:r>
                        <a:rPr lang="en-US" sz="1400" kern="1200" dirty="0">
                          <a:solidFill>
                            <a:schemeClr val="dk1"/>
                          </a:solidFill>
                          <a:latin typeface="+mn-lt"/>
                          <a:ea typeface="+mn-ea"/>
                          <a:cs typeface="+mn-cs"/>
                        </a:rPr>
                        <a:t>0.912</a:t>
                      </a:r>
                    </a:p>
                  </a:txBody>
                  <a:tcPr marL="9525" marR="9525" marT="9525" marB="9525" anchor="ctr"/>
                </a:tc>
                <a:tc>
                  <a:txBody>
                    <a:bodyPr/>
                    <a:lstStyle/>
                    <a:p>
                      <a:pPr marL="0" marR="0" algn="l" defTabSz="914400" rtl="0" eaLnBrk="1" latinLnBrk="0" hangingPunct="1">
                        <a:lnSpc>
                          <a:spcPct val="107000"/>
                        </a:lnSpc>
                        <a:spcAft>
                          <a:spcPts val="800"/>
                        </a:spcAft>
                        <a:buNone/>
                      </a:pPr>
                      <a:r>
                        <a:rPr lang="en-US" sz="1400" kern="1200">
                          <a:solidFill>
                            <a:schemeClr val="dk1"/>
                          </a:solidFill>
                          <a:latin typeface="+mn-lt"/>
                          <a:ea typeface="+mn-ea"/>
                          <a:cs typeface="+mn-cs"/>
                        </a:rPr>
                        <a:t>4.5</a:t>
                      </a:r>
                    </a:p>
                  </a:txBody>
                  <a:tcPr marL="9525" marR="9525" marT="9525" marB="9525" anchor="ctr"/>
                </a:tc>
                <a:tc>
                  <a:txBody>
                    <a:bodyPr/>
                    <a:lstStyle/>
                    <a:p>
                      <a:r>
                        <a:rPr lang="en-US" sz="1400" kern="1200" dirty="0">
                          <a:solidFill>
                            <a:schemeClr val="dk1"/>
                          </a:solidFill>
                          <a:effectLst/>
                          <a:latin typeface="+mn-lt"/>
                          <a:ea typeface="+mn-ea"/>
                          <a:cs typeface="+mn-cs"/>
                        </a:rPr>
                        <a:t>Maintains 87.6% of the baseline quality</a:t>
                      </a:r>
                      <a:endParaRPr lang="en-US" sz="1400" dirty="0"/>
                    </a:p>
                  </a:txBody>
                  <a:tcPr/>
                </a:tc>
                <a:extLst>
                  <a:ext uri="{0D108BD9-81ED-4DB2-BD59-A6C34878D82A}">
                    <a16:rowId xmlns:a16="http://schemas.microsoft.com/office/drawing/2014/main" val="1400429883"/>
                  </a:ext>
                </a:extLst>
              </a:tr>
              <a:tr h="370840">
                <a:tc>
                  <a:txBody>
                    <a:bodyPr/>
                    <a:lstStyle/>
                    <a:p>
                      <a:r>
                        <a:rPr lang="en-US" sz="1400" kern="1200" dirty="0">
                          <a:solidFill>
                            <a:schemeClr val="dk1"/>
                          </a:solidFill>
                          <a:effectLst/>
                          <a:latin typeface="+mn-lt"/>
                          <a:ea typeface="+mn-ea"/>
                          <a:cs typeface="+mn-cs"/>
                        </a:rPr>
                        <a:t>Exp 3: XXXX Masking</a:t>
                      </a:r>
                      <a:endParaRPr lang="en-US" sz="1400" dirty="0"/>
                    </a:p>
                  </a:txBody>
                  <a:tcPr/>
                </a:tc>
                <a:tc>
                  <a:txBody>
                    <a:bodyPr/>
                    <a:lstStyle/>
                    <a:p>
                      <a:pPr marL="0" marR="0" algn="l" defTabSz="914400" rtl="0" eaLnBrk="1" latinLnBrk="0" hangingPunct="1">
                        <a:lnSpc>
                          <a:spcPct val="107000"/>
                        </a:lnSpc>
                        <a:spcAft>
                          <a:spcPts val="800"/>
                        </a:spcAft>
                        <a:buNone/>
                      </a:pPr>
                      <a:r>
                        <a:rPr lang="en-US" sz="1400" kern="1200">
                          <a:solidFill>
                            <a:schemeClr val="dk1"/>
                          </a:solidFill>
                          <a:latin typeface="+mn-lt"/>
                          <a:ea typeface="+mn-ea"/>
                          <a:cs typeface="+mn-cs"/>
                        </a:rPr>
                        <a:t>0.623</a:t>
                      </a:r>
                    </a:p>
                  </a:txBody>
                  <a:tcPr marL="9525" marR="9525" marT="9525" marB="9525" anchor="ctr"/>
                </a:tc>
                <a:tc>
                  <a:txBody>
                    <a:bodyPr/>
                    <a:lstStyle/>
                    <a:p>
                      <a:pPr marL="0" marR="0" algn="l" defTabSz="914400" rtl="0" eaLnBrk="1" latinLnBrk="0" hangingPunct="1">
                        <a:lnSpc>
                          <a:spcPct val="107000"/>
                        </a:lnSpc>
                        <a:spcAft>
                          <a:spcPts val="800"/>
                        </a:spcAft>
                        <a:buNone/>
                      </a:pPr>
                      <a:r>
                        <a:rPr lang="en-US" sz="1400" kern="1200">
                          <a:solidFill>
                            <a:schemeClr val="dk1"/>
                          </a:solidFill>
                          <a:latin typeface="+mn-lt"/>
                          <a:ea typeface="+mn-ea"/>
                          <a:cs typeface="+mn-cs"/>
                        </a:rPr>
                        <a:t>0.701</a:t>
                      </a:r>
                    </a:p>
                  </a:txBody>
                  <a:tcPr marL="9525" marR="9525" marT="9525" marB="9525" anchor="ctr"/>
                </a:tc>
                <a:tc>
                  <a:txBody>
                    <a:bodyPr/>
                    <a:lstStyle/>
                    <a:p>
                      <a:pPr marL="0" marR="0" algn="l" defTabSz="914400" rtl="0" eaLnBrk="1" latinLnBrk="0" hangingPunct="1">
                        <a:lnSpc>
                          <a:spcPct val="107000"/>
                        </a:lnSpc>
                        <a:spcAft>
                          <a:spcPts val="800"/>
                        </a:spcAft>
                        <a:buNone/>
                      </a:pPr>
                      <a:r>
                        <a:rPr lang="en-US" sz="1400" kern="1200">
                          <a:solidFill>
                            <a:schemeClr val="dk1"/>
                          </a:solidFill>
                          <a:latin typeface="+mn-lt"/>
                          <a:ea typeface="+mn-ea"/>
                          <a:cs typeface="+mn-cs"/>
                        </a:rPr>
                        <a:t>3.2</a:t>
                      </a:r>
                    </a:p>
                  </a:txBody>
                  <a:tcPr marL="9525" marR="9525" marT="9525" marB="9525" anchor="ctr"/>
                </a:tc>
                <a:tc>
                  <a:txBody>
                    <a:bodyPr/>
                    <a:lstStyle/>
                    <a:p>
                      <a:r>
                        <a:rPr lang="en-US" sz="1400" kern="1200" dirty="0">
                          <a:solidFill>
                            <a:schemeClr val="dk1"/>
                          </a:solidFill>
                          <a:effectLst/>
                          <a:latin typeface="+mn-lt"/>
                          <a:ea typeface="+mn-ea"/>
                          <a:cs typeface="+mn-cs"/>
                        </a:rPr>
                        <a:t>Most significant decline in linguistic quality</a:t>
                      </a:r>
                      <a:endParaRPr lang="en-US" sz="1400" dirty="0"/>
                    </a:p>
                  </a:txBody>
                  <a:tcPr/>
                </a:tc>
                <a:extLst>
                  <a:ext uri="{0D108BD9-81ED-4DB2-BD59-A6C34878D82A}">
                    <a16:rowId xmlns:a16="http://schemas.microsoft.com/office/drawing/2014/main" val="1913307555"/>
                  </a:ext>
                </a:extLst>
              </a:tr>
              <a:tr h="370840">
                <a:tc>
                  <a:txBody>
                    <a:bodyPr/>
                    <a:lstStyle/>
                    <a:p>
                      <a:r>
                        <a:rPr lang="en-US" sz="1400" kern="1200" dirty="0">
                          <a:solidFill>
                            <a:schemeClr val="dk1"/>
                          </a:solidFill>
                          <a:effectLst/>
                          <a:latin typeface="+mn-lt"/>
                          <a:ea typeface="+mn-ea"/>
                          <a:cs typeface="+mn-cs"/>
                        </a:rPr>
                        <a:t>Exp 4: LLM-based PII Removal(</a:t>
                      </a:r>
                      <a:r>
                        <a:rPr lang="en-US" sz="1400" kern="1200" dirty="0" err="1">
                          <a:solidFill>
                            <a:schemeClr val="dk1"/>
                          </a:solidFill>
                          <a:effectLst/>
                          <a:latin typeface="+mn-lt"/>
                          <a:ea typeface="+mn-ea"/>
                          <a:cs typeface="+mn-cs"/>
                        </a:rPr>
                        <a:t>ollMA</a:t>
                      </a:r>
                      <a:r>
                        <a:rPr lang="en-US" sz="1400" kern="1200" dirty="0">
                          <a:solidFill>
                            <a:schemeClr val="dk1"/>
                          </a:solidFill>
                          <a:effectLst/>
                          <a:latin typeface="+mn-lt"/>
                          <a:ea typeface="+mn-ea"/>
                          <a:cs typeface="+mn-cs"/>
                        </a:rPr>
                        <a:t>)</a:t>
                      </a:r>
                      <a:endParaRPr lang="en-US" sz="1400" dirty="0"/>
                    </a:p>
                  </a:txBody>
                  <a:tcPr/>
                </a:tc>
                <a:tc>
                  <a:txBody>
                    <a:bodyPr/>
                    <a:lstStyle/>
                    <a:p>
                      <a:pPr marL="0" marR="0" algn="l" defTabSz="914400" rtl="0" eaLnBrk="1" latinLnBrk="0" hangingPunct="1">
                        <a:lnSpc>
                          <a:spcPct val="107000"/>
                        </a:lnSpc>
                        <a:spcAft>
                          <a:spcPts val="800"/>
                        </a:spcAft>
                        <a:buNone/>
                      </a:pPr>
                      <a:r>
                        <a:rPr lang="en-US" sz="1400" kern="1200">
                          <a:solidFill>
                            <a:schemeClr val="dk1"/>
                          </a:solidFill>
                          <a:latin typeface="+mn-lt"/>
                          <a:ea typeface="+mn-ea"/>
                          <a:cs typeface="+mn-cs"/>
                        </a:rPr>
                        <a:t>0.831</a:t>
                      </a:r>
                    </a:p>
                  </a:txBody>
                  <a:tcPr marL="9525" marR="9525" marT="9525" marB="9525" anchor="ctr"/>
                </a:tc>
                <a:tc>
                  <a:txBody>
                    <a:bodyPr/>
                    <a:lstStyle/>
                    <a:p>
                      <a:pPr marL="0" marR="0" algn="l" defTabSz="914400" rtl="0" eaLnBrk="1" latinLnBrk="0" hangingPunct="1">
                        <a:lnSpc>
                          <a:spcPct val="107000"/>
                        </a:lnSpc>
                        <a:spcAft>
                          <a:spcPts val="800"/>
                        </a:spcAft>
                        <a:buNone/>
                      </a:pPr>
                      <a:r>
                        <a:rPr lang="en-US" sz="1400" kern="1200" dirty="0">
                          <a:solidFill>
                            <a:schemeClr val="dk1"/>
                          </a:solidFill>
                          <a:latin typeface="+mn-lt"/>
                          <a:ea typeface="+mn-ea"/>
                          <a:cs typeface="+mn-cs"/>
                        </a:rPr>
                        <a:t>0.864</a:t>
                      </a:r>
                    </a:p>
                  </a:txBody>
                  <a:tcPr marL="9525" marR="9525" marT="9525" marB="9525" anchor="ctr"/>
                </a:tc>
                <a:tc>
                  <a:txBody>
                    <a:bodyPr/>
                    <a:lstStyle/>
                    <a:p>
                      <a:pPr marL="0" marR="0" algn="l" defTabSz="914400" rtl="0" eaLnBrk="1" latinLnBrk="0" hangingPunct="1">
                        <a:lnSpc>
                          <a:spcPct val="107000"/>
                        </a:lnSpc>
                        <a:spcAft>
                          <a:spcPts val="800"/>
                        </a:spcAft>
                        <a:buNone/>
                      </a:pPr>
                      <a:r>
                        <a:rPr lang="en-US" sz="1400" kern="1200" dirty="0">
                          <a:solidFill>
                            <a:schemeClr val="dk1"/>
                          </a:solidFill>
                          <a:latin typeface="+mn-lt"/>
                          <a:ea typeface="+mn-ea"/>
                          <a:cs typeface="+mn-cs"/>
                        </a:rPr>
                        <a:t>4.2</a:t>
                      </a:r>
                    </a:p>
                  </a:txBody>
                  <a:tcPr marL="9525" marR="9525" marT="9525" marB="9525" anchor="ctr"/>
                </a:tc>
                <a:tc>
                  <a:txBody>
                    <a:bodyPr/>
                    <a:lstStyle/>
                    <a:p>
                      <a:r>
                        <a:rPr lang="en-US" sz="1400" kern="1200" dirty="0">
                          <a:solidFill>
                            <a:schemeClr val="dk1"/>
                          </a:solidFill>
                          <a:effectLst/>
                          <a:latin typeface="+mn-lt"/>
                          <a:ea typeface="+mn-ea"/>
                          <a:cs typeface="+mn-cs"/>
                        </a:rPr>
                        <a:t>Balanced performance, retaining approximately 83.1% of linguistic quality compared to the baseline</a:t>
                      </a:r>
                      <a:endParaRPr lang="en-US" sz="1400" dirty="0"/>
                    </a:p>
                  </a:txBody>
                  <a:tcPr/>
                </a:tc>
                <a:extLst>
                  <a:ext uri="{0D108BD9-81ED-4DB2-BD59-A6C34878D82A}">
                    <a16:rowId xmlns:a16="http://schemas.microsoft.com/office/drawing/2014/main" val="4028880374"/>
                  </a:ext>
                </a:extLst>
              </a:tr>
            </a:tbl>
          </a:graphicData>
        </a:graphic>
      </p:graphicFrame>
      <p:pic>
        <p:nvPicPr>
          <p:cNvPr id="13" name="Picture 12">
            <a:extLst>
              <a:ext uri="{FF2B5EF4-FFF2-40B4-BE49-F238E27FC236}">
                <a16:creationId xmlns:a16="http://schemas.microsoft.com/office/drawing/2014/main" id="{FD220054-26CC-A573-F45E-3539106443FC}"/>
              </a:ext>
            </a:extLst>
          </p:cNvPr>
          <p:cNvPicPr>
            <a:picLocks noChangeAspect="1"/>
          </p:cNvPicPr>
          <p:nvPr/>
        </p:nvPicPr>
        <p:blipFill>
          <a:blip r:embed="rId3"/>
          <a:stretch>
            <a:fillRect/>
          </a:stretch>
        </p:blipFill>
        <p:spPr>
          <a:xfrm>
            <a:off x="838198" y="4064515"/>
            <a:ext cx="10515599" cy="2631440"/>
          </a:xfrm>
          <a:prstGeom prst="rect">
            <a:avLst/>
          </a:prstGeom>
        </p:spPr>
      </p:pic>
    </p:spTree>
    <p:extLst>
      <p:ext uri="{BB962C8B-B14F-4D97-AF65-F5344CB8AC3E}">
        <p14:creationId xmlns:p14="http://schemas.microsoft.com/office/powerpoint/2010/main" val="3448086764"/>
      </p:ext>
    </p:extLst>
  </p:cSld>
  <p:clrMapOvr>
    <a:masterClrMapping/>
  </p:clrMapOvr>
  <mc:AlternateContent xmlns:mc="http://schemas.openxmlformats.org/markup-compatibility/2006" xmlns:p14="http://schemas.microsoft.com/office/powerpoint/2010/main">
    <mc:Choice Requires="p14">
      <p:transition spd="slow" p14:dur="2000" advTm="47224"/>
    </mc:Choice>
    <mc:Fallback xmlns="">
      <p:transition spd="slow" advTm="47224"/>
    </mc:Fallback>
  </mc:AlternateContent>
  <p:extLst>
    <p:ext uri="{3A86A75C-4F4B-4683-9AE1-C65F6400EC91}">
      <p14:laserTraceLst xmlns:p14="http://schemas.microsoft.com/office/powerpoint/2010/main">
        <p14:tracePtLst>
          <p14:tracePt t="539" x="5191125" y="2025650"/>
          <p14:tracePt t="546" x="5262563" y="1985963"/>
          <p14:tracePt t="552" x="5334000" y="1938338"/>
          <p14:tracePt t="559" x="5407025" y="1898650"/>
          <p14:tracePt t="590" x="5749925" y="1666875"/>
          <p14:tracePt t="607" x="5884863" y="1538288"/>
          <p14:tracePt t="624" x="6059488" y="1387475"/>
          <p14:tracePt t="640" x="6124575" y="1316038"/>
          <p14:tracePt t="659" x="6164263" y="1284288"/>
          <p14:tracePt t="663" x="6164263" y="1276350"/>
          <p14:tracePt t="674" x="6172200" y="1268413"/>
          <p14:tracePt t="702" x="6148388" y="1268413"/>
          <p14:tracePt t="961" x="6180138" y="1252538"/>
          <p14:tracePt t="968" x="6219825" y="1228725"/>
          <p14:tracePt t="975" x="6251575" y="1212850"/>
          <p14:tracePt t="991" x="6299200" y="1171575"/>
          <p14:tracePt t="1008" x="6338888" y="1155700"/>
          <p14:tracePt t="1024" x="6386513" y="1139825"/>
          <p14:tracePt t="1026" x="6402388" y="1123950"/>
          <p14:tracePt t="1042" x="6451600" y="1116013"/>
          <p14:tracePt t="1058" x="6491288" y="1108075"/>
          <p14:tracePt t="1076" x="6562725" y="1100138"/>
          <p14:tracePt t="1091" x="6602413" y="1100138"/>
          <p14:tracePt t="1109" x="6626225" y="1108075"/>
          <p14:tracePt t="1124" x="6642100" y="1116013"/>
          <p14:tracePt t="1141" x="6665913" y="1131888"/>
          <p14:tracePt t="1158" x="6673850" y="1139825"/>
          <p14:tracePt t="1174" x="6673850" y="1147763"/>
          <p14:tracePt t="1190" x="6681788" y="1155700"/>
          <p14:tracePt t="1248" x="6689725" y="1155700"/>
          <p14:tracePt t="1263" x="6689725" y="1163638"/>
          <p14:tracePt t="1298" x="6697663" y="1163638"/>
          <p14:tracePt t="1321" x="6705600" y="1163638"/>
          <p14:tracePt t="1327" x="6713538" y="1171575"/>
          <p14:tracePt t="1342" x="6721475" y="1171575"/>
          <p14:tracePt t="1357" x="6729413" y="1171575"/>
          <p14:tracePt t="10434" x="6578600" y="1187450"/>
          <p14:tracePt t="10438" x="6307138" y="1244600"/>
          <p14:tracePt t="10446" x="5988050" y="1300163"/>
          <p14:tracePt t="10457" x="5668963" y="1355725"/>
          <p14:tracePt t="10475" x="4664075" y="1595438"/>
          <p14:tracePt t="10491" x="4067175" y="1738313"/>
          <p14:tracePt t="10507" x="3603625" y="1841500"/>
          <p14:tracePt t="10527" x="3165475" y="1906588"/>
          <p14:tracePt t="10541" x="2982913" y="1922463"/>
          <p14:tracePt t="10559" x="2870200" y="1922463"/>
          <p14:tracePt t="10576" x="2790825" y="1922463"/>
          <p14:tracePt t="10592" x="2695575" y="1906588"/>
          <p14:tracePt t="10609" x="2655888" y="1906588"/>
          <p14:tracePt t="10624" x="2598738" y="1906588"/>
          <p14:tracePt t="10641" x="2511425" y="1898650"/>
          <p14:tracePt t="10658" x="2439988" y="1914525"/>
          <p14:tracePt t="10675" x="2336800" y="1930400"/>
          <p14:tracePt t="10691" x="2255838" y="1946275"/>
          <p14:tracePt t="10709" x="2176463" y="1970088"/>
          <p14:tracePt t="10726" x="2081213" y="2009775"/>
          <p14:tracePt t="10741" x="2009775" y="2057400"/>
          <p14:tracePt t="10757" x="1962150" y="2105025"/>
          <p14:tracePt t="10775" x="1912938" y="2168525"/>
          <p14:tracePt t="10792" x="1889125" y="2216150"/>
          <p14:tracePt t="11120" x="1881188" y="2224088"/>
          <p14:tracePt t="11134" x="1873250" y="2224088"/>
          <p14:tracePt t="11199" x="1865313" y="2233613"/>
          <p14:tracePt t="11716" x="1857375" y="2233613"/>
          <p14:tracePt t="11730" x="1857375" y="2241550"/>
          <p14:tracePt t="11742" x="1857375" y="2249488"/>
          <p14:tracePt t="11747" x="1841500" y="2257425"/>
          <p14:tracePt t="11753" x="1841500" y="2273300"/>
          <p14:tracePt t="11758" x="1817688" y="2297113"/>
          <p14:tracePt t="11774" x="1770063" y="2368550"/>
          <p14:tracePt t="11792" x="1706563" y="2463800"/>
          <p14:tracePt t="11807" x="1611313" y="2566988"/>
          <p14:tracePt t="11824" x="1490663" y="2743200"/>
          <p14:tracePt t="11841" x="1419225" y="2822575"/>
          <p14:tracePt t="11860" x="1363663" y="2886075"/>
          <p14:tracePt t="11878" x="1347788" y="2901950"/>
          <p14:tracePt t="11892" x="1339850" y="2909888"/>
          <p14:tracePt t="11908" x="1339850" y="2919413"/>
          <p14:tracePt t="12111" x="1331913" y="2927350"/>
          <p14:tracePt t="12131" x="1331913" y="2935288"/>
          <p14:tracePt t="12139" x="1331913" y="2943225"/>
          <p14:tracePt t="12146" x="1331913" y="2951163"/>
          <p14:tracePt t="12158" x="1331913" y="2967038"/>
          <p14:tracePt t="12174" x="1331913" y="2990850"/>
          <p14:tracePt t="12191" x="1355725" y="3038475"/>
          <p14:tracePt t="12209" x="1363663" y="3062288"/>
          <p14:tracePt t="12227" x="1371600" y="3094038"/>
          <p14:tracePt t="12241" x="1379538" y="3109913"/>
          <p14:tracePt t="12261" x="1387475" y="3109913"/>
          <p14:tracePt t="12264" x="1387475" y="3117850"/>
          <p14:tracePt t="12276" x="1395413" y="3117850"/>
          <p14:tracePt t="12292" x="1403350" y="3125788"/>
          <p14:tracePt t="12307" x="1419225" y="3133725"/>
          <p14:tracePt t="12323" x="1435100" y="3141663"/>
          <p14:tracePt t="12340" x="1466850" y="3149600"/>
          <p14:tracePt t="12357" x="1482725" y="3157538"/>
          <p14:tracePt t="12374" x="1506538" y="3157538"/>
          <p14:tracePt t="12390" x="1514475" y="3157538"/>
          <p14:tracePt t="12407" x="1571625" y="3157538"/>
          <p14:tracePt t="12423" x="1595438" y="3157538"/>
          <p14:tracePt t="12442" x="1635125" y="3157538"/>
          <p14:tracePt t="12460" x="1666875" y="3157538"/>
          <p14:tracePt t="12476" x="1714500" y="3157538"/>
          <p14:tracePt t="12493" x="1746250" y="3149600"/>
          <p14:tracePt t="12507" x="1785938" y="3149600"/>
          <p14:tracePt t="12525" x="1849438" y="3141663"/>
          <p14:tracePt t="12541" x="1905000" y="3141663"/>
          <p14:tracePt t="12557" x="1962150" y="3133725"/>
          <p14:tracePt t="12573" x="2017713" y="3133725"/>
          <p14:tracePt t="12591" x="2105025" y="3141663"/>
          <p14:tracePt t="12607" x="2152650" y="3141663"/>
          <p14:tracePt t="12624" x="2200275" y="3149600"/>
          <p14:tracePt t="12641" x="2265363" y="3149600"/>
          <p14:tracePt t="12657" x="2281238" y="3149600"/>
          <p14:tracePt t="12676" x="2297113" y="3149600"/>
          <p14:tracePt t="12691" x="2305050" y="3149600"/>
          <p14:tracePt t="12785" x="2312988" y="3149600"/>
          <p14:tracePt t="12799" x="2320925" y="3141663"/>
          <p14:tracePt t="15193" x="2368550" y="3125788"/>
          <p14:tracePt t="15201" x="2471738" y="3101975"/>
          <p14:tracePt t="15209" x="2566988" y="3086100"/>
          <p14:tracePt t="15224" x="2790825" y="3038475"/>
          <p14:tracePt t="15242" x="3078163" y="2998788"/>
          <p14:tracePt t="15258" x="3556000" y="2967038"/>
          <p14:tracePt t="15275" x="3883025" y="2959100"/>
          <p14:tracePt t="15290" x="4138613" y="2959100"/>
          <p14:tracePt t="15308" x="4441825" y="2982913"/>
          <p14:tracePt t="15324" x="4576763" y="2998788"/>
          <p14:tracePt t="15340" x="4664075" y="3014663"/>
          <p14:tracePt t="15358" x="4729163" y="3030538"/>
          <p14:tracePt t="15374" x="4745038" y="3030538"/>
          <p14:tracePt t="15390" x="4752975" y="3030538"/>
          <p14:tracePt t="15418" x="4760913" y="3030538"/>
          <p14:tracePt t="15425" x="4768850" y="3030538"/>
          <p14:tracePt t="15441" x="4776788" y="3022600"/>
          <p14:tracePt t="15459" x="4792663" y="3014663"/>
          <p14:tracePt t="19199" x="4864100" y="2943225"/>
          <p14:tracePt t="19206" x="4975225" y="2838450"/>
          <p14:tracePt t="19214" x="5119688" y="2711450"/>
          <p14:tracePt t="19225" x="5254625" y="2584450"/>
          <p14:tracePt t="19242" x="5845175" y="2089150"/>
          <p14:tracePt t="19259" x="6330950" y="1698625"/>
          <p14:tracePt t="19274" x="6858000" y="1339850"/>
          <p14:tracePt t="19291" x="7631113" y="852488"/>
          <p14:tracePt t="19308" x="8045450" y="630238"/>
          <p14:tracePt t="19323" x="8356600" y="477838"/>
          <p14:tracePt t="19341" x="8636000" y="350838"/>
          <p14:tracePt t="19357" x="8715375" y="311150"/>
          <p14:tracePt t="19374" x="8755063" y="295275"/>
          <p14:tracePt t="19390" x="8763000" y="287338"/>
          <p14:tracePt t="19407" x="8739188" y="319088"/>
          <p14:tracePt t="19766" x="8707438" y="334963"/>
          <p14:tracePt t="19780" x="8659813" y="350838"/>
          <p14:tracePt t="19784" x="8612188" y="366713"/>
          <p14:tracePt t="19789" x="8580438" y="382588"/>
          <p14:tracePt t="19795" x="8531225" y="390525"/>
          <p14:tracePt t="19809" x="8467725" y="414338"/>
          <p14:tracePt t="19824" x="8420100" y="430213"/>
          <p14:tracePt t="19841" x="8372475" y="430213"/>
          <p14:tracePt t="19860" x="8340725" y="430213"/>
          <p14:tracePt t="19865" x="8324850" y="430213"/>
          <p14:tracePt t="19874" x="8308975" y="430213"/>
          <p14:tracePt t="19891" x="8293100" y="430213"/>
          <p14:tracePt t="19907" x="8277225" y="430213"/>
          <p14:tracePt t="19912" x="8269288" y="430213"/>
          <p14:tracePt t="19923" x="8253413" y="422275"/>
          <p14:tracePt t="19942" x="8221663" y="414338"/>
          <p14:tracePt t="19958" x="8189913" y="398463"/>
          <p14:tracePt t="19982" x="8156575" y="382588"/>
          <p14:tracePt t="19990" x="8148638" y="374650"/>
          <p14:tracePt t="20007" x="8132763" y="358775"/>
          <p14:tracePt t="20026" x="8108950" y="342900"/>
          <p14:tracePt t="20041" x="8108950" y="334963"/>
          <p14:tracePt t="20057" x="8101013" y="319088"/>
          <p14:tracePt t="22261" x="7773988" y="358775"/>
          <p14:tracePt t="22268" x="7415213" y="582613"/>
          <p14:tracePt t="22275" x="7024688" y="820738"/>
          <p14:tracePt t="22291" x="6291263" y="1316038"/>
          <p14:tracePt t="22294" x="5924550" y="1571625"/>
          <p14:tracePt t="22307" x="5621338" y="1785938"/>
          <p14:tracePt t="22327" x="4919663" y="2289175"/>
          <p14:tracePt t="22331" x="4776788" y="2368550"/>
          <p14:tracePt t="22341" x="4687888" y="2408238"/>
          <p14:tracePt t="22359" x="4513263" y="2495550"/>
          <p14:tracePt t="22375" x="4489450" y="2503488"/>
          <p14:tracePt t="22689" x="4402138" y="2551113"/>
          <p14:tracePt t="22697" x="4273550" y="2624138"/>
          <p14:tracePt t="22709" x="4146550" y="2687638"/>
          <p14:tracePt t="22728" x="3835400" y="2838450"/>
          <p14:tracePt t="22744" x="3692525" y="2919413"/>
          <p14:tracePt t="22748" x="3619500" y="2951163"/>
          <p14:tracePt t="22758" x="3563938" y="2974975"/>
          <p14:tracePt t="22777" x="3421063" y="3062288"/>
          <p14:tracePt t="22794" x="3333750" y="3109913"/>
          <p14:tracePt t="22797" x="3300413" y="3125788"/>
          <p14:tracePt t="22808" x="3260725" y="3149600"/>
          <p14:tracePt t="22828" x="3165475" y="3197225"/>
          <p14:tracePt t="22832" x="3133725" y="3213100"/>
          <p14:tracePt t="22843" x="3101975" y="3228975"/>
          <p14:tracePt t="22846" x="3062288" y="3244850"/>
          <p14:tracePt t="22861" x="3038475" y="3252788"/>
          <p14:tracePt t="22864" x="2998788" y="3270250"/>
          <p14:tracePt t="22877" x="2941638" y="3294063"/>
          <p14:tracePt t="22891" x="2870200" y="3309938"/>
          <p14:tracePt t="22909" x="2822575" y="3333750"/>
          <p14:tracePt t="22915" x="2790825" y="3341688"/>
          <p14:tracePt t="22925" x="2743200" y="3349625"/>
          <p14:tracePt t="22945" x="2695575" y="3373438"/>
          <p14:tracePt t="22946" x="2655888" y="3389313"/>
          <p14:tracePt t="22959" x="2632075" y="3413125"/>
          <p14:tracePt t="22977" x="2535238" y="3484563"/>
          <p14:tracePt t="22994" x="2471738" y="3532188"/>
          <p14:tracePt t="23007" x="2416175" y="3571875"/>
          <p14:tracePt t="23029" x="2360613" y="3621088"/>
          <p14:tracePt t="23042" x="2328863" y="3636963"/>
          <p14:tracePt t="23063" x="2297113" y="3652838"/>
          <p14:tracePt t="23075" x="2289175" y="3652838"/>
          <p14:tracePt t="23078" x="2281238" y="3660775"/>
          <p14:tracePt t="23095" x="2273300" y="3660775"/>
          <p14:tracePt t="23109" x="2265363" y="3660775"/>
          <p14:tracePt t="23270" x="2265363" y="3668713"/>
          <p14:tracePt t="23284" x="2273300" y="3676650"/>
          <p14:tracePt t="23294" x="2273300" y="3684588"/>
          <p14:tracePt t="23309" x="2297113" y="3692525"/>
          <p14:tracePt t="23324" x="2312988" y="3700463"/>
          <p14:tracePt t="23327" x="2320925" y="3708400"/>
          <p14:tracePt t="23341" x="2328863" y="3708400"/>
          <p14:tracePt t="23358" x="2336800" y="3708400"/>
          <p14:tracePt t="23374" x="2336800" y="3716338"/>
          <p14:tracePt t="23392" x="2344738" y="3716338"/>
          <p14:tracePt t="23413" x="2352675" y="3716338"/>
          <p14:tracePt t="23431" x="2360613" y="3724275"/>
          <p14:tracePt t="23440" x="2376488" y="3724275"/>
          <p14:tracePt t="23442" x="2384425" y="3732213"/>
          <p14:tracePt t="23458" x="2408238" y="3732213"/>
          <p14:tracePt t="23476" x="2455863" y="3740150"/>
          <p14:tracePt t="23478" x="2471738" y="3740150"/>
          <p14:tracePt t="23492" x="2511425" y="3748088"/>
          <p14:tracePt t="23507" x="2543175" y="3756025"/>
          <p14:tracePt t="23526" x="2566988" y="3756025"/>
          <p14:tracePt t="23542" x="2582863" y="3756025"/>
          <p14:tracePt t="23571" x="2598738" y="3756025"/>
          <p14:tracePt t="23847" x="2590800" y="3756025"/>
          <p14:tracePt t="23854" x="2566988" y="3756025"/>
          <p14:tracePt t="23860" x="2551113" y="3756025"/>
          <p14:tracePt t="23875" x="2527300" y="3763963"/>
          <p14:tracePt t="23893" x="2519363" y="3763963"/>
          <p14:tracePt t="23924" x="2511425" y="3763963"/>
          <p14:tracePt t="23980" x="2519363" y="3763963"/>
          <p14:tracePt t="23991" x="2527300" y="3763963"/>
          <p14:tracePt t="23996" x="2551113" y="3771900"/>
          <p14:tracePt t="24009" x="2574925" y="3771900"/>
          <p14:tracePt t="24010" x="2606675" y="3771900"/>
          <p14:tracePt t="24026" x="2679700" y="3771900"/>
          <p14:tracePt t="24046" x="2774950" y="3779838"/>
          <p14:tracePt t="24060" x="2822575" y="3779838"/>
          <p14:tracePt t="24075" x="2854325" y="3779838"/>
          <p14:tracePt t="24092" x="2870200" y="3779838"/>
          <p14:tracePt t="24110" x="2878138" y="3771900"/>
          <p14:tracePt t="27769" x="2925763" y="3771900"/>
          <p14:tracePt t="27777" x="2982913" y="3779838"/>
          <p14:tracePt t="27792" x="3117850" y="3787775"/>
          <p14:tracePt t="27807" x="3268663" y="3787775"/>
          <p14:tracePt t="27824" x="3429000" y="3787775"/>
          <p14:tracePt t="27841" x="3651250" y="3787775"/>
          <p14:tracePt t="27857" x="3779838" y="3787775"/>
          <p14:tracePt t="27875" x="3883025" y="3779838"/>
          <p14:tracePt t="27877" x="3914775" y="3779838"/>
          <p14:tracePt t="27891" x="3978275" y="3779838"/>
          <p14:tracePt t="27912" x="4043363" y="3763963"/>
          <p14:tracePt t="27925" x="4067175" y="3763963"/>
          <p14:tracePt t="27941" x="4083050" y="3756025"/>
          <p14:tracePt t="27943" x="4098925" y="3756025"/>
          <p14:tracePt t="27959" x="4114800" y="3748088"/>
          <p14:tracePt t="27975" x="4138613" y="3732213"/>
          <p14:tracePt t="27976" x="4154488" y="3732213"/>
          <p14:tracePt t="27992" x="4162425" y="3724275"/>
          <p14:tracePt t="28008" x="4186238" y="3708400"/>
          <p14:tracePt t="28024" x="4202113" y="3692525"/>
          <p14:tracePt t="28041" x="4233863" y="3652838"/>
          <p14:tracePt t="28058" x="4249738" y="3636963"/>
          <p14:tracePt t="28075" x="4265613" y="3613150"/>
          <p14:tracePt t="28095" x="4289425" y="3587750"/>
          <p14:tracePt t="28109" x="4297363" y="3571875"/>
          <p14:tracePt t="28124" x="4305300" y="3556000"/>
          <p14:tracePt t="28142" x="4313238" y="3540125"/>
          <p14:tracePt t="28143" x="4313238" y="3532188"/>
          <p14:tracePt t="28157" x="4313238" y="3516313"/>
          <p14:tracePt t="28174" x="4313238" y="3484563"/>
          <p14:tracePt t="28193" x="4289425" y="3444875"/>
          <p14:tracePt t="28208" x="4257675" y="3413125"/>
          <p14:tracePt t="28226" x="4202113" y="3381375"/>
          <p14:tracePt t="28227" x="4178300" y="3365500"/>
          <p14:tracePt t="28245" x="4098925" y="3333750"/>
          <p14:tracePt t="28257" x="4019550" y="3325813"/>
          <p14:tracePt t="28274" x="3946525" y="3309938"/>
          <p14:tracePt t="28291" x="3851275" y="3302000"/>
          <p14:tracePt t="28308" x="3819525" y="3302000"/>
          <p14:tracePt t="28325" x="3795713" y="3302000"/>
          <p14:tracePt t="28342" x="3763963" y="3294063"/>
          <p14:tracePt t="28357" x="3740150" y="3294063"/>
          <p14:tracePt t="28374" x="3724275" y="3294063"/>
          <p14:tracePt t="28390" x="3708400" y="3294063"/>
          <p14:tracePt t="28407" x="3684588" y="3302000"/>
          <p14:tracePt t="28425" x="3676650" y="3309938"/>
          <p14:tracePt t="28444" x="3651250" y="3309938"/>
          <p14:tracePt t="28459" x="3635375" y="3317875"/>
          <p14:tracePt t="28476" x="3619500" y="3325813"/>
          <p14:tracePt t="28494" x="3603625" y="3325813"/>
          <p14:tracePt t="28508" x="3579813" y="3333750"/>
          <p14:tracePt t="28525" x="3563938" y="3333750"/>
          <p14:tracePt t="28540" x="3548063" y="3341688"/>
          <p14:tracePt t="28557" x="3532188" y="3349625"/>
          <p14:tracePt t="28593" x="3516313" y="3349625"/>
          <p14:tracePt t="28599" x="3492500" y="3357563"/>
          <p14:tracePt t="28608" x="3476625" y="3365500"/>
          <p14:tracePt t="28624" x="3460750" y="3365500"/>
          <p14:tracePt t="28641" x="3444875" y="3381375"/>
          <p14:tracePt t="28657" x="3436938" y="3381375"/>
          <p14:tracePt t="28699" x="3429000" y="3381375"/>
          <p14:tracePt t="28709" x="3429000" y="3389313"/>
          <p14:tracePt t="28728" x="3421063" y="3389313"/>
          <p14:tracePt t="28742" x="3413125" y="3397250"/>
          <p14:tracePt t="28749" x="3405188" y="3397250"/>
          <p14:tracePt t="28757" x="3405188" y="3405188"/>
          <p14:tracePt t="28775" x="3405188" y="3413125"/>
          <p14:tracePt t="28791" x="3397250" y="3421063"/>
          <p14:tracePt t="28808" x="3389313" y="3429000"/>
          <p14:tracePt t="28824" x="3381375" y="3436938"/>
          <p14:tracePt t="28841" x="3381375" y="3444875"/>
          <p14:tracePt t="28859" x="3373438" y="3460750"/>
          <p14:tracePt t="28874" x="3373438" y="3476625"/>
          <p14:tracePt t="28891" x="3365500" y="3492500"/>
          <p14:tracePt t="28908" x="3357563" y="3516313"/>
          <p14:tracePt t="28924" x="3349625" y="3532188"/>
          <p14:tracePt t="28940" x="3349625" y="3548063"/>
          <p14:tracePt t="28959" x="3349625" y="3556000"/>
          <p14:tracePt t="28974" x="3349625" y="3563938"/>
          <p14:tracePt t="28992" x="3341688" y="3579813"/>
          <p14:tracePt t="29008" x="3341688" y="3595688"/>
          <p14:tracePt t="29025" x="3341688" y="3613150"/>
          <p14:tracePt t="29040" x="3341688" y="3621088"/>
          <p14:tracePt t="29057" x="3341688" y="3644900"/>
          <p14:tracePt t="29074" x="3341688" y="3652838"/>
          <p14:tracePt t="29093" x="3341688" y="3668713"/>
          <p14:tracePt t="29107" x="3341688" y="3684588"/>
          <p14:tracePt t="29124" x="3341688" y="3708400"/>
          <p14:tracePt t="29140" x="3341688" y="3716338"/>
          <p14:tracePt t="29157" x="3341688" y="3740150"/>
          <p14:tracePt t="29173" x="3341688" y="3756025"/>
          <p14:tracePt t="29191" x="3341688" y="3771900"/>
          <p14:tracePt t="29210" x="3349625" y="3795713"/>
          <p14:tracePt t="29225" x="3357563" y="3811588"/>
          <p14:tracePt t="29241" x="3373438" y="3827463"/>
          <p14:tracePt t="29257" x="3389313" y="3851275"/>
          <p14:tracePt t="29276" x="3429000" y="3875088"/>
          <p14:tracePt t="29291" x="3468688" y="3890963"/>
          <p14:tracePt t="29307" x="3508375" y="3898900"/>
          <p14:tracePt t="29328" x="3579813" y="3906838"/>
          <p14:tracePt t="29341" x="3627438" y="3906838"/>
          <p14:tracePt t="29357" x="3684588" y="3906838"/>
          <p14:tracePt t="29375" x="3763963" y="3906838"/>
          <p14:tracePt t="29390" x="3811588" y="3898900"/>
          <p14:tracePt t="29407" x="3875088" y="3883025"/>
          <p14:tracePt t="29426" x="3946525" y="3859213"/>
          <p14:tracePt t="29431" x="3962400" y="3851275"/>
          <p14:tracePt t="29440" x="3994150" y="3843338"/>
          <p14:tracePt t="29457" x="4019550" y="3827463"/>
          <p14:tracePt t="29475" x="4067175" y="3779838"/>
          <p14:tracePt t="29493" x="4090988" y="3756025"/>
          <p14:tracePt t="29508" x="4114800" y="3732213"/>
          <p14:tracePt t="29527" x="4146550" y="3692525"/>
          <p14:tracePt t="29541" x="4146550" y="3668713"/>
          <p14:tracePt t="29558" x="4154488" y="3668713"/>
          <p14:tracePt t="29574" x="4162425" y="3644900"/>
          <p14:tracePt t="29590" x="4162425" y="3621088"/>
          <p14:tracePt t="29607" x="4162425" y="3587750"/>
          <p14:tracePt t="29624" x="4162425" y="3563938"/>
          <p14:tracePt t="29642" x="4154488" y="3540125"/>
          <p14:tracePt t="29657" x="4154488" y="3516313"/>
          <p14:tracePt t="29674" x="4138613" y="3508375"/>
          <p14:tracePt t="29690" x="4138613" y="3492500"/>
          <p14:tracePt t="29708" x="4130675" y="3484563"/>
          <p14:tracePt t="29727" x="4114800" y="3468688"/>
          <p14:tracePt t="29743" x="4106863" y="3460750"/>
          <p14:tracePt t="29758" x="4098925" y="3452813"/>
          <p14:tracePt t="29774" x="4090988" y="3444875"/>
          <p14:tracePt t="29791" x="4059238" y="3429000"/>
          <p14:tracePt t="29807" x="4035425" y="3413125"/>
          <p14:tracePt t="29824" x="4002088" y="3413125"/>
          <p14:tracePt t="29840" x="3954463" y="3405188"/>
          <p14:tracePt t="29857" x="3922713" y="3405188"/>
          <p14:tracePt t="29874" x="3883025" y="3405188"/>
          <p14:tracePt t="29891" x="3835400" y="3405188"/>
          <p14:tracePt t="29892" x="3819525" y="3421063"/>
          <p14:tracePt t="29907" x="3771900" y="3429000"/>
          <p14:tracePt t="29924" x="3748088" y="3436938"/>
          <p14:tracePt t="29941" x="3732213" y="3444875"/>
          <p14:tracePt t="29957" x="3724275" y="3444875"/>
          <p14:tracePt t="29976" x="3716338" y="3452813"/>
          <p14:tracePt t="30011" x="3700463" y="3460750"/>
          <p14:tracePt t="30019" x="3700463" y="3468688"/>
          <p14:tracePt t="30026" x="3684588" y="3476625"/>
          <p14:tracePt t="30043" x="3660775" y="3508375"/>
          <p14:tracePt t="30057" x="3635375" y="3548063"/>
          <p14:tracePt t="30074" x="3603625" y="3579813"/>
          <p14:tracePt t="30091" x="3579813" y="3613150"/>
          <p14:tracePt t="30107" x="3563938" y="3629025"/>
          <p14:tracePt t="30124" x="3556000" y="3636963"/>
          <p14:tracePt t="30141" x="3548063" y="3652838"/>
          <p14:tracePt t="30157" x="3540125" y="3668713"/>
          <p14:tracePt t="30174" x="3540125" y="3676650"/>
          <p14:tracePt t="30190" x="3532188" y="3692525"/>
          <p14:tracePt t="30193" x="3524250" y="3692525"/>
          <p14:tracePt t="30207" x="3524250" y="3708400"/>
          <p14:tracePt t="30225" x="3524250" y="3732213"/>
          <p14:tracePt t="30242" x="3524250" y="3748088"/>
          <p14:tracePt t="30257" x="3524250" y="3756025"/>
          <p14:tracePt t="30273" x="3524250" y="3779838"/>
          <p14:tracePt t="30291" x="3524250" y="3803650"/>
          <p14:tracePt t="30308" x="3556000" y="3827463"/>
          <p14:tracePt t="30324" x="3579813" y="3843338"/>
          <p14:tracePt t="30340" x="3627438" y="3859213"/>
          <p14:tracePt t="30357" x="3708400" y="3875088"/>
          <p14:tracePt t="30374" x="3795713" y="3883025"/>
          <p14:tracePt t="30390" x="3875088" y="3883025"/>
          <p14:tracePt t="30408" x="3938588" y="3883025"/>
          <p14:tracePt t="30411" x="3970338" y="3875088"/>
          <p14:tracePt t="30424" x="4027488" y="3875088"/>
          <p14:tracePt t="30441" x="4067175" y="3867150"/>
          <p14:tracePt t="30458" x="4090988" y="3867150"/>
          <p14:tracePt t="30478" x="4098925" y="3859213"/>
          <p14:tracePt t="30500" x="4106863" y="3859213"/>
          <p14:tracePt t="30508" x="4114800" y="3859213"/>
          <p14:tracePt t="31435" x="4154488" y="3859213"/>
          <p14:tracePt t="31442" x="4217988" y="3867150"/>
          <p14:tracePt t="31453" x="4289425" y="3875088"/>
          <p14:tracePt t="31464" x="4370388" y="3875088"/>
          <p14:tracePt t="31476" x="4545013" y="3890963"/>
          <p14:tracePt t="31492" x="4784725" y="3930650"/>
          <p14:tracePt t="31509" x="5167313" y="3963988"/>
          <p14:tracePt t="31525" x="5407025" y="3995738"/>
          <p14:tracePt t="31544" x="5629275" y="4011613"/>
          <p14:tracePt t="31547" x="5724525" y="4019550"/>
          <p14:tracePt t="31557" x="5813425" y="4019550"/>
          <p14:tracePt t="31558" x="5884863" y="4027488"/>
          <p14:tracePt t="31573" x="6027738" y="4035425"/>
          <p14:tracePt t="31590" x="6132513" y="4035425"/>
          <p14:tracePt t="31607" x="6227763" y="4035425"/>
          <p14:tracePt t="31624" x="6330950" y="4027488"/>
          <p14:tracePt t="31640" x="6394450" y="4019550"/>
          <p14:tracePt t="31657" x="6451600" y="4011613"/>
          <p14:tracePt t="31673" x="6538913" y="3979863"/>
          <p14:tracePt t="31691" x="6602413" y="3938588"/>
          <p14:tracePt t="31708" x="6689725" y="3890963"/>
          <p14:tracePt t="31724" x="6753225" y="3851275"/>
          <p14:tracePt t="31741" x="6810375" y="3811588"/>
          <p14:tracePt t="31759" x="6881813" y="3771900"/>
          <p14:tracePt t="31774" x="6913563" y="3748088"/>
          <p14:tracePt t="31790" x="6953250" y="3732213"/>
          <p14:tracePt t="31807" x="6969125" y="3708400"/>
          <p14:tracePt t="31824" x="7008813" y="3684588"/>
          <p14:tracePt t="31840" x="7024688" y="3668713"/>
          <p14:tracePt t="31857" x="7048500" y="3644900"/>
          <p14:tracePt t="31873" x="7080250" y="3621088"/>
          <p14:tracePt t="31891" x="7096125" y="3595688"/>
          <p14:tracePt t="31907" x="7112000" y="3571875"/>
          <p14:tracePt t="31910" x="7119938" y="3556000"/>
          <p14:tracePt t="31924" x="7127875" y="3540125"/>
          <p14:tracePt t="31942" x="7153275" y="3508375"/>
          <p14:tracePt t="31959" x="7153275" y="3468688"/>
          <p14:tracePt t="31974" x="7153275" y="3436938"/>
          <p14:tracePt t="31991" x="7153275" y="3421063"/>
          <p14:tracePt t="32007" x="7135813" y="3381375"/>
          <p14:tracePt t="32024" x="7127875" y="3365500"/>
          <p14:tracePt t="32025" x="7112000" y="3341688"/>
          <p14:tracePt t="32041" x="7096125" y="3325813"/>
          <p14:tracePt t="32059" x="7056438" y="3294063"/>
          <p14:tracePt t="32074" x="7048500" y="3278188"/>
          <p14:tracePt t="32091" x="7032625" y="3278188"/>
          <p14:tracePt t="32107" x="7024688" y="3270250"/>
          <p14:tracePt t="32123" x="7016750" y="3270250"/>
          <p14:tracePt t="32125" x="7000875" y="3262313"/>
          <p14:tracePt t="32140" x="6985000" y="3262313"/>
          <p14:tracePt t="32157" x="6969125" y="3252788"/>
          <p14:tracePt t="32174" x="6945313" y="3252788"/>
          <p14:tracePt t="32190" x="6929438" y="3252788"/>
          <p14:tracePt t="32207" x="6913563" y="3252788"/>
          <p14:tracePt t="32224" x="6881813" y="3252788"/>
          <p14:tracePt t="32241" x="6865938" y="3252788"/>
          <p14:tracePt t="32258" x="6834188" y="3252788"/>
          <p14:tracePt t="32275" x="6810375" y="3252788"/>
          <p14:tracePt t="32291" x="6794500" y="3262313"/>
          <p14:tracePt t="32307" x="6784975" y="3270250"/>
          <p14:tracePt t="32324" x="6769100" y="3270250"/>
          <p14:tracePt t="32340" x="6761163" y="3270250"/>
          <p14:tracePt t="32357" x="6753225" y="3278188"/>
          <p14:tracePt t="32374" x="6737350" y="3286125"/>
          <p14:tracePt t="32390" x="6729413" y="3294063"/>
          <p14:tracePt t="32407" x="6713538" y="3309938"/>
          <p14:tracePt t="32424" x="6689725" y="3325813"/>
          <p14:tracePt t="32440" x="6673850" y="3333750"/>
          <p14:tracePt t="32459" x="6657975" y="3357563"/>
          <p14:tracePt t="32474" x="6634163" y="3373438"/>
          <p14:tracePt t="32491" x="6626225" y="3381375"/>
          <p14:tracePt t="32507" x="6610350" y="3397250"/>
          <p14:tracePt t="32524" x="6586538" y="3413125"/>
          <p14:tracePt t="32541" x="6570663" y="3436938"/>
          <p14:tracePt t="32558" x="6538913" y="3476625"/>
          <p14:tracePt t="32576" x="6523038" y="3500438"/>
          <p14:tracePt t="32590" x="6507163" y="3532188"/>
          <p14:tracePt t="32607" x="6491288" y="3548063"/>
          <p14:tracePt t="32624" x="6475413" y="3587750"/>
          <p14:tracePt t="32640" x="6459538" y="3613150"/>
          <p14:tracePt t="32657" x="6442075" y="3629025"/>
          <p14:tracePt t="32674" x="6442075" y="3636963"/>
          <p14:tracePt t="32675" x="6434138" y="3644900"/>
          <p14:tracePt t="32691" x="6434138" y="3660775"/>
          <p14:tracePt t="32708" x="6426200" y="3668713"/>
          <p14:tracePt t="32724" x="6426200" y="3676650"/>
          <p14:tracePt t="32741" x="6418263" y="3684588"/>
          <p14:tracePt t="32817" x="6418263" y="3692525"/>
          <p14:tracePt t="32888" x="6410325" y="3692525"/>
          <p14:tracePt t="32960" x="6410325" y="3700463"/>
          <p14:tracePt t="32988" x="6410325" y="3708400"/>
          <p14:tracePt t="33009" x="6410325" y="3716338"/>
          <p14:tracePt t="33031" x="6410325" y="3724275"/>
          <p14:tracePt t="33084" x="6410325" y="3740150"/>
          <p14:tracePt t="33095" x="6410325" y="3748088"/>
          <p14:tracePt t="33103" x="6402388" y="3748088"/>
          <p14:tracePt t="33124" x="6402388" y="3756025"/>
          <p14:tracePt t="33130" x="6402388" y="3763963"/>
          <p14:tracePt t="33145" x="6402388" y="3771900"/>
          <p14:tracePt t="33288" x="6402388" y="3779838"/>
          <p14:tracePt t="33302" x="6402388" y="3787775"/>
          <p14:tracePt t="33318" x="6402388" y="3803650"/>
          <p14:tracePt t="33333" x="6410325" y="3811588"/>
          <p14:tracePt t="33345" x="6418263" y="3819525"/>
          <p14:tracePt t="33357" x="6426200" y="3827463"/>
          <p14:tracePt t="33374" x="6442075" y="3843338"/>
          <p14:tracePt t="33377" x="6451600" y="3843338"/>
          <p14:tracePt t="33390" x="6459538" y="3859213"/>
          <p14:tracePt t="33407" x="6475413" y="3867150"/>
          <p14:tracePt t="33424" x="6499225" y="3883025"/>
          <p14:tracePt t="33441" x="6515100" y="3890963"/>
          <p14:tracePt t="33457" x="6523038" y="3898900"/>
          <p14:tracePt t="33495" x="6530975" y="3898900"/>
          <p14:tracePt t="45751" x="6483350" y="3890963"/>
          <p14:tracePt t="45756" x="6386513" y="3875088"/>
          <p14:tracePt t="45764" x="6291263" y="3859213"/>
          <p14:tracePt t="45774" x="6180138" y="3819525"/>
          <p14:tracePt t="45790" x="5868988" y="3708400"/>
          <p14:tracePt t="45808" x="5381625" y="3532188"/>
          <p14:tracePt t="45810" x="5095875" y="3421063"/>
          <p14:tracePt t="45824" x="4465638" y="3133725"/>
          <p14:tracePt t="45841" x="3835400" y="2806700"/>
          <p14:tracePt t="45859" x="2967038" y="2336800"/>
          <p14:tracePt t="45876" x="2527300" y="2097088"/>
          <p14:tracePt t="45892" x="2232025" y="1938338"/>
          <p14:tracePt t="45909" x="2009775" y="1809750"/>
          <p14:tracePt t="45926" x="1930400" y="1754188"/>
          <p14:tracePt t="45942" x="1873250" y="1714500"/>
          <p14:tracePt t="45959" x="1865313" y="1690688"/>
          <p14:tracePt t="45980" x="1865313" y="1658938"/>
          <p14:tracePt t="45983" x="1873250" y="1635125"/>
          <p14:tracePt t="45992" x="1897063" y="1595438"/>
          <p14:tracePt t="46266" x="1817688" y="1563688"/>
          <p14:tracePt t="46273" x="1722438" y="1522413"/>
          <p14:tracePt t="46290" x="1514475" y="1411288"/>
          <p14:tracePt t="46307" x="1284288" y="1284288"/>
          <p14:tracePt t="46324" x="1036638" y="1100138"/>
          <p14:tracePt t="46326" x="925513" y="1020763"/>
          <p14:tracePt t="46341" x="717550" y="844550"/>
          <p14:tracePt t="46357" x="542925" y="701675"/>
          <p14:tracePt t="46374" x="406400" y="558800"/>
          <p14:tracePt t="46376" x="327025" y="485775"/>
          <p14:tracePt t="46392" x="215900" y="358775"/>
          <p14:tracePt t="46408" x="111125" y="239713"/>
          <p14:tracePt t="46424" x="15875" y="95250"/>
        </p14:tracePtLst>
      </p14:laserTraceLst>
    </p:ext>
  </p:extLs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B7287C-3529-6D63-D0B5-B74F1A4FC2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1847FF-9754-89CC-23C3-E116FD0DF734}"/>
              </a:ext>
            </a:extLst>
          </p:cNvPr>
          <p:cNvSpPr>
            <a:spLocks noGrp="1"/>
          </p:cNvSpPr>
          <p:nvPr>
            <p:ph type="title"/>
          </p:nvPr>
        </p:nvSpPr>
        <p:spPr/>
        <p:txBody>
          <a:bodyPr/>
          <a:lstStyle/>
          <a:p>
            <a:pPr algn="ctr"/>
            <a:r>
              <a:rPr lang="en-US" b="1" dirty="0">
                <a:solidFill>
                  <a:srgbClr val="002060"/>
                </a:solidFill>
              </a:rPr>
              <a:t>Results and Evaluation : Efficiency Trade-offs</a:t>
            </a:r>
          </a:p>
        </p:txBody>
      </p:sp>
      <p:graphicFrame>
        <p:nvGraphicFramePr>
          <p:cNvPr id="4" name="Content Placeholder 3">
            <a:extLst>
              <a:ext uri="{FF2B5EF4-FFF2-40B4-BE49-F238E27FC236}">
                <a16:creationId xmlns:a16="http://schemas.microsoft.com/office/drawing/2014/main" id="{DC278965-A755-A61F-1994-D62E8F0AFA94}"/>
              </a:ext>
            </a:extLst>
          </p:cNvPr>
          <p:cNvGraphicFramePr>
            <a:graphicFrameLocks noGrp="1"/>
          </p:cNvGraphicFramePr>
          <p:nvPr>
            <p:ph idx="1"/>
            <p:extLst>
              <p:ext uri="{D42A27DB-BD31-4B8C-83A1-F6EECF244321}">
                <p14:modId xmlns:p14="http://schemas.microsoft.com/office/powerpoint/2010/main" val="4080698338"/>
              </p:ext>
            </p:extLst>
          </p:nvPr>
        </p:nvGraphicFramePr>
        <p:xfrm>
          <a:off x="838200" y="1489960"/>
          <a:ext cx="10515599" cy="2817559"/>
        </p:xfrm>
        <a:graphic>
          <a:graphicData uri="http://schemas.openxmlformats.org/drawingml/2006/table">
            <a:tbl>
              <a:tblPr firstRow="1" bandRow="1">
                <a:tableStyleId>{5C22544A-7EE6-4342-B048-85BDC9FD1C3A}</a:tableStyleId>
              </a:tblPr>
              <a:tblGrid>
                <a:gridCol w="2575542">
                  <a:extLst>
                    <a:ext uri="{9D8B030D-6E8A-4147-A177-3AD203B41FA5}">
                      <a16:colId xmlns:a16="http://schemas.microsoft.com/office/drawing/2014/main" val="2308084230"/>
                    </a:ext>
                  </a:extLst>
                </a:gridCol>
                <a:gridCol w="1382683">
                  <a:extLst>
                    <a:ext uri="{9D8B030D-6E8A-4147-A177-3AD203B41FA5}">
                      <a16:colId xmlns:a16="http://schemas.microsoft.com/office/drawing/2014/main" val="4219724373"/>
                    </a:ext>
                  </a:extLst>
                </a:gridCol>
                <a:gridCol w="1630884">
                  <a:extLst>
                    <a:ext uri="{9D8B030D-6E8A-4147-A177-3AD203B41FA5}">
                      <a16:colId xmlns:a16="http://schemas.microsoft.com/office/drawing/2014/main" val="820851509"/>
                    </a:ext>
                  </a:extLst>
                </a:gridCol>
                <a:gridCol w="1339304">
                  <a:extLst>
                    <a:ext uri="{9D8B030D-6E8A-4147-A177-3AD203B41FA5}">
                      <a16:colId xmlns:a16="http://schemas.microsoft.com/office/drawing/2014/main" val="4291241600"/>
                    </a:ext>
                  </a:extLst>
                </a:gridCol>
                <a:gridCol w="3587186">
                  <a:extLst>
                    <a:ext uri="{9D8B030D-6E8A-4147-A177-3AD203B41FA5}">
                      <a16:colId xmlns:a16="http://schemas.microsoft.com/office/drawing/2014/main" val="2713779313"/>
                    </a:ext>
                  </a:extLst>
                </a:gridCol>
              </a:tblGrid>
              <a:tr h="370840">
                <a:tc>
                  <a:txBody>
                    <a:bodyPr/>
                    <a:lstStyle/>
                    <a:p>
                      <a:r>
                        <a:rPr lang="en-US" sz="1400" b="1" kern="1200" dirty="0">
                          <a:solidFill>
                            <a:schemeClr val="lt1"/>
                          </a:solidFill>
                          <a:effectLst/>
                          <a:latin typeface="+mn-lt"/>
                          <a:ea typeface="+mn-ea"/>
                          <a:cs typeface="+mn-cs"/>
                        </a:rPr>
                        <a:t>Experiment Conditions</a:t>
                      </a:r>
                      <a:endParaRPr lang="en-US" sz="1400" dirty="0"/>
                    </a:p>
                  </a:txBody>
                  <a:tcPr/>
                </a:tc>
                <a:tc>
                  <a:txBody>
                    <a:bodyPr/>
                    <a:lstStyle/>
                    <a:p>
                      <a:pPr marL="0" marR="0" algn="l" defTabSz="914400" rtl="0" eaLnBrk="1" latinLnBrk="0" hangingPunct="1">
                        <a:lnSpc>
                          <a:spcPct val="107000"/>
                        </a:lnSpc>
                        <a:spcAft>
                          <a:spcPts val="800"/>
                        </a:spcAft>
                        <a:buNone/>
                      </a:pPr>
                      <a:r>
                        <a:rPr lang="en-US" sz="1400" b="1" kern="1200">
                          <a:solidFill>
                            <a:schemeClr val="lt1"/>
                          </a:solidFill>
                          <a:latin typeface="+mn-lt"/>
                          <a:ea typeface="+mn-ea"/>
                          <a:cs typeface="+mn-cs"/>
                        </a:rPr>
                        <a:t>Avg Processing Time (ms)</a:t>
                      </a:r>
                    </a:p>
                  </a:txBody>
                  <a:tcPr marL="9525" marR="9525" marT="9525" marB="9525" anchor="ctr"/>
                </a:tc>
                <a:tc>
                  <a:txBody>
                    <a:bodyPr/>
                    <a:lstStyle/>
                    <a:p>
                      <a:pPr marL="0" marR="0" algn="l" defTabSz="914400" rtl="0" eaLnBrk="1" latinLnBrk="0" hangingPunct="1">
                        <a:lnSpc>
                          <a:spcPct val="107000"/>
                        </a:lnSpc>
                        <a:spcAft>
                          <a:spcPts val="800"/>
                        </a:spcAft>
                        <a:buNone/>
                      </a:pPr>
                      <a:r>
                        <a:rPr lang="en-US" sz="1400" b="1" kern="1200">
                          <a:solidFill>
                            <a:schemeClr val="lt1"/>
                          </a:solidFill>
                          <a:latin typeface="+mn-lt"/>
                          <a:ea typeface="+mn-ea"/>
                          <a:cs typeface="+mn-cs"/>
                        </a:rPr>
                        <a:t>Token Overhead</a:t>
                      </a:r>
                    </a:p>
                  </a:txBody>
                  <a:tcPr marL="9525" marR="9525" marT="9525" marB="9525" anchor="ctr"/>
                </a:tc>
                <a:tc>
                  <a:txBody>
                    <a:bodyPr/>
                    <a:lstStyle/>
                    <a:p>
                      <a:pPr marL="0" marR="0" algn="l" defTabSz="914400" rtl="0" eaLnBrk="1" latinLnBrk="0" hangingPunct="1">
                        <a:lnSpc>
                          <a:spcPct val="107000"/>
                        </a:lnSpc>
                        <a:spcAft>
                          <a:spcPts val="800"/>
                        </a:spcAft>
                        <a:buNone/>
                      </a:pPr>
                      <a:r>
                        <a:rPr lang="en-US" sz="1400" b="1" kern="1200" dirty="0">
                          <a:solidFill>
                            <a:schemeClr val="lt1"/>
                          </a:solidFill>
                          <a:latin typeface="+mn-lt"/>
                          <a:ea typeface="+mn-ea"/>
                          <a:cs typeface="+mn-cs"/>
                        </a:rPr>
                        <a:t>API Calls per Query</a:t>
                      </a:r>
                    </a:p>
                  </a:txBody>
                  <a:tcPr marL="9525" marR="9525" marT="9525" marB="9525" anchor="ctr"/>
                </a:tc>
                <a:tc>
                  <a:txBody>
                    <a:bodyPr/>
                    <a:lstStyle/>
                    <a:p>
                      <a:r>
                        <a:rPr lang="en-US" sz="1400" dirty="0"/>
                        <a:t>Outcome</a:t>
                      </a:r>
                    </a:p>
                  </a:txBody>
                  <a:tcPr/>
                </a:tc>
                <a:extLst>
                  <a:ext uri="{0D108BD9-81ED-4DB2-BD59-A6C34878D82A}">
                    <a16:rowId xmlns:a16="http://schemas.microsoft.com/office/drawing/2014/main" val="1493897519"/>
                  </a:ext>
                </a:extLst>
              </a:tr>
              <a:tr h="370840">
                <a:tc>
                  <a:txBody>
                    <a:bodyPr/>
                    <a:lstStyle/>
                    <a:p>
                      <a:r>
                        <a:rPr lang="en-US" sz="1400" kern="1200" dirty="0">
                          <a:solidFill>
                            <a:schemeClr val="dk1"/>
                          </a:solidFill>
                          <a:effectLst/>
                          <a:latin typeface="+mn-lt"/>
                          <a:ea typeface="+mn-ea"/>
                          <a:cs typeface="+mn-cs"/>
                        </a:rPr>
                        <a:t>Exp 1: Real Names (Baseline)</a:t>
                      </a:r>
                      <a:endParaRPr lang="en-US" sz="1400" dirty="0"/>
                    </a:p>
                  </a:txBody>
                  <a:tcPr/>
                </a:tc>
                <a:tc>
                  <a:txBody>
                    <a:bodyPr/>
                    <a:lstStyle/>
                    <a:p>
                      <a:pPr marL="0" marR="0" algn="l" defTabSz="914400" rtl="0" eaLnBrk="1" latinLnBrk="0" hangingPunct="1">
                        <a:lnSpc>
                          <a:spcPct val="107000"/>
                        </a:lnSpc>
                        <a:spcAft>
                          <a:spcPts val="800"/>
                        </a:spcAft>
                        <a:buNone/>
                      </a:pPr>
                      <a:r>
                        <a:rPr lang="en-US" sz="1400" kern="1200" dirty="0">
                          <a:solidFill>
                            <a:schemeClr val="dk1"/>
                          </a:solidFill>
                          <a:effectLst/>
                          <a:latin typeface="+mn-lt"/>
                          <a:ea typeface="+mn-ea"/>
                          <a:cs typeface="+mn-cs"/>
                        </a:rPr>
                        <a:t>152</a:t>
                      </a:r>
                    </a:p>
                  </a:txBody>
                  <a:tcPr marL="9525" marR="9525" marT="9525" marB="9525" anchor="ctr"/>
                </a:tc>
                <a:tc>
                  <a:txBody>
                    <a:bodyPr/>
                    <a:lstStyle/>
                    <a:p>
                      <a:pPr marL="0" marR="0" algn="l" defTabSz="914400" rtl="0" eaLnBrk="1" latinLnBrk="0" hangingPunct="1">
                        <a:lnSpc>
                          <a:spcPct val="107000"/>
                        </a:lnSpc>
                        <a:spcAft>
                          <a:spcPts val="800"/>
                        </a:spcAft>
                        <a:buNone/>
                      </a:pPr>
                      <a:r>
                        <a:rPr lang="en-US" sz="1400" kern="1200">
                          <a:solidFill>
                            <a:schemeClr val="dk1"/>
                          </a:solidFill>
                          <a:effectLst/>
                          <a:latin typeface="+mn-lt"/>
                          <a:ea typeface="+mn-ea"/>
                          <a:cs typeface="+mn-cs"/>
                        </a:rPr>
                        <a:t>0%</a:t>
                      </a:r>
                    </a:p>
                  </a:txBody>
                  <a:tcPr marL="9525" marR="9525" marT="9525" marB="9525" anchor="ctr"/>
                </a:tc>
                <a:tc>
                  <a:txBody>
                    <a:bodyPr/>
                    <a:lstStyle/>
                    <a:p>
                      <a:pPr marL="0" marR="0" algn="l" defTabSz="914400" rtl="0" eaLnBrk="1" latinLnBrk="0" hangingPunct="1">
                        <a:lnSpc>
                          <a:spcPct val="107000"/>
                        </a:lnSpc>
                        <a:spcAft>
                          <a:spcPts val="800"/>
                        </a:spcAft>
                        <a:buNone/>
                      </a:pPr>
                      <a:r>
                        <a:rPr lang="en-US" sz="1400" kern="1200">
                          <a:solidFill>
                            <a:schemeClr val="dk1"/>
                          </a:solidFill>
                          <a:effectLst/>
                          <a:latin typeface="+mn-lt"/>
                          <a:ea typeface="+mn-ea"/>
                          <a:cs typeface="+mn-cs"/>
                        </a:rPr>
                        <a:t>1.0</a:t>
                      </a:r>
                    </a:p>
                  </a:txBody>
                  <a:tcPr marL="9525" marR="9525" marT="9525" marB="9525" anchor="ctr"/>
                </a:tc>
                <a:tc>
                  <a:txBody>
                    <a:bodyPr/>
                    <a:lstStyle/>
                    <a:p>
                      <a:r>
                        <a:rPr lang="en-US" sz="1400" kern="1200" dirty="0">
                          <a:solidFill>
                            <a:schemeClr val="dk1"/>
                          </a:solidFill>
                          <a:effectLst/>
                          <a:latin typeface="+mn-lt"/>
                          <a:ea typeface="+mn-ea"/>
                          <a:cs typeface="+mn-cs"/>
                        </a:rPr>
                        <a:t>Acts as a Baseline</a:t>
                      </a:r>
                      <a:endParaRPr lang="en-US" sz="1400" dirty="0"/>
                    </a:p>
                  </a:txBody>
                  <a:tcPr/>
                </a:tc>
                <a:extLst>
                  <a:ext uri="{0D108BD9-81ED-4DB2-BD59-A6C34878D82A}">
                    <a16:rowId xmlns:a16="http://schemas.microsoft.com/office/drawing/2014/main" val="2115764947"/>
                  </a:ext>
                </a:extLst>
              </a:tr>
              <a:tr h="370840">
                <a:tc>
                  <a:txBody>
                    <a:bodyPr/>
                    <a:lstStyle/>
                    <a:p>
                      <a:r>
                        <a:rPr lang="en-US" sz="1400" kern="1200" dirty="0">
                          <a:solidFill>
                            <a:schemeClr val="dk1"/>
                          </a:solidFill>
                          <a:effectLst/>
                          <a:latin typeface="+mn-lt"/>
                          <a:ea typeface="+mn-ea"/>
                          <a:cs typeface="+mn-cs"/>
                        </a:rPr>
                        <a:t>Exp 2: Fake Names Replacement</a:t>
                      </a:r>
                      <a:endParaRPr lang="en-US" sz="1400" dirty="0"/>
                    </a:p>
                  </a:txBody>
                  <a:tcPr/>
                </a:tc>
                <a:tc>
                  <a:txBody>
                    <a:bodyPr/>
                    <a:lstStyle/>
                    <a:p>
                      <a:pPr marL="0" marR="0" algn="l" defTabSz="914400" rtl="0" eaLnBrk="1" latinLnBrk="0" hangingPunct="1">
                        <a:lnSpc>
                          <a:spcPct val="107000"/>
                        </a:lnSpc>
                        <a:spcAft>
                          <a:spcPts val="800"/>
                        </a:spcAft>
                        <a:buNone/>
                      </a:pPr>
                      <a:r>
                        <a:rPr lang="en-US" sz="1400" kern="1200">
                          <a:solidFill>
                            <a:schemeClr val="dk1"/>
                          </a:solidFill>
                          <a:effectLst/>
                          <a:latin typeface="+mn-lt"/>
                          <a:ea typeface="+mn-ea"/>
                          <a:cs typeface="+mn-cs"/>
                        </a:rPr>
                        <a:t>287</a:t>
                      </a:r>
                    </a:p>
                  </a:txBody>
                  <a:tcPr marL="9525" marR="9525" marT="9525" marB="9525" anchor="ctr"/>
                </a:tc>
                <a:tc>
                  <a:txBody>
                    <a:bodyPr/>
                    <a:lstStyle/>
                    <a:p>
                      <a:pPr marL="0" marR="0" algn="l" defTabSz="914400" rtl="0" eaLnBrk="1" latinLnBrk="0" hangingPunct="1">
                        <a:lnSpc>
                          <a:spcPct val="107000"/>
                        </a:lnSpc>
                        <a:spcAft>
                          <a:spcPts val="800"/>
                        </a:spcAft>
                        <a:buNone/>
                      </a:pPr>
                      <a:r>
                        <a:rPr lang="en-US" sz="1400" kern="1200" dirty="0">
                          <a:solidFill>
                            <a:schemeClr val="dk1"/>
                          </a:solidFill>
                          <a:effectLst/>
                          <a:latin typeface="+mn-lt"/>
                          <a:ea typeface="+mn-ea"/>
                          <a:cs typeface="+mn-cs"/>
                        </a:rPr>
                        <a:t>+12%</a:t>
                      </a:r>
                    </a:p>
                  </a:txBody>
                  <a:tcPr marL="9525" marR="9525" marT="9525" marB="9525" anchor="ctr"/>
                </a:tc>
                <a:tc>
                  <a:txBody>
                    <a:bodyPr/>
                    <a:lstStyle/>
                    <a:p>
                      <a:pPr marL="0" marR="0" algn="l" defTabSz="914400" rtl="0" eaLnBrk="1" latinLnBrk="0" hangingPunct="1">
                        <a:lnSpc>
                          <a:spcPct val="107000"/>
                        </a:lnSpc>
                        <a:spcAft>
                          <a:spcPts val="800"/>
                        </a:spcAft>
                        <a:buNone/>
                      </a:pPr>
                      <a:r>
                        <a:rPr lang="en-US" sz="1400" kern="1200">
                          <a:solidFill>
                            <a:schemeClr val="dk1"/>
                          </a:solidFill>
                          <a:effectLst/>
                          <a:latin typeface="+mn-lt"/>
                          <a:ea typeface="+mn-ea"/>
                          <a:cs typeface="+mn-cs"/>
                        </a:rPr>
                        <a:t>1.0</a:t>
                      </a:r>
                    </a:p>
                  </a:txBody>
                  <a:tcPr marL="9525" marR="9525" marT="9525" marB="9525" anchor="ctr"/>
                </a:tc>
                <a:tc>
                  <a:txBody>
                    <a:bodyPr/>
                    <a:lstStyle/>
                    <a:p>
                      <a:r>
                        <a:rPr lang="en-US" sz="1400" kern="1200" dirty="0">
                          <a:solidFill>
                            <a:schemeClr val="dk1"/>
                          </a:solidFill>
                          <a:effectLst/>
                          <a:latin typeface="+mn-lt"/>
                          <a:ea typeface="+mn-ea"/>
                          <a:cs typeface="+mn-cs"/>
                        </a:rPr>
                        <a:t>Moderate computational overhead</a:t>
                      </a:r>
                      <a:r>
                        <a:rPr lang="en-US" sz="1400" b="1" kern="1200" dirty="0">
                          <a:solidFill>
                            <a:schemeClr val="dk1"/>
                          </a:solidFill>
                          <a:effectLst/>
                          <a:latin typeface="+mn-lt"/>
                          <a:ea typeface="+mn-ea"/>
                          <a:cs typeface="+mn-cs"/>
                        </a:rPr>
                        <a:t> </a:t>
                      </a:r>
                      <a:r>
                        <a:rPr lang="en-US" sz="1400" kern="1200" dirty="0">
                          <a:solidFill>
                            <a:schemeClr val="dk1"/>
                          </a:solidFill>
                          <a:effectLst/>
                          <a:latin typeface="+mn-lt"/>
                          <a:ea typeface="+mn-ea"/>
                          <a:cs typeface="+mn-cs"/>
                        </a:rPr>
                        <a:t>(approximately 89% increase)</a:t>
                      </a:r>
                      <a:endParaRPr lang="en-US" sz="1400" dirty="0"/>
                    </a:p>
                  </a:txBody>
                  <a:tcPr/>
                </a:tc>
                <a:extLst>
                  <a:ext uri="{0D108BD9-81ED-4DB2-BD59-A6C34878D82A}">
                    <a16:rowId xmlns:a16="http://schemas.microsoft.com/office/drawing/2014/main" val="1400429883"/>
                  </a:ext>
                </a:extLst>
              </a:tr>
              <a:tr h="370840">
                <a:tc>
                  <a:txBody>
                    <a:bodyPr/>
                    <a:lstStyle/>
                    <a:p>
                      <a:r>
                        <a:rPr lang="en-US" sz="1400" kern="1200" dirty="0">
                          <a:solidFill>
                            <a:schemeClr val="dk1"/>
                          </a:solidFill>
                          <a:effectLst/>
                          <a:latin typeface="+mn-lt"/>
                          <a:ea typeface="+mn-ea"/>
                          <a:cs typeface="+mn-cs"/>
                        </a:rPr>
                        <a:t>Exp 3: XXXX Masking</a:t>
                      </a:r>
                      <a:endParaRPr lang="en-US" sz="1400" dirty="0"/>
                    </a:p>
                  </a:txBody>
                  <a:tcPr/>
                </a:tc>
                <a:tc>
                  <a:txBody>
                    <a:bodyPr/>
                    <a:lstStyle/>
                    <a:p>
                      <a:pPr marL="0" marR="0" algn="l" defTabSz="914400" rtl="0" eaLnBrk="1" latinLnBrk="0" hangingPunct="1">
                        <a:lnSpc>
                          <a:spcPct val="107000"/>
                        </a:lnSpc>
                        <a:spcAft>
                          <a:spcPts val="800"/>
                        </a:spcAft>
                        <a:buNone/>
                      </a:pPr>
                      <a:r>
                        <a:rPr lang="en-US" sz="1400" kern="1200">
                          <a:solidFill>
                            <a:schemeClr val="dk1"/>
                          </a:solidFill>
                          <a:effectLst/>
                          <a:latin typeface="+mn-lt"/>
                          <a:ea typeface="+mn-ea"/>
                          <a:cs typeface="+mn-cs"/>
                        </a:rPr>
                        <a:t>198</a:t>
                      </a:r>
                    </a:p>
                  </a:txBody>
                  <a:tcPr marL="9525" marR="9525" marT="9525" marB="9525" anchor="ctr"/>
                </a:tc>
                <a:tc>
                  <a:txBody>
                    <a:bodyPr/>
                    <a:lstStyle/>
                    <a:p>
                      <a:pPr marL="0" marR="0" algn="l" defTabSz="914400" rtl="0" eaLnBrk="1" latinLnBrk="0" hangingPunct="1">
                        <a:lnSpc>
                          <a:spcPct val="107000"/>
                        </a:lnSpc>
                        <a:spcAft>
                          <a:spcPts val="800"/>
                        </a:spcAft>
                        <a:buNone/>
                      </a:pPr>
                      <a:r>
                        <a:rPr lang="en-US" sz="1400" kern="1200" dirty="0">
                          <a:solidFill>
                            <a:schemeClr val="dk1"/>
                          </a:solidFill>
                          <a:effectLst/>
                          <a:latin typeface="+mn-lt"/>
                          <a:ea typeface="+mn-ea"/>
                          <a:cs typeface="+mn-cs"/>
                        </a:rPr>
                        <a:t>+3%</a:t>
                      </a:r>
                    </a:p>
                  </a:txBody>
                  <a:tcPr marL="9525" marR="9525" marT="9525" marB="9525" anchor="ctr"/>
                </a:tc>
                <a:tc>
                  <a:txBody>
                    <a:bodyPr/>
                    <a:lstStyle/>
                    <a:p>
                      <a:pPr marL="0" marR="0" algn="l" defTabSz="914400" rtl="0" eaLnBrk="1" latinLnBrk="0" hangingPunct="1">
                        <a:lnSpc>
                          <a:spcPct val="107000"/>
                        </a:lnSpc>
                        <a:spcAft>
                          <a:spcPts val="800"/>
                        </a:spcAft>
                        <a:buNone/>
                      </a:pPr>
                      <a:r>
                        <a:rPr lang="en-US" sz="1400" kern="1200" dirty="0">
                          <a:solidFill>
                            <a:schemeClr val="dk1"/>
                          </a:solidFill>
                          <a:effectLst/>
                          <a:latin typeface="+mn-lt"/>
                          <a:ea typeface="+mn-ea"/>
                          <a:cs typeface="+mn-cs"/>
                        </a:rPr>
                        <a:t>1.0</a:t>
                      </a:r>
                    </a:p>
                  </a:txBody>
                  <a:tcPr marL="9525" marR="9525" marT="9525" marB="9525" anchor="ctr"/>
                </a:tc>
                <a:tc>
                  <a:txBody>
                    <a:bodyPr/>
                    <a:lstStyle/>
                    <a:p>
                      <a:r>
                        <a:rPr lang="en-US" sz="1400" kern="1200" dirty="0">
                          <a:solidFill>
                            <a:schemeClr val="dk1"/>
                          </a:solidFill>
                          <a:effectLst/>
                          <a:latin typeface="+mn-lt"/>
                          <a:ea typeface="+mn-ea"/>
                          <a:cs typeface="+mn-cs"/>
                        </a:rPr>
                        <a:t>Lowest computational burden, only a 30% increase in average processing time compared to the baseline</a:t>
                      </a:r>
                      <a:endParaRPr lang="en-US" sz="1400" dirty="0"/>
                    </a:p>
                  </a:txBody>
                  <a:tcPr/>
                </a:tc>
                <a:extLst>
                  <a:ext uri="{0D108BD9-81ED-4DB2-BD59-A6C34878D82A}">
                    <a16:rowId xmlns:a16="http://schemas.microsoft.com/office/drawing/2014/main" val="1913307555"/>
                  </a:ext>
                </a:extLst>
              </a:tr>
              <a:tr h="370840">
                <a:tc>
                  <a:txBody>
                    <a:bodyPr/>
                    <a:lstStyle/>
                    <a:p>
                      <a:r>
                        <a:rPr lang="en-US" sz="1400" kern="1200" dirty="0">
                          <a:solidFill>
                            <a:schemeClr val="dk1"/>
                          </a:solidFill>
                          <a:effectLst/>
                          <a:latin typeface="+mn-lt"/>
                          <a:ea typeface="+mn-ea"/>
                          <a:cs typeface="+mn-cs"/>
                        </a:rPr>
                        <a:t>Exp 4: LLM-based PII Removal(</a:t>
                      </a:r>
                      <a:r>
                        <a:rPr lang="en-US" sz="1400" kern="1200" dirty="0" err="1">
                          <a:solidFill>
                            <a:schemeClr val="dk1"/>
                          </a:solidFill>
                          <a:effectLst/>
                          <a:latin typeface="+mn-lt"/>
                          <a:ea typeface="+mn-ea"/>
                          <a:cs typeface="+mn-cs"/>
                        </a:rPr>
                        <a:t>ollMA</a:t>
                      </a:r>
                      <a:r>
                        <a:rPr lang="en-US" sz="1400" kern="1200" dirty="0">
                          <a:solidFill>
                            <a:schemeClr val="dk1"/>
                          </a:solidFill>
                          <a:effectLst/>
                          <a:latin typeface="+mn-lt"/>
                          <a:ea typeface="+mn-ea"/>
                          <a:cs typeface="+mn-cs"/>
                        </a:rPr>
                        <a:t>)</a:t>
                      </a:r>
                      <a:endParaRPr lang="en-US" sz="1400" dirty="0"/>
                    </a:p>
                  </a:txBody>
                  <a:tcPr/>
                </a:tc>
                <a:tc>
                  <a:txBody>
                    <a:bodyPr/>
                    <a:lstStyle/>
                    <a:p>
                      <a:pPr marL="0" marR="0" algn="l" defTabSz="914400" rtl="0" eaLnBrk="1" latinLnBrk="0" hangingPunct="1">
                        <a:lnSpc>
                          <a:spcPct val="107000"/>
                        </a:lnSpc>
                        <a:spcAft>
                          <a:spcPts val="800"/>
                        </a:spcAft>
                        <a:buNone/>
                      </a:pPr>
                      <a:r>
                        <a:rPr lang="en-US" sz="1400" kern="1200">
                          <a:solidFill>
                            <a:schemeClr val="dk1"/>
                          </a:solidFill>
                          <a:effectLst/>
                          <a:latin typeface="+mn-lt"/>
                          <a:ea typeface="+mn-ea"/>
                          <a:cs typeface="+mn-cs"/>
                        </a:rPr>
                        <a:t>1,243</a:t>
                      </a:r>
                    </a:p>
                  </a:txBody>
                  <a:tcPr marL="9525" marR="9525" marT="9525" marB="9525" anchor="ctr"/>
                </a:tc>
                <a:tc>
                  <a:txBody>
                    <a:bodyPr/>
                    <a:lstStyle/>
                    <a:p>
                      <a:pPr marL="0" marR="0" algn="l" defTabSz="914400" rtl="0" eaLnBrk="1" latinLnBrk="0" hangingPunct="1">
                        <a:lnSpc>
                          <a:spcPct val="107000"/>
                        </a:lnSpc>
                        <a:spcAft>
                          <a:spcPts val="800"/>
                        </a:spcAft>
                        <a:buNone/>
                      </a:pPr>
                      <a:r>
                        <a:rPr lang="en-US" sz="1400" kern="1200" dirty="0">
                          <a:solidFill>
                            <a:schemeClr val="dk1"/>
                          </a:solidFill>
                          <a:effectLst/>
                          <a:latin typeface="+mn-lt"/>
                          <a:ea typeface="+mn-ea"/>
                          <a:cs typeface="+mn-cs"/>
                        </a:rPr>
                        <a:t>+8%</a:t>
                      </a:r>
                    </a:p>
                  </a:txBody>
                  <a:tcPr marL="9525" marR="9525" marT="9525" marB="9525" anchor="ctr"/>
                </a:tc>
                <a:tc>
                  <a:txBody>
                    <a:bodyPr/>
                    <a:lstStyle/>
                    <a:p>
                      <a:pPr marL="0" marR="0" algn="l" defTabSz="914400" rtl="0" eaLnBrk="1" latinLnBrk="0" hangingPunct="1">
                        <a:lnSpc>
                          <a:spcPct val="107000"/>
                        </a:lnSpc>
                        <a:spcAft>
                          <a:spcPts val="800"/>
                        </a:spcAft>
                        <a:buNone/>
                      </a:pPr>
                      <a:r>
                        <a:rPr lang="en-US" sz="1400" kern="1200" dirty="0">
                          <a:solidFill>
                            <a:schemeClr val="dk1"/>
                          </a:solidFill>
                          <a:effectLst/>
                          <a:latin typeface="+mn-lt"/>
                          <a:ea typeface="+mn-ea"/>
                          <a:cs typeface="+mn-cs"/>
                        </a:rPr>
                        <a:t>2.2</a:t>
                      </a:r>
                    </a:p>
                  </a:txBody>
                  <a:tcPr marL="9525" marR="9525" marT="9525" marB="9525" anchor="ctr"/>
                </a:tc>
                <a:tc>
                  <a:txBody>
                    <a:bodyPr/>
                    <a:lstStyle/>
                    <a:p>
                      <a:r>
                        <a:rPr lang="en-US" sz="1400" kern="1200" dirty="0">
                          <a:solidFill>
                            <a:schemeClr val="dk1"/>
                          </a:solidFill>
                          <a:effectLst/>
                          <a:latin typeface="+mn-lt"/>
                          <a:ea typeface="+mn-ea"/>
                          <a:cs typeface="+mn-cs"/>
                        </a:rPr>
                        <a:t>Highest latency, with an average 718% increase in processing time relative to the baseline</a:t>
                      </a:r>
                      <a:endParaRPr lang="en-US" sz="1400" dirty="0"/>
                    </a:p>
                  </a:txBody>
                  <a:tcPr/>
                </a:tc>
                <a:extLst>
                  <a:ext uri="{0D108BD9-81ED-4DB2-BD59-A6C34878D82A}">
                    <a16:rowId xmlns:a16="http://schemas.microsoft.com/office/drawing/2014/main" val="4028880374"/>
                  </a:ext>
                </a:extLst>
              </a:tr>
            </a:tbl>
          </a:graphicData>
        </a:graphic>
      </p:graphicFrame>
      <p:pic>
        <p:nvPicPr>
          <p:cNvPr id="3" name="Picture 2">
            <a:extLst>
              <a:ext uri="{FF2B5EF4-FFF2-40B4-BE49-F238E27FC236}">
                <a16:creationId xmlns:a16="http://schemas.microsoft.com/office/drawing/2014/main" id="{C113C2DE-F0B8-B396-0E48-7A65892185E4}"/>
              </a:ext>
            </a:extLst>
          </p:cNvPr>
          <p:cNvPicPr>
            <a:picLocks noChangeAspect="1"/>
          </p:cNvPicPr>
          <p:nvPr/>
        </p:nvPicPr>
        <p:blipFill>
          <a:blip r:embed="rId3"/>
          <a:stretch>
            <a:fillRect/>
          </a:stretch>
        </p:blipFill>
        <p:spPr>
          <a:xfrm>
            <a:off x="589343" y="4383472"/>
            <a:ext cx="10764456" cy="2097763"/>
          </a:xfrm>
          <a:prstGeom prst="rect">
            <a:avLst/>
          </a:prstGeom>
        </p:spPr>
      </p:pic>
    </p:spTree>
    <p:extLst>
      <p:ext uri="{BB962C8B-B14F-4D97-AF65-F5344CB8AC3E}">
        <p14:creationId xmlns:p14="http://schemas.microsoft.com/office/powerpoint/2010/main" val="2002585924"/>
      </p:ext>
    </p:extLst>
  </p:cSld>
  <p:clrMapOvr>
    <a:masterClrMapping/>
  </p:clrMapOvr>
  <mc:AlternateContent xmlns:mc="http://schemas.openxmlformats.org/markup-compatibility/2006" xmlns:p14="http://schemas.microsoft.com/office/powerpoint/2010/main">
    <mc:Choice Requires="p14">
      <p:transition spd="slow" p14:dur="2000" advTm="54937"/>
    </mc:Choice>
    <mc:Fallback xmlns="">
      <p:transition spd="slow" advTm="54937"/>
    </mc:Fallback>
  </mc:AlternateContent>
  <p:extLst>
    <p:ext uri="{3A86A75C-4F4B-4683-9AE1-C65F6400EC91}">
      <p14:laserTraceLst xmlns:p14="http://schemas.microsoft.com/office/powerpoint/2010/main">
        <p14:tracePtLst>
          <p14:tracePt t="797" x="4664075" y="1698625"/>
          <p14:tracePt t="841" x="4672013" y="1698625"/>
          <p14:tracePt t="861" x="4672013" y="1706563"/>
          <p14:tracePt t="962" x="4672013" y="1714500"/>
          <p14:tracePt t="1127" x="4672013" y="1706563"/>
          <p14:tracePt t="12873" x="4656138" y="1730375"/>
          <p14:tracePt t="12881" x="4608513" y="1793875"/>
          <p14:tracePt t="12892" x="4560888" y="1849438"/>
          <p14:tracePt t="12907" x="4481513" y="1970088"/>
          <p14:tracePt t="12924" x="4362450" y="2112963"/>
          <p14:tracePt t="12940" x="4297363" y="2192338"/>
          <p14:tracePt t="12957" x="4249738" y="2257425"/>
          <p14:tracePt t="12973" x="4194175" y="2320925"/>
          <p14:tracePt t="12991" x="4178300" y="2344738"/>
          <p14:tracePt t="13010" x="4154488" y="2376488"/>
          <p14:tracePt t="13018" x="4146550" y="2384425"/>
          <p14:tracePt t="13026" x="4138613" y="2392363"/>
          <p14:tracePt t="13039" x="4122738" y="2408238"/>
          <p14:tracePt t="13061" x="4067175" y="2455863"/>
          <p14:tracePt t="13074" x="4019550" y="2479675"/>
          <p14:tracePt t="13090" x="3970338" y="2511425"/>
          <p14:tracePt t="13113" x="3883025" y="2566988"/>
          <p14:tracePt t="13118" x="3867150" y="2584450"/>
          <p14:tracePt t="13124" x="3843338" y="2592388"/>
          <p14:tracePt t="13140" x="3787775" y="2632075"/>
          <p14:tracePt t="13157" x="3748088" y="2647950"/>
          <p14:tracePt t="13173" x="3676650" y="2687638"/>
          <p14:tracePt t="13190" x="3643313" y="2711450"/>
          <p14:tracePt t="13207" x="3603625" y="2727325"/>
          <p14:tracePt t="13223" x="3556000" y="2759075"/>
          <p14:tracePt t="13240" x="3524250" y="2774950"/>
          <p14:tracePt t="13257" x="3516313" y="2782888"/>
          <p14:tracePt t="13273" x="3484563" y="2806700"/>
          <p14:tracePt t="13292" x="3468688" y="2814638"/>
          <p14:tracePt t="13496" x="3484563" y="2814638"/>
          <p14:tracePt t="13501" x="3500438" y="2806700"/>
          <p14:tracePt t="13509" x="3516313" y="2798763"/>
          <p14:tracePt t="13524" x="3548063" y="2798763"/>
          <p14:tracePt t="13568" x="3619500" y="2774950"/>
          <p14:tracePt t="13576" x="3684588" y="2759075"/>
          <p14:tracePt t="13587" x="3756025" y="2735263"/>
          <p14:tracePt t="13594" x="3771900" y="2727325"/>
          <p14:tracePt t="13608" x="3803650" y="2727325"/>
          <p14:tracePt t="13624" x="3811588" y="2727325"/>
          <p14:tracePt t="13642" x="3819525" y="2727325"/>
          <p14:tracePt t="13659" x="3827463" y="2727325"/>
          <p14:tracePt t="13795" x="3835400" y="2727325"/>
          <p14:tracePt t="13810" x="3843338" y="2727325"/>
          <p14:tracePt t="13823" x="3859213" y="2727325"/>
          <p14:tracePt t="13829" x="3875088" y="2727325"/>
          <p14:tracePt t="13840" x="3883025" y="2735263"/>
          <p14:tracePt t="13858" x="3914775" y="2743200"/>
          <p14:tracePt t="13876" x="3930650" y="2743200"/>
          <p14:tracePt t="13893" x="3938588" y="2743200"/>
          <p14:tracePt t="16318" x="3946525" y="2743200"/>
          <p14:tracePt t="16395" x="3954463" y="2743200"/>
          <p14:tracePt t="16845" x="3946525" y="2743200"/>
          <p14:tracePt t="16851" x="3946525" y="2759075"/>
          <p14:tracePt t="16860" x="3938588" y="2759075"/>
          <p14:tracePt t="16875" x="3906838" y="2790825"/>
          <p14:tracePt t="16891" x="3875088" y="2830513"/>
          <p14:tracePt t="16907" x="3811588" y="2886075"/>
          <p14:tracePt t="16930" x="3748088" y="2959100"/>
          <p14:tracePt t="16940" x="3732213" y="2990850"/>
          <p14:tracePt t="16959" x="3684588" y="3046413"/>
          <p14:tracePt t="16976" x="3651250" y="3101975"/>
          <p14:tracePt t="16991" x="3611563" y="3157538"/>
          <p14:tracePt t="17007" x="3548063" y="3236913"/>
          <p14:tracePt t="17024" x="3492500" y="3309938"/>
          <p14:tracePt t="17040" x="3436938" y="3373438"/>
          <p14:tracePt t="17059" x="3333750" y="3468688"/>
          <p14:tracePt t="17073" x="3252788" y="3524250"/>
          <p14:tracePt t="17090" x="3165475" y="3587750"/>
          <p14:tracePt t="17109" x="3014663" y="3684588"/>
          <p14:tracePt t="17128" x="2917825" y="3732213"/>
          <p14:tracePt t="17130" x="2870200" y="3763963"/>
          <p14:tracePt t="17141" x="2838450" y="3779838"/>
          <p14:tracePt t="17157" x="2719388" y="3843338"/>
          <p14:tracePt t="17176" x="2632075" y="3875088"/>
          <p14:tracePt t="17179" x="2606675" y="3898900"/>
          <p14:tracePt t="17190" x="2582863" y="3906838"/>
          <p14:tracePt t="17209" x="2487613" y="3938588"/>
          <p14:tracePt t="17223" x="2424113" y="3963988"/>
          <p14:tracePt t="17241" x="2368550" y="3963988"/>
          <p14:tracePt t="17259" x="2281238" y="3963988"/>
          <p14:tracePt t="17273" x="2224088" y="3963988"/>
          <p14:tracePt t="17290" x="2152650" y="3963988"/>
          <p14:tracePt t="17313" x="2065338" y="3963988"/>
          <p14:tracePt t="17328" x="2025650" y="3963988"/>
          <p14:tracePt t="17330" x="2001838" y="3963988"/>
          <p14:tracePt t="17340" x="1985963" y="3963988"/>
          <p14:tracePt t="17358" x="1946275" y="3963988"/>
          <p14:tracePt t="17374" x="1930400" y="3956050"/>
          <p14:tracePt t="17390" x="1912938" y="3956050"/>
          <p14:tracePt t="17407" x="1905000" y="3948113"/>
          <p14:tracePt t="17478" x="1905000" y="3938588"/>
          <p14:tracePt t="17486" x="1912938" y="3938588"/>
          <p14:tracePt t="17497" x="1938338" y="3930650"/>
          <p14:tracePt t="17502" x="1962150" y="3922713"/>
          <p14:tracePt t="17510" x="2017713" y="3914775"/>
          <p14:tracePt t="17523" x="2128838" y="3898900"/>
          <p14:tracePt t="17544" x="2281238" y="3890963"/>
          <p14:tracePt t="17547" x="2352675" y="3890963"/>
          <p14:tracePt t="17560" x="2503488" y="3883025"/>
          <p14:tracePt t="17573" x="2632075" y="3883025"/>
          <p14:tracePt t="17591" x="2735263" y="3875088"/>
          <p14:tracePt t="17607" x="2854325" y="3867150"/>
          <p14:tracePt t="17623" x="2894013" y="3859213"/>
          <p14:tracePt t="17641" x="2909888" y="3859213"/>
          <p14:tracePt t="17658" x="2917825" y="3859213"/>
          <p14:tracePt t="17749" x="2925763" y="3859213"/>
          <p14:tracePt t="19038" x="2949575" y="3859213"/>
          <p14:tracePt t="19047" x="2990850" y="3867150"/>
          <p14:tracePt t="19057" x="3038475" y="3890963"/>
          <p14:tracePt t="19076" x="3133725" y="3938588"/>
          <p14:tracePt t="19090" x="3189288" y="3963988"/>
          <p14:tracePt t="19111" x="3244850" y="3995738"/>
          <p14:tracePt t="19128" x="3276600" y="4003675"/>
          <p14:tracePt t="19144" x="3276600" y="4011613"/>
          <p14:tracePt t="19147" x="3284538" y="4011613"/>
          <p14:tracePt t="19197" x="3292475" y="4011613"/>
          <p14:tracePt t="19204" x="3292475" y="4019550"/>
          <p14:tracePt t="19212" x="3300413" y="4019550"/>
          <p14:tracePt t="19227" x="3308350" y="4027488"/>
          <p14:tracePt t="19241" x="3317875" y="4027488"/>
          <p14:tracePt t="19257" x="3333750" y="4035425"/>
          <p14:tracePt t="19274" x="3349625" y="4043363"/>
          <p14:tracePt t="19291" x="3381375" y="4059238"/>
          <p14:tracePt t="19310" x="3405188" y="4059238"/>
          <p14:tracePt t="19312" x="3413125" y="4067175"/>
          <p14:tracePt t="19326" x="3421063" y="4075113"/>
          <p14:tracePt t="19330" x="3436938" y="4075113"/>
          <p14:tracePt t="19344" x="3460750" y="4083050"/>
          <p14:tracePt t="19361" x="3492500" y="4090988"/>
          <p14:tracePt t="19363" x="3500438" y="4090988"/>
          <p14:tracePt t="19375" x="3508375" y="4098925"/>
          <p14:tracePt t="19391" x="3532188" y="4098925"/>
          <p14:tracePt t="19393" x="3548063" y="4106863"/>
          <p14:tracePt t="19407" x="3571875" y="4106863"/>
          <p14:tracePt t="19424" x="3595688" y="4106863"/>
          <p14:tracePt t="19443" x="3643313" y="4106863"/>
          <p14:tracePt t="19457" x="3676650" y="4106863"/>
          <p14:tracePt t="19473" x="3700463" y="4098925"/>
          <p14:tracePt t="19493" x="3740150" y="4098925"/>
          <p14:tracePt t="19507" x="3763963" y="4090988"/>
          <p14:tracePt t="19524" x="3771900" y="4090988"/>
          <p14:tracePt t="19544" x="3779838" y="4090988"/>
          <p14:tracePt t="19562" x="3787775" y="4090988"/>
          <p14:tracePt t="19577" x="3787775" y="4083050"/>
          <p14:tracePt t="19648" x="3795713" y="4083050"/>
          <p14:tracePt t="23030" x="3756025" y="4051300"/>
          <p14:tracePt t="23039" x="3708400" y="4019550"/>
          <p14:tracePt t="23046" x="3660775" y="3971925"/>
          <p14:tracePt t="23060" x="3556000" y="3883025"/>
          <p14:tracePt t="23074" x="3436938" y="3803650"/>
          <p14:tracePt t="23092" x="3317875" y="3708400"/>
          <p14:tracePt t="23109" x="3086100" y="3532188"/>
          <p14:tracePt t="23124" x="3022600" y="3468688"/>
          <p14:tracePt t="23126" x="2941638" y="3405188"/>
          <p14:tracePt t="23141" x="2790825" y="3278188"/>
          <p14:tracePt t="23157" x="2647950" y="3165475"/>
          <p14:tracePt t="23175" x="2463800" y="3030538"/>
          <p14:tracePt t="23190" x="2368550" y="2967038"/>
          <p14:tracePt t="23207" x="2289175" y="2901950"/>
          <p14:tracePt t="23229" x="2208213" y="2846388"/>
          <p14:tracePt t="23241" x="2168525" y="2806700"/>
          <p14:tracePt t="23258" x="2144713" y="2767013"/>
          <p14:tracePt t="23278" x="2120900" y="2727325"/>
          <p14:tracePt t="23290" x="2112963" y="2695575"/>
          <p14:tracePt t="23306" x="2112963" y="2647950"/>
          <p14:tracePt t="23325" x="2144713" y="2527300"/>
          <p14:tracePt t="23341" x="2160588" y="2447925"/>
          <p14:tracePt t="23358" x="2200275" y="2368550"/>
          <p14:tracePt t="23373" x="2232025" y="2305050"/>
          <p14:tracePt t="23390" x="2289175" y="2249488"/>
          <p14:tracePt t="23407" x="2336800" y="2208213"/>
          <p14:tracePt t="23426" x="2432050" y="2160588"/>
          <p14:tracePt t="23440" x="2511425" y="2136775"/>
          <p14:tracePt t="23458" x="2598738" y="2128838"/>
          <p14:tracePt t="23473" x="2687638" y="2128838"/>
          <p14:tracePt t="23490" x="2790825" y="2128838"/>
          <p14:tracePt t="23492" x="2846388" y="2128838"/>
          <p14:tracePt t="23508" x="2949575" y="2136775"/>
          <p14:tracePt t="23524" x="3062288" y="2144713"/>
          <p14:tracePt t="23542" x="3213100" y="2152650"/>
          <p14:tracePt t="23558" x="3300413" y="2152650"/>
          <p14:tracePt t="23575" x="3349625" y="2152650"/>
          <p14:tracePt t="23591" x="3413125" y="2152650"/>
          <p14:tracePt t="23606" x="3436938" y="2152650"/>
          <p14:tracePt t="23623" x="3468688" y="2144713"/>
          <p14:tracePt t="23641" x="3524250" y="2144713"/>
          <p14:tracePt t="23658" x="3548063" y="2144713"/>
          <p14:tracePt t="23674" x="3587750" y="2152650"/>
          <p14:tracePt t="23694" x="3627438" y="2160588"/>
          <p14:tracePt t="23699" x="3643313" y="2168525"/>
          <p14:tracePt t="23711" x="3651250" y="2168525"/>
          <p14:tracePt t="23724" x="3676650" y="2184400"/>
          <p14:tracePt t="23743" x="3684588" y="2184400"/>
          <p14:tracePt t="23805" x="3684588" y="2192338"/>
          <p14:tracePt t="23841" x="3684588" y="2200275"/>
          <p14:tracePt t="23848" x="3684588" y="2208213"/>
          <p14:tracePt t="23857" x="3676650" y="2208213"/>
          <p14:tracePt t="23874" x="3668713" y="2224088"/>
          <p14:tracePt t="23890" x="3668713" y="2233613"/>
          <p14:tracePt t="23908" x="3668713" y="2257425"/>
          <p14:tracePt t="23926" x="3676650" y="2281238"/>
          <p14:tracePt t="23941" x="3708400" y="2312988"/>
          <p14:tracePt t="23944" x="3724275" y="2328863"/>
          <p14:tracePt t="23957" x="3756025" y="2352675"/>
          <p14:tracePt t="23975" x="3795713" y="2368550"/>
          <p14:tracePt t="23991" x="3811588" y="2376488"/>
          <p14:tracePt t="24007" x="3819525" y="2376488"/>
          <p14:tracePt t="24041" x="3819525" y="2384425"/>
          <p14:tracePt t="24048" x="3795713" y="2392363"/>
          <p14:tracePt t="24058" x="3787775" y="2392363"/>
          <p14:tracePt t="24074" x="3756025" y="2400300"/>
          <p14:tracePt t="24091" x="3724275" y="2408238"/>
          <p14:tracePt t="24107" x="3716338" y="2416175"/>
          <p14:tracePt t="24122" x="3708400" y="2416175"/>
          <p14:tracePt t="24164" x="3716338" y="2416175"/>
          <p14:tracePt t="24173" x="3740150" y="2416175"/>
          <p14:tracePt t="24178" x="3779838" y="2416175"/>
          <p14:tracePt t="24192" x="3803650" y="2416175"/>
          <p14:tracePt t="24211" x="3930650" y="2400300"/>
          <p14:tracePt t="24224" x="4019550" y="2400300"/>
          <p14:tracePt t="24243" x="4098925" y="2400300"/>
          <p14:tracePt t="24259" x="4130675" y="2400300"/>
          <p14:tracePt t="24273" x="4138613" y="2400300"/>
          <p14:tracePt t="24291" x="4146550" y="2400300"/>
          <p14:tracePt t="24343" x="4146550" y="2408238"/>
          <p14:tracePt t="24350" x="4138613" y="2424113"/>
          <p14:tracePt t="24867" x="4273550" y="2360613"/>
          <p14:tracePt t="24873" x="4505325" y="2257425"/>
          <p14:tracePt t="24890" x="4943475" y="2025650"/>
          <p14:tracePt t="24909" x="5430838" y="1762125"/>
          <p14:tracePt t="24924" x="6059488" y="1419225"/>
          <p14:tracePt t="24940" x="6459538" y="1204913"/>
          <p14:tracePt t="24957" x="6784975" y="1036638"/>
          <p14:tracePt t="24976" x="7127875" y="917575"/>
          <p14:tracePt t="24991" x="7296150" y="869950"/>
          <p14:tracePt t="25007" x="7439025" y="844550"/>
          <p14:tracePt t="25023" x="7527925" y="836613"/>
          <p14:tracePt t="25043" x="7575550" y="828675"/>
          <p14:tracePt t="25059" x="7583488" y="828675"/>
          <p14:tracePt t="25292" x="7623175" y="796925"/>
          <p14:tracePt t="25298" x="7686675" y="733425"/>
          <p14:tracePt t="25309" x="7742238" y="677863"/>
          <p14:tracePt t="25327" x="7886700" y="527050"/>
          <p14:tracePt t="25341" x="7950200" y="461963"/>
          <p14:tracePt t="25358" x="7974013" y="414338"/>
          <p14:tracePt t="25374" x="7989888" y="398463"/>
          <p14:tracePt t="25392" x="7997825" y="390525"/>
          <p14:tracePt t="25407" x="7997825" y="382588"/>
          <p14:tracePt t="25424" x="7997825" y="374650"/>
          <p14:tracePt t="25442" x="8005763" y="350838"/>
          <p14:tracePt t="28714" x="7918450" y="390525"/>
          <p14:tracePt t="28720" x="7710488" y="566738"/>
          <p14:tracePt t="28727" x="7462838" y="765175"/>
          <p14:tracePt t="28741" x="7216775" y="981075"/>
          <p14:tracePt t="28757" x="6426200" y="1619250"/>
          <p14:tracePt t="28773" x="5956300" y="1985963"/>
          <p14:tracePt t="28791" x="5581650" y="2257425"/>
          <p14:tracePt t="28794" x="5430838" y="2376488"/>
          <p14:tracePt t="28810" x="5191125" y="2519363"/>
          <p14:tracePt t="28824" x="5056188" y="2624138"/>
          <p14:tracePt t="28844" x="4911725" y="2719388"/>
          <p14:tracePt t="28860" x="4864100" y="2759075"/>
          <p14:tracePt t="28877" x="4824413" y="2782888"/>
          <p14:tracePt t="28893" x="4808538" y="2790825"/>
          <p14:tracePt t="29230" x="4768850" y="2822575"/>
          <p14:tracePt t="29236" x="4705350" y="2862263"/>
          <p14:tracePt t="29243" x="4624388" y="2919413"/>
          <p14:tracePt t="29257" x="4545013" y="2967038"/>
          <p14:tracePt t="29273" x="4273550" y="3149600"/>
          <p14:tracePt t="29293" x="3978275" y="3317875"/>
          <p14:tracePt t="29312" x="3787775" y="3413125"/>
          <p14:tracePt t="29316" x="3716338" y="3452813"/>
          <p14:tracePt t="29324" x="3643313" y="3484563"/>
          <p14:tracePt t="29340" x="3532188" y="3524250"/>
          <p14:tracePt t="29359" x="3421063" y="3563938"/>
          <p14:tracePt t="29374" x="3373438" y="3579813"/>
          <p14:tracePt t="29391" x="3333750" y="3595688"/>
          <p14:tracePt t="29407" x="3292475" y="3605213"/>
          <p14:tracePt t="29409" x="3276600" y="3605213"/>
          <p14:tracePt t="29424" x="3236913" y="3613150"/>
          <p14:tracePt t="29442" x="3205163" y="3613150"/>
          <p14:tracePt t="29458" x="3165475" y="3621088"/>
          <p14:tracePt t="29474" x="3101975" y="3636963"/>
          <p14:tracePt t="29491" x="3054350" y="3644900"/>
          <p14:tracePt t="29508" x="2998788" y="3660775"/>
          <p14:tracePt t="29523" x="2933700" y="3668713"/>
          <p14:tracePt t="29541" x="2886075" y="3668713"/>
          <p14:tracePt t="29557" x="2854325" y="3668713"/>
          <p14:tracePt t="29576" x="2790825" y="3668713"/>
          <p14:tracePt t="29591" x="2735263" y="3668713"/>
          <p14:tracePt t="29607" x="2687638" y="3660775"/>
          <p14:tracePt t="29626" x="2616200" y="3652838"/>
          <p14:tracePt t="29640" x="2574925" y="3652838"/>
          <p14:tracePt t="29658" x="2535238" y="3652838"/>
          <p14:tracePt t="29674" x="2527300" y="3652838"/>
          <p14:tracePt t="29690" x="2511425" y="3652838"/>
          <p14:tracePt t="29733" x="2503488" y="3652838"/>
          <p14:tracePt t="38128" x="2535238" y="3629025"/>
          <p14:tracePt t="38135" x="2606675" y="3571875"/>
          <p14:tracePt t="38142" x="2703513" y="3508375"/>
          <p14:tracePt t="38159" x="2909888" y="3373438"/>
          <p14:tracePt t="38165" x="3038475" y="3302000"/>
          <p14:tracePt t="38173" x="3213100" y="3205163"/>
          <p14:tracePt t="38191" x="3587750" y="2990850"/>
          <p14:tracePt t="38208" x="4362450" y="2624138"/>
          <p14:tracePt t="38226" x="4959350" y="2392363"/>
          <p14:tracePt t="38242" x="5605463" y="2200275"/>
          <p14:tracePt t="38265" x="6562725" y="2009775"/>
          <p14:tracePt t="38268" x="6834188" y="1970088"/>
          <p14:tracePt t="38276" x="7056438" y="1962150"/>
          <p14:tracePt t="38295" x="7591425" y="1938338"/>
          <p14:tracePt t="38309" x="7694613" y="1930400"/>
          <p14:tracePt t="38311" x="7773988" y="1930400"/>
          <p14:tracePt t="38325" x="7910513" y="1930400"/>
          <p14:tracePt t="38341" x="7958138" y="1930400"/>
          <p14:tracePt t="38359" x="7974013" y="1930400"/>
          <p14:tracePt t="38375" x="7958138" y="1930400"/>
          <p14:tracePt t="38391" x="7918450" y="1938338"/>
          <p14:tracePt t="38691" x="7934325" y="1890713"/>
          <p14:tracePt t="38695" x="7974013" y="1809750"/>
          <p14:tracePt t="38707" x="8021638" y="1738313"/>
          <p14:tracePt t="38724" x="8132763" y="1466850"/>
          <p14:tracePt t="38741" x="8205788" y="1284288"/>
          <p14:tracePt t="38761" x="8293100" y="1036638"/>
          <p14:tracePt t="38777" x="8316913" y="965200"/>
          <p14:tracePt t="38779" x="8332788" y="893763"/>
          <p14:tracePt t="38792" x="8356600" y="796925"/>
          <p14:tracePt t="38812" x="8380413" y="717550"/>
          <p14:tracePt t="38825" x="8380413" y="701675"/>
          <p14:tracePt t="38841" x="8380413" y="693738"/>
          <p14:tracePt t="38917" x="8380413" y="685800"/>
          <p14:tracePt t="38991" x="8380413" y="677863"/>
          <p14:tracePt t="39017" x="8380413" y="669925"/>
          <p14:tracePt t="39026" x="8380413" y="661988"/>
          <p14:tracePt t="39031" x="8380413" y="654050"/>
          <p14:tracePt t="39041" x="8380413" y="638175"/>
          <p14:tracePt t="39062" x="8364538" y="590550"/>
          <p14:tracePt t="39078" x="8356600" y="558800"/>
          <p14:tracePt t="39091" x="8340725" y="534988"/>
          <p14:tracePt t="39109" x="8324850" y="509588"/>
          <p14:tracePt t="39124" x="8308975" y="493713"/>
          <p14:tracePt t="39141" x="8301038" y="485775"/>
          <p14:tracePt t="39143" x="8293100" y="477838"/>
          <p14:tracePt t="39157" x="8285163" y="469900"/>
          <p14:tracePt t="39174" x="8277225" y="469900"/>
          <p14:tracePt t="39190" x="8269288" y="461963"/>
          <p14:tracePt t="39208" x="8261350" y="446088"/>
          <p14:tracePt t="39223" x="8245475" y="446088"/>
          <p14:tracePt t="39240" x="8237538" y="430213"/>
          <p14:tracePt t="39259" x="8221663" y="422275"/>
          <p14:tracePt t="39275" x="8205788" y="406400"/>
          <p14:tracePt t="39295" x="8189913" y="398463"/>
          <p14:tracePt t="39310" x="8180388" y="382588"/>
          <p14:tracePt t="39323" x="8164513" y="374650"/>
          <p14:tracePt t="39343" x="8156575" y="358775"/>
          <p14:tracePt t="39357" x="8148638" y="358775"/>
          <p14:tracePt t="39375" x="8148638" y="350838"/>
          <p14:tracePt t="39419" x="8140700" y="350838"/>
          <p14:tracePt t="39434" x="8132763" y="366713"/>
          <p14:tracePt t="42064" x="8124825" y="366713"/>
          <p14:tracePt t="42092" x="8116888" y="366713"/>
          <p14:tracePt t="42135" x="8108950" y="366713"/>
          <p14:tracePt t="42149" x="8101013" y="358775"/>
          <p14:tracePt t="42163" x="8093075" y="350838"/>
          <p14:tracePt t="42176" x="8085138" y="350838"/>
          <p14:tracePt t="45384" x="7934325" y="366713"/>
          <p14:tracePt t="45392" x="7789863" y="509588"/>
          <p14:tracePt t="45407" x="7439025" y="836613"/>
          <p14:tracePt t="45423" x="7048500" y="1212850"/>
          <p14:tracePt t="45443" x="6491288" y="1809750"/>
          <p14:tracePt t="45457" x="6148388" y="2184400"/>
          <p14:tracePt t="45473" x="5845175" y="2543175"/>
          <p14:tracePt t="45490" x="5629275" y="2814638"/>
          <p14:tracePt t="45507" x="5414963" y="3094038"/>
          <p14:tracePt t="45523" x="5326063" y="3197225"/>
          <p14:tracePt t="45540" x="5270500" y="3270250"/>
          <p14:tracePt t="45558" x="5214938" y="3333750"/>
          <p14:tracePt t="45577" x="5199063" y="3349625"/>
          <p14:tracePt t="45579" x="5191125" y="3357563"/>
          <p14:tracePt t="45930" x="5119688" y="3405188"/>
          <p14:tracePt t="45937" x="5014913" y="3468688"/>
          <p14:tracePt t="45943" x="4903788" y="3548063"/>
          <p14:tracePt t="45956" x="4792663" y="3621088"/>
          <p14:tracePt t="45958" x="4664075" y="3708400"/>
          <p14:tracePt t="45973" x="4449763" y="3835400"/>
          <p14:tracePt t="45990" x="4257675" y="3948113"/>
          <p14:tracePt t="46007" x="4090988" y="4035425"/>
          <p14:tracePt t="46023" x="3914775" y="4106863"/>
          <p14:tracePt t="46040" x="3843338" y="4138613"/>
          <p14:tracePt t="46059" x="3787775" y="4162425"/>
          <p14:tracePt t="46074" x="3748088" y="4162425"/>
          <p14:tracePt t="46091" x="3716338" y="4162425"/>
          <p14:tracePt t="46109" x="3651250" y="4162425"/>
          <p14:tracePt t="46123" x="3635375" y="4170363"/>
          <p14:tracePt t="46142" x="3556000" y="4186238"/>
          <p14:tracePt t="46157" x="3508375" y="4210050"/>
          <p14:tracePt t="46174" x="3444875" y="4249738"/>
          <p14:tracePt t="46190" x="3421063" y="4257675"/>
          <p14:tracePt t="46206" x="3405188" y="4265613"/>
          <p14:tracePt t="46223" x="3389313" y="4273550"/>
          <p14:tracePt t="46226" x="3381375" y="4273550"/>
          <p14:tracePt t="46246" x="3373438" y="4273550"/>
          <p14:tracePt t="46258" x="3365500" y="4273550"/>
          <p14:tracePt t="46276" x="3357563" y="4273550"/>
          <p14:tracePt t="46294" x="3349625" y="4265613"/>
          <p14:tracePt t="46346" x="3349625" y="4257675"/>
          <p14:tracePt t="46352" x="3349625" y="4249738"/>
          <p14:tracePt t="46359" x="3349625" y="4241800"/>
          <p14:tracePt t="46376" x="3357563" y="4217988"/>
          <p14:tracePt t="46391" x="3389313" y="4194175"/>
          <p14:tracePt t="46407" x="3444875" y="4162425"/>
          <p14:tracePt t="46425" x="3540125" y="4130675"/>
          <p14:tracePt t="46440" x="3619500" y="4122738"/>
          <p14:tracePt t="46456" x="3716338" y="4114800"/>
          <p14:tracePt t="46473" x="3811588" y="4114800"/>
          <p14:tracePt t="46490" x="3922713" y="4130675"/>
          <p14:tracePt t="46506" x="3994150" y="4146550"/>
          <p14:tracePt t="46523" x="4035425" y="4146550"/>
          <p14:tracePt t="46542" x="4075113" y="4170363"/>
          <p14:tracePt t="46560" x="4090988" y="4170363"/>
          <p14:tracePt t="46596" x="4098925" y="4170363"/>
          <p14:tracePt t="46639" x="4106863" y="4170363"/>
          <p14:tracePt t="47872" x="4106863" y="4186238"/>
          <p14:tracePt t="47878" x="4106863" y="4210050"/>
          <p14:tracePt t="47891" x="4106863" y="4225925"/>
          <p14:tracePt t="47909" x="4106863" y="4273550"/>
          <p14:tracePt t="47925" x="4106863" y="4291013"/>
          <p14:tracePt t="47945" x="4106863" y="4298950"/>
          <p14:tracePt t="47959" x="4106863" y="4314825"/>
          <p14:tracePt t="47973" x="4114800" y="4322763"/>
          <p14:tracePt t="47990" x="4154488" y="4354513"/>
          <p14:tracePt t="48007" x="4273550" y="4418013"/>
          <p14:tracePt t="48023" x="4425950" y="4473575"/>
          <p14:tracePt t="48040" x="4632325" y="4552950"/>
          <p14:tracePt t="48057" x="4951413" y="4673600"/>
          <p14:tracePt t="48061" x="5135563" y="4745038"/>
          <p14:tracePt t="48075" x="5541963" y="4895850"/>
          <p14:tracePt t="48090" x="5884863" y="5056188"/>
          <p14:tracePt t="48110" x="6267450" y="5222875"/>
          <p14:tracePt t="48123" x="6434138" y="5286375"/>
          <p14:tracePt t="48141" x="6538913" y="5327650"/>
          <p14:tracePt t="48157" x="6586538" y="5351463"/>
          <p14:tracePt t="48177" x="6594475" y="5359400"/>
          <p14:tracePt t="48189" x="6594475" y="5367338"/>
          <p14:tracePt t="48207" x="6570663" y="5383213"/>
          <p14:tracePt t="48223" x="6515100" y="5367338"/>
          <p14:tracePt t="50013" x="6523038" y="5375275"/>
          <p14:tracePt t="50020" x="6538913" y="5383213"/>
          <p14:tracePt t="50027" x="6546850" y="5399088"/>
          <p14:tracePt t="50044" x="6586538" y="5422900"/>
          <p14:tracePt t="50059" x="6626225" y="5454650"/>
          <p14:tracePt t="50076" x="6689725" y="5502275"/>
          <p14:tracePt t="50090" x="6729413" y="5534025"/>
          <p14:tracePt t="50109" x="6794500" y="5565775"/>
          <p14:tracePt t="50123" x="6858000" y="5597525"/>
          <p14:tracePt t="50140" x="6937375" y="5637213"/>
          <p14:tracePt t="50141" x="6977063" y="5653088"/>
          <p14:tracePt t="50157" x="7072313" y="5686425"/>
          <p14:tracePt t="50174" x="7185025" y="5718175"/>
          <p14:tracePt t="50190" x="7280275" y="5757863"/>
          <p14:tracePt t="50206" x="7423150" y="5805488"/>
          <p14:tracePt t="50223" x="7496175" y="5829300"/>
          <p14:tracePt t="50241" x="7543800" y="5853113"/>
          <p14:tracePt t="50256" x="7559675" y="5861050"/>
          <p14:tracePt t="50304" x="7551738" y="5868988"/>
          <p14:tracePt t="50312" x="7535863" y="5892800"/>
          <p14:tracePt t="50323" x="7512050" y="5908675"/>
          <p14:tracePt t="50341" x="7367588" y="5988050"/>
          <p14:tracePt t="50357" x="7248525" y="6061075"/>
          <p14:tracePt t="50373" x="7135813" y="6124575"/>
          <p14:tracePt t="50390" x="7008813" y="6196013"/>
          <p14:tracePt t="50391" x="6953250" y="6227763"/>
          <p14:tracePt t="50406" x="6834188" y="6307138"/>
          <p14:tracePt t="50423" x="6729413" y="6372225"/>
          <p14:tracePt t="50441" x="6586538" y="6451600"/>
          <p14:tracePt t="50456" x="6530975" y="6483350"/>
          <p14:tracePt t="50473" x="6475413" y="6523038"/>
          <p14:tracePt t="50491" x="6418263" y="6546850"/>
          <p14:tracePt t="50507" x="6402388" y="6562725"/>
          <p14:tracePt t="50523" x="6378575" y="6578600"/>
          <p14:tracePt t="50540" x="6354763" y="6594475"/>
          <p14:tracePt t="50559" x="6338888" y="6602413"/>
          <p14:tracePt t="50575" x="6315075" y="6618288"/>
          <p14:tracePt t="50591" x="6275388" y="6634163"/>
          <p14:tracePt t="50607" x="6235700" y="6657975"/>
          <p14:tracePt t="50625" x="6188075" y="6665913"/>
          <p14:tracePt t="50641" x="6100763" y="6673850"/>
          <p14:tracePt t="50657" x="6019800" y="6657975"/>
          <p14:tracePt t="50674" x="5932488" y="6610350"/>
          <p14:tracePt t="50691" x="5845175" y="6538913"/>
          <p14:tracePt t="50692" x="5805488" y="6483350"/>
          <p14:tracePt t="50706" x="5740400" y="6372225"/>
          <p14:tracePt t="50724" x="5692775" y="6235700"/>
          <p14:tracePt t="50740" x="5661025" y="6084888"/>
          <p14:tracePt t="50756" x="5661025" y="5861050"/>
          <p14:tracePt t="50773" x="5700713" y="5734050"/>
          <p14:tracePt t="50790" x="5732463" y="5645150"/>
          <p14:tracePt t="50808" x="5868988" y="5518150"/>
          <p14:tracePt t="50824" x="5995988" y="5430838"/>
          <p14:tracePt t="50840" x="6156325" y="5367338"/>
          <p14:tracePt t="50859" x="6434138" y="5319713"/>
          <p14:tracePt t="50865" x="6530975" y="5310188"/>
          <p14:tracePt t="50874" x="6626225" y="5310188"/>
          <p14:tracePt t="50892" x="6929438" y="5351463"/>
          <p14:tracePt t="50907" x="7135813" y="5438775"/>
          <p14:tracePt t="50923" x="7304088" y="5526088"/>
          <p14:tracePt t="50941" x="7439025" y="5605463"/>
          <p14:tracePt t="50959" x="7559675" y="5718175"/>
          <p14:tracePt t="50973" x="7599363" y="5765800"/>
          <p14:tracePt t="50991" x="7615238" y="5797550"/>
          <p14:tracePt t="51007" x="7615238" y="5837238"/>
          <p14:tracePt t="51009" x="7615238" y="5861050"/>
          <p14:tracePt t="51023" x="7591425" y="5900738"/>
          <p14:tracePt t="51039" x="7559675" y="5948363"/>
          <p14:tracePt t="51059" x="7415213" y="6037263"/>
          <p14:tracePt t="51074" x="7248525" y="6069013"/>
          <p14:tracePt t="51091" x="7072313" y="6100763"/>
          <p14:tracePt t="51108" x="6777038" y="6108700"/>
          <p14:tracePt t="51125" x="6618288" y="6100763"/>
          <p14:tracePt t="51140" x="6442075" y="6069013"/>
          <p14:tracePt t="51157" x="6267450" y="6005513"/>
          <p14:tracePt t="51174" x="6211888" y="5956300"/>
          <p14:tracePt t="51191" x="6164263" y="5908675"/>
          <p14:tracePt t="51207" x="6140450" y="5821363"/>
          <p14:tracePt t="51223" x="6140450" y="5765800"/>
          <p14:tracePt t="51245" x="6164263" y="5702300"/>
          <p14:tracePt t="51251" x="6196013" y="5637213"/>
          <p14:tracePt t="51258" x="6227763" y="5605463"/>
          <p14:tracePt t="51275" x="6283325" y="5549900"/>
          <p14:tracePt t="51291" x="6346825" y="5510213"/>
          <p14:tracePt t="51308" x="6451600" y="5454650"/>
          <p14:tracePt t="51324" x="6507163" y="5430838"/>
          <p14:tracePt t="51341" x="6554788" y="5414963"/>
          <p14:tracePt t="51358" x="6610350" y="5407025"/>
          <p14:tracePt t="51373" x="6642100" y="5399088"/>
          <p14:tracePt t="51393" x="6657975" y="5399088"/>
          <p14:tracePt t="51408" x="6681788" y="5407025"/>
          <p14:tracePt t="51423" x="6689725" y="5407025"/>
          <p14:tracePt t="51425" x="6689725" y="5414963"/>
          <p14:tracePt t="51441" x="6697663" y="5414963"/>
          <p14:tracePt t="51460" x="6705600" y="5414963"/>
          <p14:tracePt t="51489" x="6705600" y="5422900"/>
          <p14:tracePt t="51588" x="6713538" y="5422900"/>
          <p14:tracePt t="51611" x="6721475" y="5422900"/>
          <p14:tracePt t="51761" x="6753225" y="5399088"/>
          <p14:tracePt t="51768" x="6802438" y="5375275"/>
          <p14:tracePt t="51780" x="6850063" y="5343525"/>
          <p14:tracePt t="51782" x="6897688" y="5310188"/>
          <p14:tracePt t="51790" x="6953250" y="5286375"/>
          <p14:tracePt t="51809" x="7088188" y="5214938"/>
          <p14:tracePt t="51826" x="7327900" y="5072063"/>
          <p14:tracePt t="51840" x="7486650" y="4984750"/>
          <p14:tracePt t="51861" x="7631113" y="4911725"/>
          <p14:tracePt t="51881" x="7821613" y="4816475"/>
          <p14:tracePt t="51883" x="7870825" y="4800600"/>
          <p14:tracePt t="51891" x="7910513" y="4776788"/>
          <p14:tracePt t="51907" x="7974013" y="4760913"/>
          <p14:tracePt t="51923" x="8021638" y="4737100"/>
          <p14:tracePt t="51941" x="8045450" y="4737100"/>
          <p14:tracePt t="51957" x="8069263" y="4729163"/>
          <p14:tracePt t="51984" x="8077200" y="4729163"/>
          <p14:tracePt t="52012" x="8085138" y="4729163"/>
          <p14:tracePt t="52026" x="8093075" y="4729163"/>
          <p14:tracePt t="52391" x="7854950" y="4616450"/>
          <p14:tracePt t="52397" x="7431088" y="4370388"/>
          <p14:tracePt t="52406" x="6913563" y="4075113"/>
          <p14:tracePt t="52423" x="5781675" y="3381375"/>
          <p14:tracePt t="52441" x="3986213" y="2289175"/>
          <p14:tracePt t="52456" x="2982913" y="1706563"/>
          <p14:tracePt t="52473" x="2289175" y="1355725"/>
          <p14:tracePt t="52490" x="1897063" y="1179513"/>
          <p14:tracePt t="52506" x="1674813" y="1068388"/>
          <p14:tracePt t="52523" x="1619250" y="1036638"/>
          <p14:tracePt t="52543" x="1627188" y="933450"/>
          <p14:tracePt t="52557" x="1722438" y="765175"/>
          <p14:tracePt t="52574" x="1817688" y="646113"/>
          <p14:tracePt t="52806" x="1674813" y="606425"/>
          <p14:tracePt t="52815" x="1538288" y="558800"/>
          <p14:tracePt t="52825" x="1395413" y="493713"/>
          <p14:tracePt t="52840" x="1171575" y="390525"/>
          <p14:tracePt t="52858" x="909638" y="192088"/>
          <p14:tracePt t="52880" x="765175" y="55563"/>
        </p14:tracePtLst>
      </p14:laserTraceLst>
    </p:ext>
  </p:extLs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AC536E-0A90-A09B-4897-ECF94755B8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399C0E-4CB9-001B-904F-6CC4B67B89C8}"/>
              </a:ext>
            </a:extLst>
          </p:cNvPr>
          <p:cNvSpPr>
            <a:spLocks noGrp="1"/>
          </p:cNvSpPr>
          <p:nvPr>
            <p:ph type="title"/>
          </p:nvPr>
        </p:nvSpPr>
        <p:spPr/>
        <p:txBody>
          <a:bodyPr/>
          <a:lstStyle/>
          <a:p>
            <a:pPr algn="ctr"/>
            <a:r>
              <a:rPr lang="en-US" b="1" dirty="0">
                <a:solidFill>
                  <a:srgbClr val="002060"/>
                </a:solidFill>
              </a:rPr>
              <a:t>Conclusion, Impact, and Reflection</a:t>
            </a:r>
          </a:p>
        </p:txBody>
      </p:sp>
      <p:graphicFrame>
        <p:nvGraphicFramePr>
          <p:cNvPr id="7" name="Content Placeholder 6">
            <a:extLst>
              <a:ext uri="{FF2B5EF4-FFF2-40B4-BE49-F238E27FC236}">
                <a16:creationId xmlns:a16="http://schemas.microsoft.com/office/drawing/2014/main" id="{AFA90F00-3D7C-E09B-006B-1DE0A7D4692D}"/>
              </a:ext>
            </a:extLst>
          </p:cNvPr>
          <p:cNvGraphicFramePr>
            <a:graphicFrameLocks noGrp="1"/>
          </p:cNvGraphicFramePr>
          <p:nvPr>
            <p:ph idx="1"/>
            <p:extLst>
              <p:ext uri="{D42A27DB-BD31-4B8C-83A1-F6EECF244321}">
                <p14:modId xmlns:p14="http://schemas.microsoft.com/office/powerpoint/2010/main" val="190260151"/>
              </p:ext>
            </p:extLst>
          </p:nvPr>
        </p:nvGraphicFramePr>
        <p:xfrm>
          <a:off x="972274" y="1495901"/>
          <a:ext cx="7123177" cy="2635063"/>
        </p:xfrm>
        <a:graphic>
          <a:graphicData uri="http://schemas.openxmlformats.org/drawingml/2006/table">
            <a:tbl>
              <a:tblPr firstRow="1" firstCol="1" bandRow="1">
                <a:tableStyleId>{5C22544A-7EE6-4342-B048-85BDC9FD1C3A}</a:tableStyleId>
              </a:tblPr>
              <a:tblGrid>
                <a:gridCol w="1372700">
                  <a:extLst>
                    <a:ext uri="{9D8B030D-6E8A-4147-A177-3AD203B41FA5}">
                      <a16:colId xmlns:a16="http://schemas.microsoft.com/office/drawing/2014/main" val="689565968"/>
                    </a:ext>
                  </a:extLst>
                </a:gridCol>
                <a:gridCol w="1372700">
                  <a:extLst>
                    <a:ext uri="{9D8B030D-6E8A-4147-A177-3AD203B41FA5}">
                      <a16:colId xmlns:a16="http://schemas.microsoft.com/office/drawing/2014/main" val="754466931"/>
                    </a:ext>
                  </a:extLst>
                </a:gridCol>
                <a:gridCol w="1388930">
                  <a:extLst>
                    <a:ext uri="{9D8B030D-6E8A-4147-A177-3AD203B41FA5}">
                      <a16:colId xmlns:a16="http://schemas.microsoft.com/office/drawing/2014/main" val="575133159"/>
                    </a:ext>
                  </a:extLst>
                </a:gridCol>
                <a:gridCol w="1505955">
                  <a:extLst>
                    <a:ext uri="{9D8B030D-6E8A-4147-A177-3AD203B41FA5}">
                      <a16:colId xmlns:a16="http://schemas.microsoft.com/office/drawing/2014/main" val="2841824251"/>
                    </a:ext>
                  </a:extLst>
                </a:gridCol>
                <a:gridCol w="1482892">
                  <a:extLst>
                    <a:ext uri="{9D8B030D-6E8A-4147-A177-3AD203B41FA5}">
                      <a16:colId xmlns:a16="http://schemas.microsoft.com/office/drawing/2014/main" val="747222530"/>
                    </a:ext>
                  </a:extLst>
                </a:gridCol>
              </a:tblGrid>
              <a:tr h="475843">
                <a:tc>
                  <a:txBody>
                    <a:bodyPr/>
                    <a:lstStyle/>
                    <a:p>
                      <a:pPr marL="0" marR="0">
                        <a:lnSpc>
                          <a:spcPct val="107000"/>
                        </a:lnSpc>
                        <a:spcAft>
                          <a:spcPts val="800"/>
                        </a:spcAft>
                        <a:buNone/>
                      </a:pPr>
                      <a:r>
                        <a:rPr lang="en-US" sz="1200" dirty="0">
                          <a:effectLst/>
                        </a:rPr>
                        <a:t>Method</a:t>
                      </a:r>
                      <a:endParaRPr lang="en-US" sz="12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07000"/>
                        </a:lnSpc>
                        <a:spcAft>
                          <a:spcPts val="800"/>
                        </a:spcAft>
                        <a:buNone/>
                      </a:pPr>
                      <a:r>
                        <a:rPr lang="en-US" sz="1200">
                          <a:effectLst/>
                        </a:rPr>
                        <a:t>Privacy Level</a:t>
                      </a:r>
                      <a:endParaRPr lang="en-US" sz="12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07000"/>
                        </a:lnSpc>
                        <a:spcAft>
                          <a:spcPts val="800"/>
                        </a:spcAft>
                        <a:buNone/>
                      </a:pPr>
                      <a:r>
                        <a:rPr lang="en-US" sz="1200">
                          <a:effectLst/>
                        </a:rPr>
                        <a:t>Utility Retention</a:t>
                      </a:r>
                      <a:endParaRPr lang="en-US" sz="12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07000"/>
                        </a:lnSpc>
                        <a:spcAft>
                          <a:spcPts val="800"/>
                        </a:spcAft>
                        <a:buNone/>
                      </a:pPr>
                      <a:r>
                        <a:rPr lang="en-US" sz="1200">
                          <a:effectLst/>
                        </a:rPr>
                        <a:t>Computational Cost</a:t>
                      </a:r>
                      <a:endParaRPr lang="en-US" sz="12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07000"/>
                        </a:lnSpc>
                        <a:spcAft>
                          <a:spcPts val="800"/>
                        </a:spcAft>
                        <a:buNone/>
                      </a:pPr>
                      <a:r>
                        <a:rPr lang="en-US" sz="1200">
                          <a:effectLst/>
                        </a:rPr>
                        <a:t>Recommended Use</a:t>
                      </a:r>
                      <a:endParaRPr lang="en-US" sz="12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586444419"/>
                  </a:ext>
                </a:extLst>
              </a:tr>
              <a:tr h="719740">
                <a:tc>
                  <a:txBody>
                    <a:bodyPr/>
                    <a:lstStyle/>
                    <a:p>
                      <a:pPr marL="0" marR="0">
                        <a:lnSpc>
                          <a:spcPct val="107000"/>
                        </a:lnSpc>
                        <a:spcAft>
                          <a:spcPts val="800"/>
                        </a:spcAft>
                        <a:buNone/>
                      </a:pPr>
                      <a:r>
                        <a:rPr lang="en-US" sz="1200">
                          <a:effectLst/>
                        </a:rPr>
                        <a:t>XXXX Masking</a:t>
                      </a:r>
                      <a:endParaRPr lang="en-US" sz="12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07000"/>
                        </a:lnSpc>
                        <a:spcAft>
                          <a:spcPts val="800"/>
                        </a:spcAft>
                        <a:buNone/>
                      </a:pPr>
                      <a:r>
                        <a:rPr lang="en-US" sz="1200">
                          <a:effectLst/>
                        </a:rPr>
                        <a:t>★★★★★</a:t>
                      </a:r>
                      <a:endParaRPr lang="en-US" sz="12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07000"/>
                        </a:lnSpc>
                        <a:spcAft>
                          <a:spcPts val="800"/>
                        </a:spcAft>
                        <a:buNone/>
                      </a:pPr>
                      <a:r>
                        <a:rPr lang="en-US" sz="1200">
                          <a:effectLst/>
                        </a:rPr>
                        <a:t>★★☆☆☆</a:t>
                      </a:r>
                      <a:endParaRPr lang="en-US" sz="12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07000"/>
                        </a:lnSpc>
                        <a:spcAft>
                          <a:spcPts val="800"/>
                        </a:spcAft>
                        <a:buNone/>
                      </a:pPr>
                      <a:r>
                        <a:rPr lang="en-US" sz="1200">
                          <a:effectLst/>
                        </a:rPr>
                        <a:t>★★★★☆</a:t>
                      </a:r>
                      <a:endParaRPr lang="en-US" sz="12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07000"/>
                        </a:lnSpc>
                        <a:spcAft>
                          <a:spcPts val="800"/>
                        </a:spcAft>
                        <a:buNone/>
                      </a:pPr>
                      <a:r>
                        <a:rPr lang="en-US" sz="1200">
                          <a:effectLst/>
                        </a:rPr>
                        <a:t>High-security / strict compliance</a:t>
                      </a:r>
                      <a:endParaRPr lang="en-US" sz="12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147472089"/>
                  </a:ext>
                </a:extLst>
              </a:tr>
              <a:tr h="719740">
                <a:tc>
                  <a:txBody>
                    <a:bodyPr/>
                    <a:lstStyle/>
                    <a:p>
                      <a:pPr marL="0" marR="0">
                        <a:lnSpc>
                          <a:spcPct val="107000"/>
                        </a:lnSpc>
                        <a:spcAft>
                          <a:spcPts val="800"/>
                        </a:spcAft>
                        <a:buNone/>
                      </a:pPr>
                      <a:r>
                        <a:rPr lang="en-US" sz="1200">
                          <a:effectLst/>
                        </a:rPr>
                        <a:t>Fake Names Replacement</a:t>
                      </a:r>
                      <a:endParaRPr lang="en-US" sz="12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07000"/>
                        </a:lnSpc>
                        <a:spcAft>
                          <a:spcPts val="800"/>
                        </a:spcAft>
                        <a:buNone/>
                      </a:pPr>
                      <a:r>
                        <a:rPr lang="en-US" sz="1200">
                          <a:effectLst/>
                        </a:rPr>
                        <a:t>★★★☆☆</a:t>
                      </a:r>
                      <a:endParaRPr lang="en-US" sz="12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07000"/>
                        </a:lnSpc>
                        <a:spcAft>
                          <a:spcPts val="800"/>
                        </a:spcAft>
                        <a:buNone/>
                      </a:pPr>
                      <a:r>
                        <a:rPr lang="en-US" sz="1200" dirty="0">
                          <a:effectLst/>
                        </a:rPr>
                        <a:t>★★★★☆</a:t>
                      </a:r>
                      <a:endParaRPr lang="en-US" sz="12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07000"/>
                        </a:lnSpc>
                        <a:spcAft>
                          <a:spcPts val="800"/>
                        </a:spcAft>
                        <a:buNone/>
                      </a:pPr>
                      <a:r>
                        <a:rPr lang="en-US" sz="1200" dirty="0">
                          <a:effectLst/>
                        </a:rPr>
                        <a:t>★★☆☆☆</a:t>
                      </a:r>
                      <a:endParaRPr lang="en-US" sz="12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07000"/>
                        </a:lnSpc>
                        <a:spcAft>
                          <a:spcPts val="800"/>
                        </a:spcAft>
                        <a:buNone/>
                      </a:pPr>
                      <a:r>
                        <a:rPr lang="en-US" sz="1200">
                          <a:effectLst/>
                        </a:rPr>
                        <a:t>General inquiries / low risk</a:t>
                      </a:r>
                      <a:endParaRPr lang="en-US" sz="12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109641661"/>
                  </a:ext>
                </a:extLst>
              </a:tr>
              <a:tr h="719740">
                <a:tc>
                  <a:txBody>
                    <a:bodyPr/>
                    <a:lstStyle/>
                    <a:p>
                      <a:pPr marL="0" marR="0">
                        <a:lnSpc>
                          <a:spcPct val="107000"/>
                        </a:lnSpc>
                        <a:spcAft>
                          <a:spcPts val="800"/>
                        </a:spcAft>
                        <a:buNone/>
                      </a:pPr>
                      <a:r>
                        <a:rPr lang="en-US" sz="1200">
                          <a:effectLst/>
                        </a:rPr>
                        <a:t>LLM-based PII Removal</a:t>
                      </a:r>
                      <a:endParaRPr lang="en-US" sz="12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07000"/>
                        </a:lnSpc>
                        <a:spcAft>
                          <a:spcPts val="800"/>
                        </a:spcAft>
                        <a:buNone/>
                      </a:pPr>
                      <a:r>
                        <a:rPr lang="en-US" sz="1200">
                          <a:effectLst/>
                        </a:rPr>
                        <a:t>★★★★☆</a:t>
                      </a:r>
                      <a:endParaRPr lang="en-US" sz="12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07000"/>
                        </a:lnSpc>
                        <a:spcAft>
                          <a:spcPts val="800"/>
                        </a:spcAft>
                        <a:buNone/>
                      </a:pPr>
                      <a:r>
                        <a:rPr lang="en-US" sz="1200">
                          <a:effectLst/>
                        </a:rPr>
                        <a:t>★★★★☆</a:t>
                      </a:r>
                      <a:endParaRPr lang="en-US" sz="12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07000"/>
                        </a:lnSpc>
                        <a:spcAft>
                          <a:spcPts val="800"/>
                        </a:spcAft>
                        <a:buNone/>
                      </a:pPr>
                      <a:r>
                        <a:rPr lang="en-US" sz="1200">
                          <a:effectLst/>
                        </a:rPr>
                        <a:t>★☆☆☆☆</a:t>
                      </a:r>
                      <a:endParaRPr lang="en-US" sz="12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07000"/>
                        </a:lnSpc>
                        <a:spcAft>
                          <a:spcPts val="800"/>
                        </a:spcAft>
                        <a:buNone/>
                      </a:pPr>
                      <a:r>
                        <a:rPr lang="en-US" sz="1200" dirty="0">
                          <a:effectLst/>
                        </a:rPr>
                        <a:t>Balanced / sensitive domains</a:t>
                      </a:r>
                      <a:endParaRPr lang="en-US" sz="12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598146064"/>
                  </a:ext>
                </a:extLst>
              </a:tr>
            </a:tbl>
          </a:graphicData>
        </a:graphic>
      </p:graphicFrame>
      <p:sp>
        <p:nvSpPr>
          <p:cNvPr id="10" name="TextBox 9">
            <a:extLst>
              <a:ext uri="{FF2B5EF4-FFF2-40B4-BE49-F238E27FC236}">
                <a16:creationId xmlns:a16="http://schemas.microsoft.com/office/drawing/2014/main" id="{64AEB109-125B-A1C7-F45B-123E8E3C5E4F}"/>
              </a:ext>
            </a:extLst>
          </p:cNvPr>
          <p:cNvSpPr txBox="1"/>
          <p:nvPr/>
        </p:nvSpPr>
        <p:spPr>
          <a:xfrm>
            <a:off x="502534" y="4438769"/>
            <a:ext cx="10862717" cy="923330"/>
          </a:xfrm>
          <a:prstGeom prst="rect">
            <a:avLst/>
          </a:prstGeom>
          <a:noFill/>
        </p:spPr>
        <p:txBody>
          <a:bodyPr wrap="square">
            <a:spAutoFit/>
          </a:bodyPr>
          <a:lstStyle/>
          <a:p>
            <a:r>
              <a:rPr lang="en-US" b="1" i="0" dirty="0">
                <a:solidFill>
                  <a:srgbClr val="002060"/>
                </a:solidFill>
                <a:effectLst/>
                <a:latin typeface="Google Sans Text"/>
              </a:rPr>
              <a:t>Conclusion: </a:t>
            </a:r>
            <a:r>
              <a:rPr lang="en-US" i="0" dirty="0">
                <a:solidFill>
                  <a:srgbClr val="303030"/>
                </a:solidFill>
                <a:effectLst/>
                <a:latin typeface="Google Sans Text"/>
              </a:rPr>
              <a:t>CSM, A</a:t>
            </a:r>
            <a:r>
              <a:rPr lang="en-US" b="1" i="0" dirty="0">
                <a:solidFill>
                  <a:srgbClr val="303030"/>
                </a:solidFill>
                <a:effectLst/>
                <a:latin typeface="Google Sans Text"/>
              </a:rPr>
              <a:t> </a:t>
            </a:r>
            <a:r>
              <a:rPr lang="en-US" dirty="0"/>
              <a:t>Privacy-preserving Framework provides techniques to preserve PII data at client end and various methods to balance performance and privacy for different use cases.</a:t>
            </a:r>
          </a:p>
          <a:p>
            <a:pPr algn="just"/>
            <a:endParaRPr lang="en-US" dirty="0"/>
          </a:p>
        </p:txBody>
      </p:sp>
      <p:pic>
        <p:nvPicPr>
          <p:cNvPr id="11" name="Picture 10">
            <a:extLst>
              <a:ext uri="{FF2B5EF4-FFF2-40B4-BE49-F238E27FC236}">
                <a16:creationId xmlns:a16="http://schemas.microsoft.com/office/drawing/2014/main" id="{F540E167-5C4C-A560-5FAF-81EF11A655E4}"/>
              </a:ext>
            </a:extLst>
          </p:cNvPr>
          <p:cNvPicPr>
            <a:picLocks noChangeAspect="1"/>
          </p:cNvPicPr>
          <p:nvPr/>
        </p:nvPicPr>
        <p:blipFill>
          <a:blip r:embed="rId3"/>
          <a:stretch>
            <a:fillRect/>
          </a:stretch>
        </p:blipFill>
        <p:spPr>
          <a:xfrm>
            <a:off x="8244066" y="1690688"/>
            <a:ext cx="2975660" cy="2245489"/>
          </a:xfrm>
          <a:prstGeom prst="rect">
            <a:avLst/>
          </a:prstGeom>
        </p:spPr>
      </p:pic>
      <p:sp>
        <p:nvSpPr>
          <p:cNvPr id="14" name="Rectangle 4">
            <a:extLst>
              <a:ext uri="{FF2B5EF4-FFF2-40B4-BE49-F238E27FC236}">
                <a16:creationId xmlns:a16="http://schemas.microsoft.com/office/drawing/2014/main" id="{D5567733-9428-06CB-659A-1D21BBE3E1DF}"/>
              </a:ext>
            </a:extLst>
          </p:cNvPr>
          <p:cNvSpPr>
            <a:spLocks noChangeArrowheads="1"/>
          </p:cNvSpPr>
          <p:nvPr/>
        </p:nvSpPr>
        <p:spPr bwMode="auto">
          <a:xfrm>
            <a:off x="502534" y="5167312"/>
            <a:ext cx="10862717"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dirty="0">
                <a:solidFill>
                  <a:srgbClr val="303030"/>
                </a:solidFill>
                <a:latin typeface="Google Sans Text"/>
              </a:rPr>
              <a:t>Based</a:t>
            </a:r>
            <a:r>
              <a:rPr kumimoji="0" lang="en-US" altLang="en-US" sz="1000" b="0" i="0" u="none" strike="noStrike" cap="none" normalizeH="0" baseline="0" dirty="0">
                <a:ln>
                  <a:noFill/>
                </a:ln>
                <a:solidFill>
                  <a:srgbClr val="303030"/>
                </a:solidFill>
                <a:effectLst/>
                <a:latin typeface="Google Sans Text"/>
              </a:rPr>
              <a:t> </a:t>
            </a:r>
            <a:r>
              <a:rPr lang="en-US" altLang="en-US" dirty="0">
                <a:solidFill>
                  <a:srgbClr val="303030"/>
                </a:solidFill>
                <a:latin typeface="Google Sans Text"/>
              </a:rPr>
              <a:t>on balancing these trade-offs, the CSM framework  recommends LLM-based PII Removal as it provides high </a:t>
            </a:r>
          </a:p>
          <a:p>
            <a:pPr marL="0" marR="0" lvl="0" indent="0" algn="just" defTabSz="914400" rtl="0" eaLnBrk="0" fontAlgn="base" latinLnBrk="0" hangingPunct="0">
              <a:lnSpc>
                <a:spcPct val="100000"/>
              </a:lnSpc>
              <a:spcBef>
                <a:spcPct val="0"/>
              </a:spcBef>
              <a:spcAft>
                <a:spcPct val="0"/>
              </a:spcAft>
              <a:buClrTx/>
              <a:buSzTx/>
              <a:buFontTx/>
              <a:buNone/>
              <a:tabLst/>
            </a:pPr>
            <a:r>
              <a:rPr lang="en-US" altLang="en-US" dirty="0">
                <a:solidFill>
                  <a:srgbClr val="303030"/>
                </a:solidFill>
                <a:latin typeface="Google Sans Text"/>
              </a:rPr>
              <a:t>utility retention and strong privacy protection, making it the superior choice for sensitive domains where accuracy</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dirty="0">
                <a:solidFill>
                  <a:srgbClr val="303030"/>
                </a:solidFill>
                <a:latin typeface="Google Sans Text"/>
              </a:rPr>
              <a:t>and compliance are paramount .</a:t>
            </a:r>
          </a:p>
        </p:txBody>
      </p:sp>
    </p:spTree>
    <p:extLst>
      <p:ext uri="{BB962C8B-B14F-4D97-AF65-F5344CB8AC3E}">
        <p14:creationId xmlns:p14="http://schemas.microsoft.com/office/powerpoint/2010/main" val="5717384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F5D97E-1751-8943-4AC3-80A83622BE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6A59C0-BBC2-4650-248E-7241312AFA5F}"/>
              </a:ext>
            </a:extLst>
          </p:cNvPr>
          <p:cNvSpPr>
            <a:spLocks noGrp="1"/>
          </p:cNvSpPr>
          <p:nvPr>
            <p:ph type="title"/>
          </p:nvPr>
        </p:nvSpPr>
        <p:spPr/>
        <p:txBody>
          <a:bodyPr/>
          <a:lstStyle/>
          <a:p>
            <a:pPr algn="ctr"/>
            <a:r>
              <a:rPr lang="en-US" b="1" dirty="0">
                <a:solidFill>
                  <a:srgbClr val="002060"/>
                </a:solidFill>
              </a:rPr>
              <a:t>Contribution and Research Impact</a:t>
            </a:r>
          </a:p>
        </p:txBody>
      </p:sp>
      <p:sp>
        <p:nvSpPr>
          <p:cNvPr id="6" name="Content Placeholder 5">
            <a:extLst>
              <a:ext uri="{FF2B5EF4-FFF2-40B4-BE49-F238E27FC236}">
                <a16:creationId xmlns:a16="http://schemas.microsoft.com/office/drawing/2014/main" id="{5AE58CFF-6E73-17D3-4948-03ABBA449B7D}"/>
              </a:ext>
            </a:extLst>
          </p:cNvPr>
          <p:cNvSpPr>
            <a:spLocks noGrp="1"/>
          </p:cNvSpPr>
          <p:nvPr>
            <p:ph idx="1"/>
          </p:nvPr>
        </p:nvSpPr>
        <p:spPr/>
        <p:txBody>
          <a:bodyPr/>
          <a:lstStyle/>
          <a:p>
            <a:pPr marL="0" indent="0" eaLnBrk="0" fontAlgn="base" hangingPunct="0">
              <a:lnSpc>
                <a:spcPct val="100000"/>
              </a:lnSpc>
              <a:spcBef>
                <a:spcPct val="0"/>
              </a:spcBef>
              <a:spcAft>
                <a:spcPct val="0"/>
              </a:spcAft>
              <a:buNone/>
            </a:pPr>
            <a:r>
              <a:rPr lang="en-US" b="1" dirty="0">
                <a:solidFill>
                  <a:srgbClr val="002060"/>
                </a:solidFill>
              </a:rPr>
              <a:t>Contribution</a:t>
            </a:r>
            <a:r>
              <a:rPr lang="en-US" dirty="0">
                <a:solidFill>
                  <a:srgbClr val="002060"/>
                </a:solidFill>
              </a:rPr>
              <a:t>: </a:t>
            </a:r>
            <a:r>
              <a:rPr lang="en-US" altLang="en-US" sz="1800" dirty="0">
                <a:solidFill>
                  <a:srgbClr val="303030"/>
                </a:solidFill>
                <a:latin typeface="Google Sans Text"/>
              </a:rPr>
              <a:t>Developed a structured evaluation framework for privacy transformations.</a:t>
            </a:r>
          </a:p>
          <a:p>
            <a:pPr marL="0" indent="0" eaLnBrk="0" fontAlgn="base" hangingPunct="0">
              <a:lnSpc>
                <a:spcPct val="100000"/>
              </a:lnSpc>
              <a:spcBef>
                <a:spcPct val="0"/>
              </a:spcBef>
              <a:spcAft>
                <a:spcPct val="0"/>
              </a:spcAft>
              <a:buNone/>
            </a:pPr>
            <a:r>
              <a:rPr lang="en-US" altLang="en-US" sz="1800" dirty="0">
                <a:solidFill>
                  <a:srgbClr val="303030"/>
                </a:solidFill>
                <a:latin typeface="Google Sans Text"/>
              </a:rPr>
              <a:t>Empirically assessed masking, faking, and LLM-based redaction, Validated client-side NER feasibility for real-time chat .</a:t>
            </a:r>
          </a:p>
          <a:p>
            <a:pPr marL="0" indent="0" eaLnBrk="0" fontAlgn="base" hangingPunct="0">
              <a:lnSpc>
                <a:spcPct val="100000"/>
              </a:lnSpc>
              <a:spcBef>
                <a:spcPct val="0"/>
              </a:spcBef>
              <a:spcAft>
                <a:spcPct val="0"/>
              </a:spcAft>
              <a:buNone/>
            </a:pPr>
            <a:endParaRPr lang="en-US" altLang="en-US" sz="1800" dirty="0">
              <a:solidFill>
                <a:srgbClr val="303030"/>
              </a:solidFill>
              <a:latin typeface="Google Sans Text"/>
            </a:endParaRPr>
          </a:p>
          <a:p>
            <a:pPr marL="0" indent="0" eaLnBrk="0" fontAlgn="base" hangingPunct="0">
              <a:lnSpc>
                <a:spcPct val="100000"/>
              </a:lnSpc>
              <a:spcBef>
                <a:spcPct val="0"/>
              </a:spcBef>
              <a:spcAft>
                <a:spcPct val="0"/>
              </a:spcAft>
              <a:buNone/>
            </a:pPr>
            <a:r>
              <a:rPr lang="en-US" b="1" dirty="0">
                <a:solidFill>
                  <a:srgbClr val="002060"/>
                </a:solidFill>
              </a:rPr>
              <a:t>Impact: </a:t>
            </a:r>
            <a:r>
              <a:rPr lang="en-US" sz="1800" dirty="0">
                <a:solidFill>
                  <a:srgbClr val="303030"/>
                </a:solidFill>
                <a:latin typeface="Google Sans Text"/>
              </a:rPr>
              <a:t>Enhances security and trust of LLM chatbots in financial/healthcare/education. Provides a practical, efficient, and secure framework.</a:t>
            </a:r>
            <a:endParaRPr lang="en-US" altLang="en-US" sz="1800" dirty="0">
              <a:solidFill>
                <a:srgbClr val="303030"/>
              </a:solidFill>
              <a:latin typeface="Google Sans Text"/>
            </a:endParaRPr>
          </a:p>
          <a:p>
            <a:endParaRPr lang="en-US" dirty="0"/>
          </a:p>
        </p:txBody>
      </p:sp>
    </p:spTree>
    <p:extLst>
      <p:ext uri="{BB962C8B-B14F-4D97-AF65-F5344CB8AC3E}">
        <p14:creationId xmlns:p14="http://schemas.microsoft.com/office/powerpoint/2010/main" val="14315667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1DD48C-D7D9-FD2C-EC8B-D390B86285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07DA77-CAD3-B3C1-6503-C8F6070F1152}"/>
              </a:ext>
            </a:extLst>
          </p:cNvPr>
          <p:cNvSpPr>
            <a:spLocks noGrp="1"/>
          </p:cNvSpPr>
          <p:nvPr>
            <p:ph type="title"/>
          </p:nvPr>
        </p:nvSpPr>
        <p:spPr/>
        <p:txBody>
          <a:bodyPr/>
          <a:lstStyle/>
          <a:p>
            <a:pPr algn="ctr"/>
            <a:r>
              <a:rPr lang="en-US" b="1" dirty="0">
                <a:solidFill>
                  <a:srgbClr val="002060"/>
                </a:solidFill>
              </a:rPr>
              <a:t>Reflection and Future Directions</a:t>
            </a:r>
          </a:p>
        </p:txBody>
      </p:sp>
      <p:sp>
        <p:nvSpPr>
          <p:cNvPr id="6" name="Content Placeholder 5">
            <a:extLst>
              <a:ext uri="{FF2B5EF4-FFF2-40B4-BE49-F238E27FC236}">
                <a16:creationId xmlns:a16="http://schemas.microsoft.com/office/drawing/2014/main" id="{79E7B725-D557-41F5-DE77-8C90B176583D}"/>
              </a:ext>
            </a:extLst>
          </p:cNvPr>
          <p:cNvSpPr>
            <a:spLocks noGrp="1"/>
          </p:cNvSpPr>
          <p:nvPr>
            <p:ph idx="1"/>
          </p:nvPr>
        </p:nvSpPr>
        <p:spPr/>
        <p:txBody>
          <a:bodyPr/>
          <a:lstStyle/>
          <a:p>
            <a:pPr marL="0" lvl="0" indent="0" eaLnBrk="0" fontAlgn="base" hangingPunct="0">
              <a:lnSpc>
                <a:spcPct val="100000"/>
              </a:lnSpc>
              <a:spcBef>
                <a:spcPct val="0"/>
              </a:spcBef>
              <a:spcAft>
                <a:spcPct val="0"/>
              </a:spcAft>
              <a:buNone/>
            </a:pPr>
            <a:r>
              <a:rPr lang="en-US" b="1" dirty="0">
                <a:solidFill>
                  <a:srgbClr val="002060"/>
                </a:solidFill>
              </a:rPr>
              <a:t>Reflection</a:t>
            </a:r>
            <a:r>
              <a:rPr lang="en-US" dirty="0">
                <a:solidFill>
                  <a:srgbClr val="002060"/>
                </a:solidFill>
              </a:rPr>
              <a:t>: </a:t>
            </a:r>
            <a:r>
              <a:rPr lang="en-US" altLang="en-US" sz="1800" dirty="0">
                <a:solidFill>
                  <a:srgbClr val="303030"/>
                </a:solidFill>
                <a:latin typeface="Google Sans Text"/>
              </a:rPr>
              <a:t>Student Development: Consistent and comprehensive reflection on balancing the privacy-utility trade-off.</a:t>
            </a:r>
          </a:p>
          <a:p>
            <a:pPr marL="0" lvl="0" indent="0" eaLnBrk="0" fontAlgn="base" hangingPunct="0">
              <a:lnSpc>
                <a:spcPct val="100000"/>
              </a:lnSpc>
              <a:spcBef>
                <a:spcPct val="0"/>
              </a:spcBef>
              <a:spcAft>
                <a:spcPct val="0"/>
              </a:spcAft>
              <a:buNone/>
            </a:pPr>
            <a:r>
              <a:rPr lang="en-US" altLang="en-US" sz="1800" dirty="0">
                <a:solidFill>
                  <a:srgbClr val="303030"/>
                </a:solidFill>
                <a:latin typeface="Google Sans Text"/>
              </a:rPr>
              <a:t>Gained expertise in complex hybrid architectures (NER + Local LLM + Remote LLM).</a:t>
            </a:r>
          </a:p>
          <a:p>
            <a:pPr marL="0" lvl="0" indent="0" eaLnBrk="0" fontAlgn="base" hangingPunct="0">
              <a:lnSpc>
                <a:spcPct val="100000"/>
              </a:lnSpc>
              <a:spcBef>
                <a:spcPct val="0"/>
              </a:spcBef>
              <a:spcAft>
                <a:spcPct val="0"/>
              </a:spcAft>
              <a:buNone/>
            </a:pPr>
            <a:r>
              <a:rPr lang="en-US" altLang="en-US" sz="1800" dirty="0">
                <a:solidFill>
                  <a:srgbClr val="303030"/>
                </a:solidFill>
                <a:latin typeface="Google Sans Text"/>
              </a:rPr>
              <a:t>Ensured methodological rigor in multi-metric evaluation .</a:t>
            </a:r>
          </a:p>
          <a:p>
            <a:pPr marL="0" lvl="0" indent="0" eaLnBrk="0" fontAlgn="base" hangingPunct="0">
              <a:lnSpc>
                <a:spcPct val="100000"/>
              </a:lnSpc>
              <a:spcBef>
                <a:spcPct val="0"/>
              </a:spcBef>
              <a:spcAft>
                <a:spcPct val="0"/>
              </a:spcAft>
              <a:buNone/>
            </a:pPr>
            <a:endParaRPr lang="en-US" altLang="en-US" sz="1800" dirty="0">
              <a:solidFill>
                <a:srgbClr val="303030"/>
              </a:solidFill>
              <a:latin typeface="Google Sans Text"/>
            </a:endParaRPr>
          </a:p>
          <a:p>
            <a:pPr marL="0" indent="0" eaLnBrk="0" fontAlgn="base" hangingPunct="0">
              <a:lnSpc>
                <a:spcPct val="100000"/>
              </a:lnSpc>
              <a:spcBef>
                <a:spcPct val="0"/>
              </a:spcBef>
              <a:spcAft>
                <a:spcPct val="0"/>
              </a:spcAft>
              <a:buNone/>
            </a:pPr>
            <a:r>
              <a:rPr lang="en-US" b="1" dirty="0">
                <a:solidFill>
                  <a:srgbClr val="002060"/>
                </a:solidFill>
              </a:rPr>
              <a:t>Future Work: </a:t>
            </a:r>
            <a:r>
              <a:rPr lang="en-US" sz="1800" dirty="0">
                <a:solidFill>
                  <a:srgbClr val="303030"/>
                </a:solidFill>
                <a:latin typeface="Google Sans Text"/>
              </a:rPr>
              <a:t>Integrating Differential Privacy or Federated Learning for stronger guarantees. Expanding to Cross-Lingual and Multimodal inputs. Conducting Human Evaluation Studies for perceived trustworthiness.</a:t>
            </a:r>
          </a:p>
          <a:p>
            <a:pPr marL="0" indent="0" eaLnBrk="0" fontAlgn="base" hangingPunct="0">
              <a:lnSpc>
                <a:spcPct val="100000"/>
              </a:lnSpc>
              <a:spcBef>
                <a:spcPct val="0"/>
              </a:spcBef>
              <a:spcAft>
                <a:spcPct val="0"/>
              </a:spcAft>
              <a:buNone/>
            </a:pPr>
            <a:endParaRPr lang="en-US" altLang="en-US" sz="1800" dirty="0">
              <a:solidFill>
                <a:srgbClr val="303030"/>
              </a:solidFill>
              <a:latin typeface="Google Sans Text"/>
            </a:endParaRPr>
          </a:p>
          <a:p>
            <a:pPr marL="0" indent="0" eaLnBrk="0" fontAlgn="base" hangingPunct="0">
              <a:lnSpc>
                <a:spcPct val="100000"/>
              </a:lnSpc>
              <a:spcBef>
                <a:spcPct val="0"/>
              </a:spcBef>
              <a:spcAft>
                <a:spcPct val="0"/>
              </a:spcAft>
              <a:buNone/>
            </a:pPr>
            <a:r>
              <a:rPr lang="en-US" sz="1800" dirty="0">
                <a:solidFill>
                  <a:srgbClr val="303030"/>
                </a:solidFill>
                <a:latin typeface="Google Sans Text"/>
              </a:rPr>
              <a:t>This research reaffirms that privacy-preserving LLM inference is technically feasible and essential for responsible AI adoption.</a:t>
            </a:r>
          </a:p>
          <a:p>
            <a:pPr marL="0" indent="0" eaLnBrk="0" fontAlgn="base" hangingPunct="0">
              <a:lnSpc>
                <a:spcPct val="100000"/>
              </a:lnSpc>
              <a:spcBef>
                <a:spcPct val="0"/>
              </a:spcBef>
              <a:spcAft>
                <a:spcPct val="0"/>
              </a:spcAft>
              <a:buNone/>
            </a:pPr>
            <a:endParaRPr lang="en-US" altLang="en-US" sz="1800" dirty="0">
              <a:solidFill>
                <a:srgbClr val="303030"/>
              </a:solidFill>
              <a:latin typeface="Google Sans Text"/>
            </a:endParaRPr>
          </a:p>
          <a:p>
            <a:endParaRPr lang="en-US" dirty="0"/>
          </a:p>
        </p:txBody>
      </p:sp>
    </p:spTree>
    <p:extLst>
      <p:ext uri="{BB962C8B-B14F-4D97-AF65-F5344CB8AC3E}">
        <p14:creationId xmlns:p14="http://schemas.microsoft.com/office/powerpoint/2010/main" val="317020028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23122</TotalTime>
  <Words>2662</Words>
  <Application>Microsoft Office PowerPoint</Application>
  <PresentationFormat>Widescreen</PresentationFormat>
  <Paragraphs>239</Paragraphs>
  <Slides>15</Slides>
  <Notes>15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15</vt:i4>
      </vt:variant>
    </vt:vector>
  </HeadingPairs>
  <TitlesOfParts>
    <vt:vector size="23" baseType="lpstr">
      <vt:lpstr>Arial</vt:lpstr>
      <vt:lpstr>Calibri</vt:lpstr>
      <vt:lpstr>Calibri Light</vt:lpstr>
      <vt:lpstr>Google Sans Text</vt:lpstr>
      <vt:lpstr>KaTeX_Main</vt:lpstr>
      <vt:lpstr>KaTeX_Math</vt:lpstr>
      <vt:lpstr>Times New Roman</vt:lpstr>
      <vt:lpstr>Office Theme</vt:lpstr>
      <vt:lpstr>PowerPoint Presentation</vt:lpstr>
      <vt:lpstr>Motivation &amp; Stakes</vt:lpstr>
      <vt:lpstr>Problem Statement</vt:lpstr>
      <vt:lpstr>Existing Limitations and Research Gap</vt:lpstr>
      <vt:lpstr>Introducing CSM(Clean Split Model)</vt:lpstr>
      <vt:lpstr>  Research Objectives &amp; Alignment </vt:lpstr>
      <vt:lpstr>Methodology: Experimental Conditions</vt:lpstr>
      <vt:lpstr>Methodology: Justification of Tools and Metrics</vt:lpstr>
      <vt:lpstr>Quick Demo</vt:lpstr>
      <vt:lpstr>Results and Evaluation : Privacy Effectiveness</vt:lpstr>
      <vt:lpstr>Results and Evaluation : Utility and Quality Preservation</vt:lpstr>
      <vt:lpstr>Results and Evaluation : Efficiency Trade-offs</vt:lpstr>
      <vt:lpstr>Conclusion, Impact, and Reflection</vt:lpstr>
      <vt:lpstr>Contribution and Research Impact</vt:lpstr>
      <vt:lpstr>Reflection and Future Directions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Deepak Goyal</dc:creator>
  <cp:lastModifiedBy>Deepak Goyal</cp:lastModifiedBy>
  <cp:revision>35</cp:revision>
  <dcterms:created xsi:type="dcterms:W3CDTF">2025-11-10T17:35:38Z</dcterms:created>
  <dcterms:modified xsi:type="dcterms:W3CDTF">2025-12-10T05:54:30Z</dcterms:modified>
</cp:coreProperties>
</file>