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58"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98" d="100"/>
          <a:sy n="98" d="100"/>
        </p:scale>
        <p:origin x="1074"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3F9FB-0079-4B54-BFA0-FBB89B9DEC4C}"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3D314-82CC-4E23-B449-4F3564582232}" type="slidenum">
              <a:rPr lang="en-US" smtClean="0"/>
              <a:t>‹#›</a:t>
            </a:fld>
            <a:endParaRPr lang="en-US"/>
          </a:p>
        </p:txBody>
      </p:sp>
    </p:spTree>
    <p:extLst>
      <p:ext uri="{BB962C8B-B14F-4D97-AF65-F5344CB8AC3E}">
        <p14:creationId xmlns:p14="http://schemas.microsoft.com/office/powerpoint/2010/main" val="4212320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 My thesis addresses the critical challenge of protecting Personally Identifiable Information, or PII, in the rapidly expanding use of Large Language Models. The goal is to develop a robust, client-side privacy solution that balances security with the necessity for real-time performance.</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1</a:t>
            </a:fld>
            <a:endParaRPr lang="en-US"/>
          </a:p>
        </p:txBody>
      </p:sp>
    </p:spTree>
    <p:extLst>
      <p:ext uri="{BB962C8B-B14F-4D97-AF65-F5344CB8AC3E}">
        <p14:creationId xmlns:p14="http://schemas.microsoft.com/office/powerpoint/2010/main" val="2113770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adoption of LLMs in sensitive domains like finance and healthcare creates acute privacy risks. Unprotected user prompts can leak sensitive PII to server-side LLMs. In one of the study it is projected that 57.4% of the data can be potentially leaked by LLM’s. Look at this number, that’s the avg cost per incident for a data breach, wow significantly high. The financial and healthcare sectors are under acute threat, reinforcing the need for advanced defense mechanisms Regulatory frameworks make developing practical, efficient, local privacy solutions paramount. </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2</a:t>
            </a:fld>
            <a:endParaRPr lang="en-US"/>
          </a:p>
        </p:txBody>
      </p:sp>
    </p:spTree>
    <p:extLst>
      <p:ext uri="{BB962C8B-B14F-4D97-AF65-F5344CB8AC3E}">
        <p14:creationId xmlns:p14="http://schemas.microsoft.com/office/powerpoint/2010/main" val="4267905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Current solutions force a painful trade-off. Cryptographic techniques are too slow for real-time applications. Differential Privacy degrades output quality due to excessive noise. This research directly addresses this critical gap by focusing on a </a:t>
            </a:r>
            <a:r>
              <a:rPr lang="en-US" sz="1200" b="1" i="0" kern="1200" dirty="0">
                <a:solidFill>
                  <a:schemeClr val="tx1"/>
                </a:solidFill>
                <a:effectLst/>
                <a:latin typeface="+mn-lt"/>
                <a:ea typeface="+mn-ea"/>
                <a:cs typeface="+mn-cs"/>
              </a:rPr>
              <a:t>client-side, NER-driven solution</a:t>
            </a:r>
            <a:r>
              <a:rPr lang="en-US" sz="1200" b="0" i="0" kern="1200" dirty="0">
                <a:solidFill>
                  <a:schemeClr val="tx1"/>
                </a:solidFill>
                <a:effectLst/>
                <a:latin typeface="+mn-lt"/>
                <a:ea typeface="+mn-ea"/>
                <a:cs typeface="+mn-cs"/>
              </a:rPr>
              <a:t> that avoids these performance and utility pitfalls</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3</a:t>
            </a:fld>
            <a:endParaRPr lang="en-US"/>
          </a:p>
        </p:txBody>
      </p:sp>
    </p:spTree>
    <p:extLst>
      <p:ext uri="{BB962C8B-B14F-4D97-AF65-F5344CB8AC3E}">
        <p14:creationId xmlns:p14="http://schemas.microsoft.com/office/powerpoint/2010/main" val="3553955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Our proposed solution is the </a:t>
            </a:r>
            <a:r>
              <a:rPr lang="en-US" sz="1200" b="0" i="0" kern="1200" dirty="0" err="1">
                <a:solidFill>
                  <a:schemeClr val="tx1"/>
                </a:solidFill>
                <a:effectLst/>
                <a:latin typeface="+mn-lt"/>
                <a:ea typeface="+mn-ea"/>
                <a:cs typeface="+mn-cs"/>
              </a:rPr>
              <a:t>CleanSplit</a:t>
            </a:r>
            <a:r>
              <a:rPr lang="en-US" sz="1200" b="0" i="0" kern="1200" dirty="0">
                <a:solidFill>
                  <a:schemeClr val="tx1"/>
                </a:solidFill>
                <a:effectLst/>
                <a:latin typeface="+mn-lt"/>
                <a:ea typeface="+mn-ea"/>
                <a:cs typeface="+mn-cs"/>
              </a:rPr>
              <a:t> Model, or CSM. The core objective is protection without modifying existing server model parameters. CSM ensures that raw PII is </a:t>
            </a:r>
            <a:r>
              <a:rPr lang="en-US" sz="1200" b="0" i="1" kern="1200" dirty="0">
                <a:solidFill>
                  <a:schemeClr val="tx1"/>
                </a:solidFill>
                <a:effectLst/>
                <a:latin typeface="+mn-lt"/>
                <a:ea typeface="+mn-ea"/>
                <a:cs typeface="+mn-cs"/>
              </a:rPr>
              <a:t>never transmitted</a:t>
            </a:r>
            <a:r>
              <a:rPr lang="en-US" sz="1200" b="0" i="0" kern="1200" dirty="0">
                <a:solidFill>
                  <a:schemeClr val="tx1"/>
                </a:solidFill>
                <a:effectLst/>
                <a:latin typeface="+mn-lt"/>
                <a:ea typeface="+mn-ea"/>
                <a:cs typeface="+mn-cs"/>
              </a:rPr>
              <a:t> to the LLM servers. This is achieved by incorporating a Named Entity Recognition (NER)-driven approach for detection and synthetic replacement. This design choice is fundamental to achieving efficiency and compliance.</a:t>
            </a:r>
          </a:p>
          <a:p>
            <a:r>
              <a:rPr lang="en-US" sz="1200" b="0" i="0" kern="1200" dirty="0">
                <a:solidFill>
                  <a:schemeClr val="tx1"/>
                </a:solidFill>
                <a:effectLst/>
                <a:latin typeface="+mn-lt"/>
                <a:ea typeface="+mn-ea"/>
                <a:cs typeface="+mn-cs"/>
              </a:rPr>
              <a:t>The challenge addressed by the CSM framework is analogous to a </a:t>
            </a:r>
            <a:r>
              <a:rPr lang="en-US" sz="1200" b="1" i="0" kern="1200" dirty="0">
                <a:solidFill>
                  <a:schemeClr val="tx1"/>
                </a:solidFill>
                <a:effectLst/>
                <a:latin typeface="+mn-lt"/>
                <a:ea typeface="+mn-ea"/>
                <a:cs typeface="+mn-cs"/>
              </a:rPr>
              <a:t>postal worker sorting mail inside your house before it leaves, rather than trusting the entire postal system.</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4</a:t>
            </a:fld>
            <a:endParaRPr lang="en-US"/>
          </a:p>
        </p:txBody>
      </p:sp>
    </p:spTree>
    <p:extLst>
      <p:ext uri="{BB962C8B-B14F-4D97-AF65-F5344CB8AC3E}">
        <p14:creationId xmlns:p14="http://schemas.microsoft.com/office/powerpoint/2010/main" val="1031868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My research was structured around three fundamental questions. First, how efficiently can NER be deployed client-side? Second, how does PII replacement affect response quality? And third, how do we balance privacy with contextual continuity in complex conversations? These RQs align precisely with our objectives: reviewing existing methods, developing the client-side NER replacement system, and benchmarking the architecture against utility and performance</a:t>
            </a:r>
            <a:endParaRPr lang="en-US" dirty="0"/>
          </a:p>
        </p:txBody>
      </p:sp>
      <p:sp>
        <p:nvSpPr>
          <p:cNvPr id="4" name="Slide Number Placeholder 3"/>
          <p:cNvSpPr>
            <a:spLocks noGrp="1"/>
          </p:cNvSpPr>
          <p:nvPr>
            <p:ph type="sldNum" sz="quarter" idx="5"/>
          </p:nvPr>
        </p:nvSpPr>
        <p:spPr/>
        <p:txBody>
          <a:bodyPr/>
          <a:lstStyle/>
          <a:p>
            <a:fld id="{75F3D314-82CC-4E23-B449-4F3564582232}" type="slidenum">
              <a:rPr lang="en-US" smtClean="0"/>
              <a:t>5</a:t>
            </a:fld>
            <a:endParaRPr lang="en-US"/>
          </a:p>
        </p:txBody>
      </p:sp>
    </p:spTree>
    <p:extLst>
      <p:ext uri="{BB962C8B-B14F-4D97-AF65-F5344CB8AC3E}">
        <p14:creationId xmlns:p14="http://schemas.microsoft.com/office/powerpoint/2010/main" val="41486196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08DCC-F9DA-4A3B-0C43-426146812A7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DAD4BCD-590F-BC36-C2E0-7AB09A1EF4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BDA2C4-FD51-0317-D06A-0C7C1314EE26}"/>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4A820552-0A57-CD9E-C8F6-EC05E44CC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9E0A9-F516-36CA-A851-6C90AFA05434}"/>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782284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23CCB-C774-C2A6-D8B1-6710DF21CA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34EB88-930D-0F8F-A620-FE0315C5B5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B0D14-FB7B-5E4F-AED7-60C0EAE246E4}"/>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6226AFA7-716C-4C50-CA51-C7D5AB9FF1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05A461-B65B-7241-7938-FF8040DB60A6}"/>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134045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FFFFC-2A34-FFC4-FAD5-B6A12E3614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A656848-A54B-4DD9-BE9D-926685720D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D93693-3C65-512C-958A-46FD52A7FD34}"/>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8E20E5D7-5076-E008-139F-7CAA1942AC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319344-F8F3-3F16-2E59-371309B75F78}"/>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1643053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3D10-2510-861D-FB22-1B6F1CD717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5C36A7-879C-366E-F891-CD209A6B1D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9B7202-FF52-B027-BBDF-D02DEA22F3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BB6B92F-ACB4-2A65-EF89-A85B654ADA76}"/>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6" name="Footer Placeholder 5">
            <a:extLst>
              <a:ext uri="{FF2B5EF4-FFF2-40B4-BE49-F238E27FC236}">
                <a16:creationId xmlns:a16="http://schemas.microsoft.com/office/drawing/2014/main" id="{F9E73A4E-661E-A6AF-C770-9CA05652D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70C27-0A80-2182-23F7-9BD1A0953DEE}"/>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635438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D776A-E82A-F545-A021-D57B53D16FF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B04BCF1-D908-5D0F-A75D-C6703E00A3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F1CA0D-B54A-49E3-4974-9C5CC787E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E94420-00AC-AB6B-63DE-C0542BBD84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D3D043-EBC3-9645-66DB-1640930C72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EC908F-64C7-57C5-C74E-2D15049F43F9}"/>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8" name="Footer Placeholder 7">
            <a:extLst>
              <a:ext uri="{FF2B5EF4-FFF2-40B4-BE49-F238E27FC236}">
                <a16:creationId xmlns:a16="http://schemas.microsoft.com/office/drawing/2014/main" id="{E5F5883A-3E24-8587-49C4-CCBD70E23E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A1A2D-5B3A-72A3-4C52-FACF488C9DA8}"/>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78871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0A81F-5C27-44CC-F66C-B2BF5822D10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FF71F0-B69A-A860-280C-55657ABE61DB}"/>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4" name="Footer Placeholder 3">
            <a:extLst>
              <a:ext uri="{FF2B5EF4-FFF2-40B4-BE49-F238E27FC236}">
                <a16:creationId xmlns:a16="http://schemas.microsoft.com/office/drawing/2014/main" id="{F00C77F8-C2F8-9EDE-83FD-F9EDE50DD9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E096DF-DC4E-D3FA-140A-1739FA8F7299}"/>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574804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61FDD4-9341-30EE-D9C2-55B5B8D8CAF4}"/>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3" name="Footer Placeholder 2">
            <a:extLst>
              <a:ext uri="{FF2B5EF4-FFF2-40B4-BE49-F238E27FC236}">
                <a16:creationId xmlns:a16="http://schemas.microsoft.com/office/drawing/2014/main" id="{3F3C7B1C-F4FB-D52F-FD87-F43ED01678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54AF26-E3BF-C2FB-A49F-7DBB17C64155}"/>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557302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19D5-2648-6866-20D4-D2CB88B8CD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C2197-BEB5-946E-840E-1CECBFF135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FC3D34-96CA-668D-C12F-50BBF3EF2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C9630D-7991-41F2-9BE7-8AEDD9EBEB66}"/>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6" name="Footer Placeholder 5">
            <a:extLst>
              <a:ext uri="{FF2B5EF4-FFF2-40B4-BE49-F238E27FC236}">
                <a16:creationId xmlns:a16="http://schemas.microsoft.com/office/drawing/2014/main" id="{F174EE33-4480-126A-A661-CFE50FFB47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7FF6C7-66BE-5576-8E13-EBEEBB7B206B}"/>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692791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921E8-4501-02DD-1777-F04BDF778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D9AD64-B689-B366-6136-19D470009E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EE1D31-D4EF-E6EB-6740-9BBDA341A5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109F7-4C9F-9BFF-BB66-55A316B9166C}"/>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6" name="Footer Placeholder 5">
            <a:extLst>
              <a:ext uri="{FF2B5EF4-FFF2-40B4-BE49-F238E27FC236}">
                <a16:creationId xmlns:a16="http://schemas.microsoft.com/office/drawing/2014/main" id="{26890809-6EA9-1D4B-9D71-292E4A622C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3517C-864B-82EE-B1F1-7D6AB869BABF}"/>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50089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61B3B-0FBD-6A76-CD26-86C59127C5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6FD08E-FB22-6B89-1E08-7558EC486E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03A74-E594-0E45-5E09-1B6CDA59D4DB}"/>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AE9218D3-5BFC-663A-FD55-4DC083503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1961F9-2B1E-AEDA-5971-A7F44C62F3FC}"/>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641569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FD3D67-87C4-44BE-76AA-4B43B8FA97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A5C2D5-0860-067C-6CA8-97B2E4A501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45AED-93B5-BCBF-49B3-D358AC9C1ACD}"/>
              </a:ext>
            </a:extLst>
          </p:cNvPr>
          <p:cNvSpPr>
            <a:spLocks noGrp="1"/>
          </p:cNvSpPr>
          <p:nvPr>
            <p:ph type="dt" sz="half" idx="10"/>
          </p:nvPr>
        </p:nvSpPr>
        <p:spPr/>
        <p:txBody>
          <a:body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0065685C-F555-EE0D-BA82-E2D4956BBE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777B2-E03F-75A3-F04F-1206B0311633}"/>
              </a:ext>
            </a:extLst>
          </p:cNvPr>
          <p:cNvSpPr>
            <a:spLocks noGrp="1"/>
          </p:cNvSpPr>
          <p:nvPr>
            <p:ph type="sldNum" sz="quarter" idx="12"/>
          </p:nvPr>
        </p:nvSpPr>
        <p:spPr/>
        <p:txBody>
          <a:bodyPr/>
          <a:lstStyle/>
          <a:p>
            <a:fld id="{9DACB405-86D0-4FE2-9171-2809329631EE}" type="slidenum">
              <a:rPr lang="en-US" smtClean="0"/>
              <a:t>‹#›</a:t>
            </a:fld>
            <a:endParaRPr lang="en-US"/>
          </a:p>
        </p:txBody>
      </p:sp>
    </p:spTree>
    <p:extLst>
      <p:ext uri="{BB962C8B-B14F-4D97-AF65-F5344CB8AC3E}">
        <p14:creationId xmlns:p14="http://schemas.microsoft.com/office/powerpoint/2010/main" val="317556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0C2D7C-D455-3485-43CA-BC5A9EC046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4C638E-32B4-FC53-BFA4-9979F67BEB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BEFB4-DB5B-D260-F000-B4D3D13DCF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30CED0-54FE-4155-AAC6-96D8702D9126}" type="datetimeFigureOut">
              <a:rPr lang="en-US" smtClean="0"/>
              <a:t>11/10/2025</a:t>
            </a:fld>
            <a:endParaRPr lang="en-US"/>
          </a:p>
        </p:txBody>
      </p:sp>
      <p:sp>
        <p:nvSpPr>
          <p:cNvPr id="5" name="Footer Placeholder 4">
            <a:extLst>
              <a:ext uri="{FF2B5EF4-FFF2-40B4-BE49-F238E27FC236}">
                <a16:creationId xmlns:a16="http://schemas.microsoft.com/office/drawing/2014/main" id="{722E9EA4-27D2-67EF-C7D6-5E743707C8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70129CE-6BCF-5CD6-7E4F-751B72499C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CB405-86D0-4FE2-9171-2809329631EE}" type="slidenum">
              <a:rPr lang="en-US" smtClean="0"/>
              <a:t>‹#›</a:t>
            </a:fld>
            <a:endParaRPr lang="en-US"/>
          </a:p>
        </p:txBody>
      </p:sp>
    </p:spTree>
    <p:extLst>
      <p:ext uri="{BB962C8B-B14F-4D97-AF65-F5344CB8AC3E}">
        <p14:creationId xmlns:p14="http://schemas.microsoft.com/office/powerpoint/2010/main" val="3833571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A97E2-551C-2BE7-8EE8-1F332C788230}"/>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2ED3C7CE-7A1E-EC52-ECD8-81922D7B75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9088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C61F-5D4D-3A1C-D68E-A86EED0DE699}"/>
              </a:ext>
            </a:extLst>
          </p:cNvPr>
          <p:cNvSpPr>
            <a:spLocks noGrp="1"/>
          </p:cNvSpPr>
          <p:nvPr>
            <p:ph type="title"/>
          </p:nvPr>
        </p:nvSpPr>
        <p:spPr/>
        <p:txBody>
          <a:bodyPr/>
          <a:lstStyle/>
          <a:p>
            <a:r>
              <a:rPr lang="en-US" b="1" dirty="0"/>
              <a:t>Motivation &amp; Stakes</a:t>
            </a:r>
            <a:endParaRPr lang="en-US" dirty="0"/>
          </a:p>
        </p:txBody>
      </p:sp>
      <p:sp>
        <p:nvSpPr>
          <p:cNvPr id="5" name="Rectangle 2">
            <a:extLst>
              <a:ext uri="{FF2B5EF4-FFF2-40B4-BE49-F238E27FC236}">
                <a16:creationId xmlns:a16="http://schemas.microsoft.com/office/drawing/2014/main" id="{78774BF3-94AB-0D41-A6CB-1857DE6B5580}"/>
              </a:ext>
            </a:extLst>
          </p:cNvPr>
          <p:cNvSpPr>
            <a:spLocks noGrp="1" noChangeArrowheads="1"/>
          </p:cNvSpPr>
          <p:nvPr>
            <p:ph idx="1"/>
          </p:nvPr>
        </p:nvSpPr>
        <p:spPr bwMode="auto">
          <a:xfrm>
            <a:off x="4810506" y="1451663"/>
            <a:ext cx="3980688" cy="17543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nSpc>
                <a:spcPct val="100000"/>
              </a:lnSpc>
              <a:buNone/>
            </a:pPr>
            <a:endParaRPr lang="en-US" altLang="en-US" sz="1000" dirty="0">
              <a:solidFill>
                <a:srgbClr val="303030"/>
              </a:solidFill>
              <a:latin typeface="Google Sans Text"/>
            </a:endParaRPr>
          </a:p>
          <a:p>
            <a:pPr marL="0" lvl="0" indent="0">
              <a:lnSpc>
                <a:spcPct val="100000"/>
              </a:lnSpc>
              <a:buNone/>
            </a:pPr>
            <a:r>
              <a:rPr kumimoji="0" lang="en-US" altLang="en-US" sz="1000" b="0" i="0" u="none" strike="noStrike" cap="none" normalizeH="0" baseline="0" dirty="0">
                <a:ln>
                  <a:noFill/>
                </a:ln>
                <a:solidFill>
                  <a:srgbClr val="303030"/>
                </a:solidFill>
                <a:effectLst/>
                <a:latin typeface="Google Sans Tex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200" b="1" i="0" u="none" strike="noStrike" normalizeH="0" baseline="0" dirty="0">
                <a:ln w="6600">
                  <a:solidFill>
                    <a:schemeClr val="accent2"/>
                  </a:solidFill>
                  <a:prstDash val="solid"/>
                </a:ln>
                <a:solidFill>
                  <a:srgbClr val="FFFFFF"/>
                </a:solidFill>
                <a:effectLst>
                  <a:outerShdw dist="38100" dir="2700000" algn="tl" rotWithShape="0">
                    <a:schemeClr val="accent2"/>
                  </a:outerShdw>
                </a:effectLst>
              </a:rPr>
              <a:t>$4.88 M </a:t>
            </a:r>
            <a:r>
              <a:rPr kumimoji="0" lang="en-US" altLang="en-US" sz="800" b="0" i="0" u="none" strike="noStrike" cap="none" normalizeH="0" baseline="0" dirty="0">
                <a:ln>
                  <a:noFill/>
                </a:ln>
                <a:solidFill>
                  <a:schemeClr val="tx1"/>
                </a:solidFill>
                <a:effectLst/>
              </a:rPr>
              <a:t>average cost per Incident in corporate settings.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8" name="Picture 4" descr="5,800+ Gdpr Stock Illustrations, Royalty-Free Vector ...">
            <a:extLst>
              <a:ext uri="{FF2B5EF4-FFF2-40B4-BE49-F238E27FC236}">
                <a16:creationId xmlns:a16="http://schemas.microsoft.com/office/drawing/2014/main" id="{9EC88539-11E4-41BC-09A5-6AFC923007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6584" y="3652011"/>
            <a:ext cx="1409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IPAA: Things to know as a VRS user - Convo Communications">
            <a:extLst>
              <a:ext uri="{FF2B5EF4-FFF2-40B4-BE49-F238E27FC236}">
                <a16:creationId xmlns:a16="http://schemas.microsoft.com/office/drawing/2014/main" id="{6FD87722-308E-447C-A254-4ED0FFD309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8660" y="4848363"/>
            <a:ext cx="2179891" cy="140970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8" descr="Image of ">
            <a:extLst>
              <a:ext uri="{FF2B5EF4-FFF2-40B4-BE49-F238E27FC236}">
                <a16:creationId xmlns:a16="http://schemas.microsoft.com/office/drawing/2014/main" id="{AE7AA081-85B7-980E-6310-A012E7E68BB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TextBox 9">
            <a:extLst>
              <a:ext uri="{FF2B5EF4-FFF2-40B4-BE49-F238E27FC236}">
                <a16:creationId xmlns:a16="http://schemas.microsoft.com/office/drawing/2014/main" id="{2D5EDCC3-11E3-5701-5FAF-B9328EEF9D34}"/>
              </a:ext>
            </a:extLst>
          </p:cNvPr>
          <p:cNvSpPr txBox="1"/>
          <p:nvPr/>
        </p:nvSpPr>
        <p:spPr>
          <a:xfrm>
            <a:off x="1049112" y="3743353"/>
            <a:ext cx="3596039" cy="2862322"/>
          </a:xfrm>
          <a:prstGeom prst="rect">
            <a:avLst/>
          </a:prstGeom>
          <a:noFill/>
        </p:spPr>
        <p:txBody>
          <a:bodyPr wrap="square" rtlCol="0">
            <a:spAutoFit/>
          </a:bodyPr>
          <a:lstStyle/>
          <a:p>
            <a:pPr lvl="0" eaLnBrk="0" fontAlgn="base" hangingPunct="0">
              <a:spcBef>
                <a:spcPct val="0"/>
              </a:spcBef>
              <a:spcAft>
                <a:spcPct val="0"/>
              </a:spcAft>
            </a:pPr>
            <a:r>
              <a:rPr lang="en-US" altLang="en-US" b="1" dirty="0">
                <a:solidFill>
                  <a:srgbClr val="303030"/>
                </a:solidFill>
                <a:latin typeface="Google Sans Text"/>
              </a:rPr>
              <a:t>Growing Privacy Concern:</a:t>
            </a:r>
            <a:r>
              <a:rPr lang="en-US" altLang="en-US" dirty="0">
                <a:solidFill>
                  <a:srgbClr val="303030"/>
                </a:solidFill>
                <a:latin typeface="Google Sans Text"/>
              </a:rPr>
              <a:t> Anyone chatting with AI chatbots is skeptical about potential information leakage or misuse. </a:t>
            </a:r>
          </a:p>
          <a:p>
            <a:pPr lvl="0" eaLnBrk="0" fontAlgn="base" hangingPunct="0">
              <a:spcBef>
                <a:spcPct val="0"/>
              </a:spcBef>
              <a:spcAft>
                <a:spcPct val="0"/>
              </a:spcAft>
            </a:pPr>
            <a:r>
              <a:rPr lang="en-US" dirty="0">
                <a:solidFill>
                  <a:srgbClr val="303030"/>
                </a:solidFill>
                <a:latin typeface="Google Sans Text"/>
              </a:rPr>
              <a:t>LLMs are "highly prone to retaining and copying PII from the input when prompted" (up to 57.4% leakage in studies)</a:t>
            </a:r>
            <a:endParaRPr lang="en-US" altLang="en-US" dirty="0">
              <a:solidFill>
                <a:srgbClr val="303030"/>
              </a:solidFill>
              <a:latin typeface="Google Sans Text"/>
            </a:endParaRPr>
          </a:p>
          <a:p>
            <a:pPr lvl="0" eaLnBrk="0" fontAlgn="base" hangingPunct="0">
              <a:spcBef>
                <a:spcPct val="0"/>
              </a:spcBef>
              <a:spcAft>
                <a:spcPct val="0"/>
              </a:spcAft>
            </a:pPr>
            <a:endParaRPr lang="en-US" altLang="en-US" dirty="0">
              <a:solidFill>
                <a:srgbClr val="303030"/>
              </a:solidFill>
              <a:latin typeface="Google Sans Text"/>
            </a:endParaRPr>
          </a:p>
          <a:p>
            <a:endParaRPr lang="en-US" dirty="0"/>
          </a:p>
        </p:txBody>
      </p:sp>
      <p:sp>
        <p:nvSpPr>
          <p:cNvPr id="11" name="TextBox 10">
            <a:extLst>
              <a:ext uri="{FF2B5EF4-FFF2-40B4-BE49-F238E27FC236}">
                <a16:creationId xmlns:a16="http://schemas.microsoft.com/office/drawing/2014/main" id="{4F266C18-65B0-2ACD-88BC-9BCBE705E7C9}"/>
              </a:ext>
            </a:extLst>
          </p:cNvPr>
          <p:cNvSpPr txBox="1"/>
          <p:nvPr/>
        </p:nvSpPr>
        <p:spPr>
          <a:xfrm>
            <a:off x="8345384" y="3903313"/>
            <a:ext cx="3108960" cy="2031325"/>
          </a:xfrm>
          <a:prstGeom prst="rect">
            <a:avLst/>
          </a:prstGeom>
          <a:noFill/>
        </p:spPr>
        <p:txBody>
          <a:bodyPr wrap="square" rtlCol="0">
            <a:spAutoFit/>
          </a:bodyPr>
          <a:lstStyle/>
          <a:p>
            <a:r>
              <a:rPr lang="en-US" altLang="en-US" b="1" dirty="0">
                <a:solidFill>
                  <a:srgbClr val="303030"/>
                </a:solidFill>
                <a:latin typeface="Google Sans Text"/>
              </a:rPr>
              <a:t>Regulatory Pressure:</a:t>
            </a:r>
            <a:r>
              <a:rPr lang="en-US" altLang="en-US" dirty="0">
                <a:solidFill>
                  <a:srgbClr val="303030"/>
                </a:solidFill>
                <a:latin typeface="Google Sans Text"/>
              </a:rPr>
              <a:t> AI systems must incorporate robust privacy mechanisms due to frameworks like the EU’s AI Act, US Executive Order, GDPR, and HIPAA.</a:t>
            </a:r>
          </a:p>
          <a:p>
            <a:endParaRPr lang="en-US" dirty="0"/>
          </a:p>
        </p:txBody>
      </p:sp>
      <p:sp>
        <p:nvSpPr>
          <p:cNvPr id="12" name="TextBox 11">
            <a:extLst>
              <a:ext uri="{FF2B5EF4-FFF2-40B4-BE49-F238E27FC236}">
                <a16:creationId xmlns:a16="http://schemas.microsoft.com/office/drawing/2014/main" id="{5F85C0E0-616C-3848-3B24-32056A2638CF}"/>
              </a:ext>
            </a:extLst>
          </p:cNvPr>
          <p:cNvSpPr txBox="1"/>
          <p:nvPr/>
        </p:nvSpPr>
        <p:spPr>
          <a:xfrm>
            <a:off x="8275891" y="1892560"/>
            <a:ext cx="2651760" cy="1477328"/>
          </a:xfrm>
          <a:prstGeom prst="rect">
            <a:avLst/>
          </a:prstGeom>
          <a:noFill/>
        </p:spPr>
        <p:txBody>
          <a:bodyPr wrap="square" rtlCol="0">
            <a:spAutoFit/>
          </a:bodyPr>
          <a:lstStyle/>
          <a:p>
            <a:r>
              <a:rPr lang="en-US" altLang="en-US" b="1" dirty="0">
                <a:solidFill>
                  <a:srgbClr val="303030"/>
                </a:solidFill>
                <a:latin typeface="Google Sans Text"/>
              </a:rPr>
              <a:t>High Cost of Breaches:</a:t>
            </a:r>
            <a:r>
              <a:rPr lang="en-US" altLang="en-US" dirty="0">
                <a:solidFill>
                  <a:srgbClr val="303030"/>
                </a:solidFill>
                <a:latin typeface="Google Sans Text"/>
              </a:rPr>
              <a:t> The global average cost of a data breach hit a record peak of </a:t>
            </a:r>
            <a:r>
              <a:rPr kumimoji="0" lang="en-US" altLang="en-US" sz="1600" b="0" i="0" u="none" strike="noStrike" cap="none" normalizeH="0" baseline="0" dirty="0">
                <a:ln>
                  <a:noFill/>
                </a:ln>
                <a:solidFill>
                  <a:srgbClr val="303030"/>
                </a:solidFill>
                <a:effectLst/>
                <a:latin typeface="KaTeX_Main"/>
              </a:rPr>
              <a:t>4.88 </a:t>
            </a:r>
            <a:r>
              <a:rPr kumimoji="0" lang="en-US" altLang="en-US" sz="1600" b="0" i="1" u="none" strike="noStrike" cap="none" normalizeH="0" baseline="0" dirty="0">
                <a:ln>
                  <a:noFill/>
                </a:ln>
                <a:solidFill>
                  <a:srgbClr val="303030"/>
                </a:solidFill>
                <a:effectLst/>
                <a:latin typeface="KaTeX_Math"/>
              </a:rPr>
              <a:t>million in </a:t>
            </a:r>
            <a:r>
              <a:rPr kumimoji="0" lang="en-US" altLang="en-US" sz="1600" b="0" i="0" u="none" strike="noStrike" cap="none" normalizeH="0" baseline="0" dirty="0">
                <a:ln>
                  <a:noFill/>
                </a:ln>
                <a:solidFill>
                  <a:srgbClr val="303030"/>
                </a:solidFill>
                <a:effectLst/>
                <a:latin typeface="KaTeX_Main"/>
              </a:rPr>
              <a:t>2024</a:t>
            </a:r>
            <a:r>
              <a:rPr lang="en-US" altLang="en-US" dirty="0">
                <a:solidFill>
                  <a:srgbClr val="303030"/>
                </a:solidFill>
                <a:latin typeface="Google Sans Text"/>
              </a:rPr>
              <a:t>.</a:t>
            </a:r>
            <a:r>
              <a:rPr kumimoji="0" lang="en-US" altLang="en-US" sz="1400" b="0" i="0" u="none" strike="noStrike" cap="none" normalizeH="0" baseline="0" dirty="0">
                <a:ln>
                  <a:noFill/>
                </a:ln>
                <a:solidFill>
                  <a:schemeClr val="tx1"/>
                </a:solidFill>
                <a:effectLst/>
              </a:rPr>
              <a:t> </a:t>
            </a:r>
          </a:p>
          <a:p>
            <a:endParaRPr lang="en-US" dirty="0"/>
          </a:p>
        </p:txBody>
      </p:sp>
      <p:pic>
        <p:nvPicPr>
          <p:cNvPr id="1034" name="Picture 10" descr="Intellectual Property Protection ...">
            <a:extLst>
              <a:ext uri="{FF2B5EF4-FFF2-40B4-BE49-F238E27FC236}">
                <a16:creationId xmlns:a16="http://schemas.microsoft.com/office/drawing/2014/main" id="{640F4950-86BD-2996-CCF3-5692D12DBD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2389" y="1764520"/>
            <a:ext cx="24003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360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BDBE-2546-6E15-3A80-15B941BACD37}"/>
              </a:ext>
            </a:extLst>
          </p:cNvPr>
          <p:cNvSpPr>
            <a:spLocks noGrp="1"/>
          </p:cNvSpPr>
          <p:nvPr>
            <p:ph type="title"/>
          </p:nvPr>
        </p:nvSpPr>
        <p:spPr/>
        <p:txBody>
          <a:bodyPr/>
          <a:lstStyle/>
          <a:p>
            <a:r>
              <a:rPr lang="en-US" dirty="0"/>
              <a:t>Existing Limitations and Research Gap</a:t>
            </a:r>
          </a:p>
        </p:txBody>
      </p:sp>
      <p:pic>
        <p:nvPicPr>
          <p:cNvPr id="5" name="Picture 4">
            <a:extLst>
              <a:ext uri="{FF2B5EF4-FFF2-40B4-BE49-F238E27FC236}">
                <a16:creationId xmlns:a16="http://schemas.microsoft.com/office/drawing/2014/main" id="{A7315207-1144-D521-D2A1-9A6C57DAAD9F}"/>
              </a:ext>
            </a:extLst>
          </p:cNvPr>
          <p:cNvPicPr>
            <a:picLocks noChangeAspect="1"/>
          </p:cNvPicPr>
          <p:nvPr/>
        </p:nvPicPr>
        <p:blipFill>
          <a:blip r:embed="rId3"/>
          <a:stretch>
            <a:fillRect/>
          </a:stretch>
        </p:blipFill>
        <p:spPr>
          <a:xfrm>
            <a:off x="2743962" y="4439603"/>
            <a:ext cx="5295900" cy="1737360"/>
          </a:xfrm>
          <a:prstGeom prst="rect">
            <a:avLst/>
          </a:prstGeom>
        </p:spPr>
      </p:pic>
      <p:sp>
        <p:nvSpPr>
          <p:cNvPr id="8" name="Rectangle 4">
            <a:extLst>
              <a:ext uri="{FF2B5EF4-FFF2-40B4-BE49-F238E27FC236}">
                <a16:creationId xmlns:a16="http://schemas.microsoft.com/office/drawing/2014/main" id="{7592E5FA-D4B0-9911-3078-97463B1323E1}"/>
              </a:ext>
            </a:extLst>
          </p:cNvPr>
          <p:cNvSpPr>
            <a:spLocks noGrp="1" noChangeArrowheads="1"/>
          </p:cNvSpPr>
          <p:nvPr>
            <p:ph idx="1"/>
          </p:nvPr>
        </p:nvSpPr>
        <p:spPr bwMode="auto">
          <a:xfrm>
            <a:off x="838200" y="3647351"/>
            <a:ext cx="8265404" cy="70788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03030"/>
                </a:solidFill>
                <a:effectLst/>
                <a:latin typeface="Google Sans Text"/>
              </a:rPr>
              <a:t>Offer strong privacy but impose significant computational overhead and latency (e.g., 1000x slower).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03030"/>
                </a:solidFill>
                <a:effectLst/>
                <a:latin typeface="Google Sans Text"/>
              </a:rPr>
              <a:t> </a:t>
            </a:r>
            <a:r>
              <a:rPr kumimoji="0" lang="en-US" altLang="en-US" sz="1000" b="1" i="0" u="none" strike="noStrike" cap="none" normalizeH="0" baseline="0" dirty="0">
                <a:ln>
                  <a:noFill/>
                </a:ln>
                <a:solidFill>
                  <a:srgbClr val="303030"/>
                </a:solidFill>
                <a:effectLst/>
                <a:latin typeface="Google Sans Text"/>
              </a:rPr>
              <a:t>Perturbation Methods (DP):</a:t>
            </a:r>
            <a:r>
              <a:rPr kumimoji="0" lang="en-US" altLang="en-US" sz="1000" b="0" i="0" u="none" strike="noStrike" cap="none" normalizeH="0" baseline="0" dirty="0">
                <a:ln>
                  <a:noFill/>
                </a:ln>
                <a:solidFill>
                  <a:srgbClr val="303030"/>
                </a:solidFill>
                <a:effectLst/>
                <a:latin typeface="Google Sans Text"/>
              </a:rPr>
              <a:t> Improve scalability but struggle with the privacy-utility trade-off, often leading to diminished accuracy and unreliable outputs.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303030"/>
                </a:solidFill>
                <a:effectLst/>
                <a:latin typeface="Google Sans Text"/>
              </a:rPr>
              <a:t> </a:t>
            </a:r>
            <a:r>
              <a:rPr kumimoji="0" lang="en-US" altLang="en-US" sz="1000" b="1" i="0" u="none" strike="noStrike" cap="none" normalizeH="0" baseline="0" dirty="0" err="1">
                <a:ln>
                  <a:noFill/>
                </a:ln>
                <a:solidFill>
                  <a:srgbClr val="303030"/>
                </a:solidFill>
                <a:effectLst/>
                <a:latin typeface="Google Sans Text"/>
              </a:rPr>
              <a:t>SnD</a:t>
            </a:r>
            <a:r>
              <a:rPr kumimoji="0" lang="en-US" altLang="en-US" sz="1000" b="1" i="0" u="none" strike="noStrike" cap="none" normalizeH="0" baseline="0" dirty="0">
                <a:ln>
                  <a:noFill/>
                </a:ln>
                <a:solidFill>
                  <a:srgbClr val="303030"/>
                </a:solidFill>
                <a:effectLst/>
                <a:latin typeface="Google Sans Text"/>
              </a:rPr>
              <a:t> Framework:</a:t>
            </a:r>
            <a:r>
              <a:rPr kumimoji="0" lang="en-US" altLang="en-US" sz="1000" b="0" i="0" u="none" strike="noStrike" cap="none" normalizeH="0" baseline="0" dirty="0">
                <a:ln>
                  <a:noFill/>
                </a:ln>
                <a:solidFill>
                  <a:srgbClr val="303030"/>
                </a:solidFill>
                <a:effectLst/>
                <a:latin typeface="Google Sans Text"/>
              </a:rPr>
              <a:t> Lacks integrated Named Entity Recognition (NER), risking leakage of identifiable entities.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303030"/>
                </a:solidFill>
                <a:effectLst/>
                <a:latin typeface="Google Sans Text"/>
              </a:rPr>
              <a:t>Gap:</a:t>
            </a:r>
            <a:r>
              <a:rPr kumimoji="0" lang="en-US" altLang="en-US" sz="1000" b="0" i="0" u="none" strike="noStrike" cap="none" normalizeH="0" baseline="0" dirty="0">
                <a:ln>
                  <a:noFill/>
                </a:ln>
                <a:solidFill>
                  <a:srgbClr val="303030"/>
                </a:solidFill>
                <a:effectLst/>
                <a:latin typeface="Google Sans Text"/>
              </a:rPr>
              <a:t> Need for a robust, practical, and efficient client-side solution that guarantees privacy without sacrificing model performance</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9031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0A617-96C1-6000-8655-685CA32AE6B8}"/>
              </a:ext>
            </a:extLst>
          </p:cNvPr>
          <p:cNvSpPr>
            <a:spLocks noGrp="1"/>
          </p:cNvSpPr>
          <p:nvPr>
            <p:ph type="title"/>
          </p:nvPr>
        </p:nvSpPr>
        <p:spPr/>
        <p:txBody>
          <a:bodyPr/>
          <a:lstStyle/>
          <a:p>
            <a:r>
              <a:rPr lang="en-US" b="1" dirty="0"/>
              <a:t>Introducing CSM(Clean Split Model)</a:t>
            </a:r>
            <a:endParaRPr lang="en-US" dirty="0"/>
          </a:p>
        </p:txBody>
      </p:sp>
      <p:sp>
        <p:nvSpPr>
          <p:cNvPr id="3" name="Content Placeholder 2">
            <a:extLst>
              <a:ext uri="{FF2B5EF4-FFF2-40B4-BE49-F238E27FC236}">
                <a16:creationId xmlns:a16="http://schemas.microsoft.com/office/drawing/2014/main" id="{99942A9C-FBE4-EF4E-44F9-7165AB724D4B}"/>
              </a:ext>
            </a:extLst>
          </p:cNvPr>
          <p:cNvSpPr>
            <a:spLocks noGrp="1"/>
          </p:cNvSpPr>
          <p:nvPr>
            <p:ph idx="1"/>
          </p:nvPr>
        </p:nvSpPr>
        <p:spPr/>
        <p:txBody>
          <a:bodyPr>
            <a:normAutofit/>
          </a:bodyPr>
          <a:lstStyle/>
          <a:p>
            <a:r>
              <a:rPr lang="en-US" dirty="0" err="1"/>
              <a:t>CleanSplit</a:t>
            </a:r>
            <a:r>
              <a:rPr lang="en-US" dirty="0"/>
              <a:t> Model (CSM): A novel privacy-preserving inference framework.</a:t>
            </a:r>
          </a:p>
          <a:p>
            <a:r>
              <a:rPr lang="en-US" b="1" dirty="0"/>
              <a:t>Aim</a:t>
            </a:r>
            <a:r>
              <a:rPr lang="en-US" dirty="0"/>
              <a:t>: Develop a novel framework for efficiently protecting PII in LLM inference. CSM Core: A novel, privacy-preserving inference framework</a:t>
            </a:r>
          </a:p>
          <a:p>
            <a:r>
              <a:rPr lang="en-US" b="1" dirty="0"/>
              <a:t>Objective:</a:t>
            </a:r>
            <a:r>
              <a:rPr lang="en-US" dirty="0"/>
              <a:t> Optimize the trade-off between privacy preservation and computational utility.</a:t>
            </a:r>
          </a:p>
          <a:p>
            <a:r>
              <a:rPr lang="en-US" b="1" dirty="0"/>
              <a:t>Mechanism</a:t>
            </a:r>
            <a:r>
              <a:rPr lang="en-US" dirty="0"/>
              <a:t>: Deploys a lightweight token representation layer on the client side. Uses NER to detect and replace sensitive entities prior to server interaction</a:t>
            </a:r>
          </a:p>
          <a:p>
            <a:endParaRPr lang="en-US" dirty="0"/>
          </a:p>
        </p:txBody>
      </p:sp>
      <p:pic>
        <p:nvPicPr>
          <p:cNvPr id="5" name="Picture 4">
            <a:extLst>
              <a:ext uri="{FF2B5EF4-FFF2-40B4-BE49-F238E27FC236}">
                <a16:creationId xmlns:a16="http://schemas.microsoft.com/office/drawing/2014/main" id="{834E13BC-7CA3-2E6D-15DC-2CEB9345AA6E}"/>
              </a:ext>
            </a:extLst>
          </p:cNvPr>
          <p:cNvPicPr>
            <a:picLocks noChangeAspect="1"/>
          </p:cNvPicPr>
          <p:nvPr/>
        </p:nvPicPr>
        <p:blipFill>
          <a:blip r:embed="rId3"/>
          <a:stretch>
            <a:fillRect/>
          </a:stretch>
        </p:blipFill>
        <p:spPr>
          <a:xfrm>
            <a:off x="2984349" y="5416073"/>
            <a:ext cx="5288280" cy="2153603"/>
          </a:xfrm>
          <a:prstGeom prst="rect">
            <a:avLst/>
          </a:prstGeom>
        </p:spPr>
      </p:pic>
    </p:spTree>
    <p:extLst>
      <p:ext uri="{BB962C8B-B14F-4D97-AF65-F5344CB8AC3E}">
        <p14:creationId xmlns:p14="http://schemas.microsoft.com/office/powerpoint/2010/main" val="3321508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5B7AD-4141-AFA6-1BDC-B7965A6F5261}"/>
              </a:ext>
            </a:extLst>
          </p:cNvPr>
          <p:cNvSpPr>
            <a:spLocks noGrp="1"/>
          </p:cNvSpPr>
          <p:nvPr>
            <p:ph type="title"/>
          </p:nvPr>
        </p:nvSpPr>
        <p:spPr/>
        <p:txBody>
          <a:bodyPr/>
          <a:lstStyle/>
          <a:p>
            <a:r>
              <a:rPr lang="en-US" dirty="0"/>
              <a:t>	</a:t>
            </a:r>
            <a:br>
              <a:rPr lang="en-US" dirty="0"/>
            </a:br>
            <a:r>
              <a:rPr lang="en-US" dirty="0"/>
              <a:t>Research Objectives &amp; Alignment </a:t>
            </a:r>
          </a:p>
        </p:txBody>
      </p:sp>
      <p:pic>
        <p:nvPicPr>
          <p:cNvPr id="7" name="Content Placeholder 6">
            <a:extLst>
              <a:ext uri="{FF2B5EF4-FFF2-40B4-BE49-F238E27FC236}">
                <a16:creationId xmlns:a16="http://schemas.microsoft.com/office/drawing/2014/main" id="{43301AE2-4DFC-110C-5BCC-7A45E47563F0}"/>
              </a:ext>
            </a:extLst>
          </p:cNvPr>
          <p:cNvPicPr>
            <a:picLocks noGrp="1" noChangeAspect="1"/>
          </p:cNvPicPr>
          <p:nvPr>
            <p:ph idx="1"/>
          </p:nvPr>
        </p:nvPicPr>
        <p:blipFill>
          <a:blip r:embed="rId3"/>
          <a:stretch>
            <a:fillRect/>
          </a:stretch>
        </p:blipFill>
        <p:spPr>
          <a:xfrm>
            <a:off x="311284" y="1776986"/>
            <a:ext cx="8978631" cy="4477899"/>
          </a:xfrm>
          <a:prstGeom prst="rect">
            <a:avLst/>
          </a:prstGeom>
        </p:spPr>
      </p:pic>
    </p:spTree>
    <p:extLst>
      <p:ext uri="{BB962C8B-B14F-4D97-AF65-F5344CB8AC3E}">
        <p14:creationId xmlns:p14="http://schemas.microsoft.com/office/powerpoint/2010/main" val="918374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FFD2E-5040-9066-08F5-3407E647BC31}"/>
              </a:ext>
            </a:extLst>
          </p:cNvPr>
          <p:cNvSpPr>
            <a:spLocks noGrp="1"/>
          </p:cNvSpPr>
          <p:nvPr>
            <p:ph type="title"/>
          </p:nvPr>
        </p:nvSpPr>
        <p:spPr/>
        <p:txBody>
          <a:bodyPr/>
          <a:lstStyle/>
          <a:p>
            <a:r>
              <a:rPr lang="en-US" dirty="0"/>
              <a:t>Methodology: Experimental Conditions</a:t>
            </a:r>
          </a:p>
        </p:txBody>
      </p:sp>
      <p:sp>
        <p:nvSpPr>
          <p:cNvPr id="3" name="Content Placeholder 2">
            <a:extLst>
              <a:ext uri="{FF2B5EF4-FFF2-40B4-BE49-F238E27FC236}">
                <a16:creationId xmlns:a16="http://schemas.microsoft.com/office/drawing/2014/main" id="{61193105-3E4A-52BA-818C-59E8590900C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02295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4957</TotalTime>
  <Words>650</Words>
  <Application>Microsoft Office PowerPoint</Application>
  <PresentationFormat>Widescreen</PresentationFormat>
  <Paragraphs>32</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Calibri</vt:lpstr>
      <vt:lpstr>Calibri Light</vt:lpstr>
      <vt:lpstr>Google Sans Text</vt:lpstr>
      <vt:lpstr>KaTeX_Main</vt:lpstr>
      <vt:lpstr>KaTeX_Math</vt:lpstr>
      <vt:lpstr>Office Theme</vt:lpstr>
      <vt:lpstr>PowerPoint Presentation</vt:lpstr>
      <vt:lpstr>Motivation &amp; Stakes</vt:lpstr>
      <vt:lpstr>Existing Limitations and Research Gap</vt:lpstr>
      <vt:lpstr>Introducing CSM(Clean Split Model)</vt:lpstr>
      <vt:lpstr>  Research Objectives &amp; Alignment </vt:lpstr>
      <vt:lpstr>Methodology: Experimental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Deepak Goyal</dc:creator>
  <cp:lastModifiedBy>Deepak Goyal</cp:lastModifiedBy>
  <cp:revision>4</cp:revision>
  <dcterms:created xsi:type="dcterms:W3CDTF">2025-11-10T17:35:38Z</dcterms:created>
  <dcterms:modified xsi:type="dcterms:W3CDTF">2025-11-14T04:13:37Z</dcterms:modified>
</cp:coreProperties>
</file>